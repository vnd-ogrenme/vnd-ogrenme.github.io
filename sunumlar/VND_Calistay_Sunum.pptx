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618" y="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1013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Kendimi tanıtıp projenin künyesini vereceğim. Bu oturum projenin vizyonunu, yöntemini ve bugüne kadar elde ettiğimiz bulguları kapsıyor (yaklaşık 35 dakika).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YSA'ların başarısı ortada; ancak enerji, unutma ve çevrim içi öğrenme sınırları var. VND'ler biyolojik iletişimi (vuru dizileri) temel aldığı için bu açıkları kapatma potansiyeli taşıyor. Bir sonraki slaytta iki nöron tipini yan yana göstereceğim.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Solda klasik yapay nöron: girişler sürekli sayılar, ağırlıklı toplam ve türevlenebilir bir aktivasyon fonksiyonu; zaman kavramı yok. Sağda sızıntılı topla-ateşle (LIF) nöronu: giriş vuruları zar potansiyelini adım adım yükseltir, potansiyel sızıntıyla azalır; eşik aşıldığında çıkış vurusu üretilir ve potansiyel sıfırlanır. Bilgi vuruların zamanlamasında; öğrenme STDP gibi yerel kurallarla.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Başvuru formundaki amaç. Özgün değer üç ayakta: ÖK ile KHA'nın aynı VND ağında bütünleşmesi, STDP'ye muadil yeni bir yerel öğrenme kuralı ve yöntemin gerçek bir sistemde sınanması.</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 bileşen tüm iş paketlerinin ortak dili. Nöron modellerini bir önceki slaytta gördük; sıradaki üç slaytta STDP, KHA ve öngörüsel kodlamayı birer şekille açıklayacağım. SPAYK, ekibimizce geliştirilen yerli bir kütüphane.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STDP, Hebb ilkesinin zamana duyarlı hali. Üstte öncül ve ardıl nöronun vuru anları ve aradaki Δt görülüyor. Altta öğrenme penceresi: öncül önce ateşlerse (Δt&gt;0) bağ güçlenir (LTP), ardıl önce ateşlerse (Δt&lt;0) zayıflar (LTD); etki zaman farkı büyüdükçe üstel olarak azalır. Kural yalnızca sinapsın iki ucundaki bilgiyi kullandığı için yerel ve donanıma uygundur. Projede Triplet, S-STDP, R-STDP ve bastırıcı sinapslar için iSTDP'yi inceledik.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KHA, nöronlar arasında rekabet yaratarak bir uyarana yalnızca bir nöronun ya da bir nöron grubunun yanıt vermesini sağlıyor. Yanal kısıtlamada her uyarıcı nöron kendi bastırıcı nöronunu uyarır, o da diğer tüm uyarıcı nöronları bastırır: tek kazanan. Çevresel kısıtlamada bastırıcı nöron en yakın komşuları bastırmaz, belli uzaklıktakileri bastırır; böylece komşu nöronlardan oluşan bir grup kararlı biçimde kazanır. Her iki topolojiyi de VND ağında gerçekleyip karşılaştırdık.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Öngörüsel kodlamada beyin duyusal girişi pasif iletmez; üst seviye bir sonraki girişi tahmin eder. Tahmin ile gerçek giriş arasındaki fark, yani tahmin hatası, yukarı iletilir ve temsili düzeltmek için kullanılır. Tahmin doğruysa hata birimleri sessiz kalır; bu da gereksiz veri iletimini azaltır. Vurular negatif değer taşıyamadığı için VND'de hatayı iki ayrı nöron grubuyla kodluyoruz: girişin tahmini aştığı durum için E+, tahminin girişi aştığı durum için 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Aynı ağı iki farklı kütüphanede kurduk; biri ekibimizin geliştirdiği SPAYK. LIF, Izhikevich ve AdEx modellerini STDP ile karşılaştırdık; çok gruplu ağda en verimli model LIF oldu. Popülasyon seçici mimariyle MNIST'te ortalama %88,2 doğruluğa ulaştık; bu, geleneksel YSA sonuçlarına göre %10 sapma ölçütünü karşılıyor. Sonuçlar SİU 2025 ve ASYU 2025 bildirilerine dönüştü.</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CPC–VND entegrasyonu SİU 2025 bildirisi ve arXiv ön yayını oldu. Kodlama için eğitilmiş VND en yüksek başarıyı veriyor; sınıflandırma için eğitilmiş VND biyolojik olarak daha gerçekçi ve yine anlamlı başarı gösteriyor. Rastgele kodlamanın şans düzeyinde kalması, VND kodlamasının anlamlı temsiller ürettiğini gösteriyor. Sürekli zamanlı öngörüsel plastisite çalışması ASYU 2025'te sunuldu.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KHA slaytında gördüğümüz iki topolojiyi ağda kurup karşılaştırdık: ÇK, dış giriş olmadan da seçici ve süregelen grup etkinliği üretti; MNIST sınıflandırmasında ise YK daha başarılı oldu. Referans gözetimsiz mimariyi (Diehl &amp; Cook) tam MNIST üzerinde %88 ile yeniden ürettik. Üzerine Vogels'in bastırıcı sinaps plastisitesini ekleyerek uyarıcı-bastırıcı dengesini kendiliğinden ayarlayan bütünleşik bir yapı önerdik.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STDP türevini aynı ağ üzerinde eşit koşullarda karşılaştırdık; Triplet-STDP en seçici temsilleri verdi ve projeye özgü kuralın temeli oldu. Tek nöron analizi, STDP'nin örüntüleri öğrenebildiğini ve veri önyargılarının öğrenmeyi nasıl etkilediğini gösterdi (ASYU 2025). Son olarak, uyumsuzluk negatifliğini açıklayan öngörüsel kodlama modelini VND ile kurduk: ağ uyaran dizisinin istatistiğini STDP ile öğreniyor ve beklenmeyen uyarana güçlü bir hata sinyaliyle yanıt veriyor.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 görevi: labirentteki MNIST posterlerini tanıyıp doğru sırayla ilerlemek. ROS2 üzerinde bir durum makinesi kurduk; AprilTag ile hizalanıp posteri kırpıyor ve tanıma modülüne veriyoruz. Önce hızlı geliştirme için CNN, ardından Diehl–Cook VND ağını entegre ettik; robot simülasyonda VND ile rakamları tanıyor. Pratik bir ders: VND'ler perspektif bozulmasına CNN'lerden daha duyarlı, bu yüzden dik hizalama kritik.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Simülasyondaki senaryonun fiziksel karşılığı: ahşap labirent ve duvarlarda MNIST rakamları. Platform TurtleBot3; görsel tanıma için kamera kullanılıyor.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 hakemli bildiri (ikisi SİU, ikisi ASYU; IEEE Xplore'da), bir arXiv ön yayını ve ASYU'da alanına özel bir oturum. Tüm kodlar proje önerisinde taahhüt edildiği gibi GitHub'da açık.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Özetle: dört hakemli bildiri ve bir ön yayın, VND ile MNIST'te %88,2 doğruluk, alanında ilk olan CPC–VND entegrasyonu ve VND ile rakam tanıyan robot uygulaması. (Sorulursa sonraki adımlar: fiziksel robot üzerinde sınama, Loihi/LAVA arayüzünde enerji karşılaştırması ve dergi makalesi.) Teşekkür edip soruları alabilirim.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640080" y="1051560"/>
            <a:ext cx="10908792" cy="320040"/>
          </a:xfrm>
          <a:prstGeom prst="rect">
            <a:avLst/>
          </a:prstGeom>
          <a:noFill/>
          <a:ln/>
        </p:spPr>
        <p:txBody>
          <a:bodyPr wrap="square" lIns="0" tIns="0" rIns="0" bIns="0" rtlCol="0" anchor="ctr"/>
          <a:lstStyle/>
          <a:p>
            <a:pPr marL="0" indent="0">
              <a:buNone/>
            </a:pPr>
            <a:r>
              <a:rPr lang="en-US" sz="1200" b="1" kern="0" spc="150" dirty="0">
                <a:solidFill>
                  <a:srgbClr val="CADCFC"/>
                </a:solidFill>
                <a:latin typeface="Calibri" pitchFamily="34" charset="0"/>
                <a:ea typeface="Calibri" pitchFamily="34" charset="-122"/>
                <a:cs typeface="Calibri" pitchFamily="34" charset="-120"/>
              </a:rPr>
              <a:t>TÜBİTAK 1001 — BİLİMSEL VE TEKNOLOJİK ARAŞTIRMA PROJELERİNİ DESTEKLEME PROGRAMI  ·  PROJE NO 123E674</a:t>
            </a:r>
            <a:endParaRPr lang="en-US" sz="1200" dirty="0"/>
          </a:p>
        </p:txBody>
      </p:sp>
      <p:sp>
        <p:nvSpPr>
          <p:cNvPr id="3" name="Text 1"/>
          <p:cNvSpPr txBox="1"/>
          <p:nvPr/>
        </p:nvSpPr>
        <p:spPr>
          <a:xfrm>
            <a:off x="640080" y="1554480"/>
            <a:ext cx="10908792" cy="1737360"/>
          </a:xfrm>
          <a:prstGeom prst="rect">
            <a:avLst/>
          </a:prstGeom>
          <a:noFill/>
          <a:ln/>
        </p:spPr>
        <p:txBody>
          <a:bodyPr wrap="square" lIns="0" tIns="0" rIns="0" bIns="0" rtlCol="0" anchor="ctr"/>
          <a:lstStyle/>
          <a:p>
            <a:pPr marL="0" indent="0">
              <a:lnSpc>
                <a:spcPct val="108000"/>
              </a:lnSpc>
              <a:buNone/>
            </a:pPr>
            <a:r>
              <a:rPr lang="en-US" sz="3400" b="1" dirty="0">
                <a:solidFill>
                  <a:srgbClr val="FFFFFF"/>
                </a:solidFill>
                <a:latin typeface="Cambria" pitchFamily="34" charset="0"/>
                <a:ea typeface="Cambria" pitchFamily="34" charset="-122"/>
                <a:cs typeface="Cambria" pitchFamily="34" charset="-120"/>
              </a:rPr>
              <a:t>Yeni bir Vuru Üreten Nöral Devre Tabanlı Öngörüsel Kodlama Yapısı ve Öğrenme Kuralının Geliştirilmesi</a:t>
            </a:r>
            <a:endParaRPr lang="en-US" sz="3400" dirty="0"/>
          </a:p>
        </p:txBody>
      </p:sp>
      <p:sp>
        <p:nvSpPr>
          <p:cNvPr id="4" name="Text 2"/>
          <p:cNvSpPr txBox="1"/>
          <p:nvPr/>
        </p:nvSpPr>
        <p:spPr>
          <a:xfrm>
            <a:off x="640080" y="3520440"/>
            <a:ext cx="10908792" cy="457200"/>
          </a:xfrm>
          <a:prstGeom prst="rect">
            <a:avLst/>
          </a:prstGeom>
          <a:noFill/>
          <a:ln/>
        </p:spPr>
        <p:txBody>
          <a:bodyPr wrap="square" lIns="0" tIns="0" rIns="0" bIns="0" rtlCol="0" anchor="ctr"/>
          <a:lstStyle/>
          <a:p>
            <a:pPr marL="0" indent="0">
              <a:buNone/>
            </a:pPr>
            <a:r>
              <a:rPr lang="en-US" sz="2100" dirty="0">
                <a:solidFill>
                  <a:srgbClr val="CADCFC"/>
                </a:solidFill>
                <a:latin typeface="Calibri" pitchFamily="34" charset="0"/>
                <a:ea typeface="Calibri" pitchFamily="34" charset="-122"/>
                <a:cs typeface="Calibri" pitchFamily="34" charset="-120"/>
              </a:rPr>
              <a:t>1. Oturum: Proje Vizyonu ve Yöntem</a:t>
            </a:r>
            <a:endParaRPr lang="en-US" sz="2100" dirty="0"/>
          </a:p>
        </p:txBody>
      </p:sp>
      <p:sp>
        <p:nvSpPr>
          <p:cNvPr id="5" name="Shape 3"/>
          <p:cNvSpPr/>
          <p:nvPr/>
        </p:nvSpPr>
        <p:spPr>
          <a:xfrm>
            <a:off x="640080" y="4343400"/>
            <a:ext cx="2926080" cy="0"/>
          </a:xfrm>
          <a:prstGeom prst="line">
            <a:avLst/>
          </a:prstGeom>
          <a:noFill/>
          <a:ln w="12700">
            <a:solidFill>
              <a:srgbClr val="CADCFC"/>
            </a:solidFill>
            <a:prstDash val="solid"/>
          </a:ln>
        </p:spPr>
        <p:txBody>
          <a:bodyPr/>
          <a:lstStyle/>
          <a:p>
            <a:endParaRPr lang="tr-TR"/>
          </a:p>
        </p:txBody>
      </p:sp>
      <p:sp>
        <p:nvSpPr>
          <p:cNvPr id="6" name="Text 4"/>
          <p:cNvSpPr txBox="1"/>
          <p:nvPr/>
        </p:nvSpPr>
        <p:spPr>
          <a:xfrm>
            <a:off x="640080" y="4526280"/>
            <a:ext cx="10908792" cy="1463040"/>
          </a:xfrm>
          <a:prstGeom prst="rect">
            <a:avLst/>
          </a:prstGeom>
          <a:noFill/>
          <a:ln/>
        </p:spPr>
        <p:txBody>
          <a:bodyPr wrap="square" lIns="0" tIns="0" rIns="0" bIns="0" rtlCol="0" anchor="t"/>
          <a:lstStyle/>
          <a:p>
            <a:pPr marL="0" indent="0">
              <a:spcAft>
                <a:spcPts val="400"/>
              </a:spcAft>
              <a:buNone/>
            </a:pPr>
            <a:r>
              <a:rPr lang="en-US" sz="1600" b="1" dirty="0">
                <a:solidFill>
                  <a:srgbClr val="FFFFFF"/>
                </a:solidFill>
                <a:latin typeface="Calibri" pitchFamily="34" charset="0"/>
                <a:ea typeface="Calibri" pitchFamily="34" charset="-122"/>
                <a:cs typeface="Calibri" pitchFamily="34" charset="-120"/>
              </a:rPr>
              <a:t>Dr. Öğr. Üyesi Yavuz Selim İşler</a:t>
            </a:r>
            <a:endParaRPr lang="en-US" sz="1600" dirty="0"/>
          </a:p>
          <a:p>
            <a:pPr marL="0" indent="0">
              <a:spcAft>
                <a:spcPts val="1200"/>
              </a:spcAft>
              <a:buNone/>
            </a:pPr>
            <a:r>
              <a:rPr lang="en-US" sz="1600" dirty="0">
                <a:solidFill>
                  <a:srgbClr val="FFFFFF"/>
                </a:solidFill>
                <a:latin typeface="Calibri" pitchFamily="34" charset="0"/>
                <a:ea typeface="Calibri" pitchFamily="34" charset="-122"/>
                <a:cs typeface="Calibri" pitchFamily="34" charset="-120"/>
              </a:rPr>
              <a:t>Proje Yürütücüsü · Osmaniye Korkut Ata Üniversitesi</a:t>
            </a:r>
            <a:endParaRPr lang="en-US" sz="1600" dirty="0"/>
          </a:p>
          <a:p>
            <a:pPr marL="0" indent="0">
              <a:buNone/>
            </a:pPr>
            <a:r>
              <a:rPr lang="en-US" sz="1600" dirty="0">
                <a:solidFill>
                  <a:srgbClr val="CADCFC"/>
                </a:solidFill>
                <a:latin typeface="Calibri" pitchFamily="34" charset="0"/>
                <a:ea typeface="Calibri" pitchFamily="34" charset="-122"/>
                <a:cs typeface="Calibri" pitchFamily="34" charset="-120"/>
              </a:rPr>
              <a:t>Proje Çalıştayı — 1. Gün: Proje ve Bulgular · 24 Eylül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84048"/>
            <a:ext cx="10908792" cy="27432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MOTİVASYON</a:t>
            </a:r>
            <a:endParaRPr lang="en-US" sz="12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Neden Vuru Üreten Nöral Devreler?</a:t>
            </a:r>
            <a:endParaRPr lang="en-US" sz="3000" dirty="0"/>
          </a:p>
        </p:txBody>
      </p:sp>
      <p:sp>
        <p:nvSpPr>
          <p:cNvPr id="4" name="Shape 2"/>
          <p:cNvSpPr/>
          <p:nvPr/>
        </p:nvSpPr>
        <p:spPr>
          <a:xfrm>
            <a:off x="640080" y="1600200"/>
            <a:ext cx="5294376" cy="3611880"/>
          </a:xfrm>
          <a:prstGeom prst="roundRect">
            <a:avLst>
              <a:gd name="adj" fmla="val 1519"/>
            </a:avLst>
          </a:prstGeom>
          <a:solidFill>
            <a:srgbClr val="F5F7FA"/>
          </a:solidFill>
          <a:ln/>
        </p:spPr>
        <p:txBody>
          <a:bodyPr/>
          <a:lstStyle/>
          <a:p>
            <a:endParaRPr lang="tr-TR"/>
          </a:p>
        </p:txBody>
      </p:sp>
      <p:sp>
        <p:nvSpPr>
          <p:cNvPr id="5" name="Text 3"/>
          <p:cNvSpPr txBox="1"/>
          <p:nvPr/>
        </p:nvSpPr>
        <p:spPr>
          <a:xfrm>
            <a:off x="914400" y="1828800"/>
            <a:ext cx="4745736" cy="365760"/>
          </a:xfrm>
          <a:prstGeom prst="rect">
            <a:avLst/>
          </a:prstGeom>
          <a:noFill/>
          <a:ln/>
        </p:spPr>
        <p:txBody>
          <a:bodyPr wrap="square" lIns="0" tIns="0" rIns="0" bIns="0" rtlCol="0" anchor="ctr"/>
          <a:lstStyle/>
          <a:p>
            <a:pPr marL="0" indent="0">
              <a:buNone/>
            </a:pPr>
            <a:r>
              <a:rPr lang="en-US" sz="1800" b="1" dirty="0">
                <a:solidFill>
                  <a:srgbClr val="26262E"/>
                </a:solidFill>
                <a:latin typeface="Calibri" pitchFamily="34" charset="0"/>
                <a:ea typeface="Calibri" pitchFamily="34" charset="-122"/>
                <a:cs typeface="Calibri" pitchFamily="34" charset="-120"/>
              </a:rPr>
              <a:t>Yapay Sinir Ağlarının (YSA) Sınırları</a:t>
            </a:r>
            <a:endParaRPr lang="en-US" sz="1800" dirty="0"/>
          </a:p>
        </p:txBody>
      </p:sp>
      <p:sp>
        <p:nvSpPr>
          <p:cNvPr id="6" name="Text 4"/>
          <p:cNvSpPr txBox="1"/>
          <p:nvPr/>
        </p:nvSpPr>
        <p:spPr>
          <a:xfrm>
            <a:off x="914400" y="2331720"/>
            <a:ext cx="4745736" cy="2697480"/>
          </a:xfrm>
          <a:prstGeom prst="rect">
            <a:avLst/>
          </a:prstGeom>
          <a:noFill/>
          <a:ln/>
        </p:spPr>
        <p:txBody>
          <a:bodyPr wrap="square" lIns="0" tIns="0" rIns="0" bIns="0" rtlCol="0" anchor="t"/>
          <a:lstStyle/>
          <a:p>
            <a:pPr marL="190500" indent="-190500" algn="l">
              <a:spcAft>
                <a:spcPts val="1000"/>
              </a:spcAft>
              <a:buSzPct val="100000"/>
              <a:buChar char="•"/>
            </a:pPr>
            <a:r>
              <a:rPr lang="en-US" sz="1700" dirty="0">
                <a:solidFill>
                  <a:srgbClr val="26262E"/>
                </a:solidFill>
                <a:latin typeface="Calibri" pitchFamily="34" charset="0"/>
                <a:ea typeface="Calibri" pitchFamily="34" charset="-122"/>
                <a:cs typeface="Calibri" pitchFamily="34" charset="-120"/>
              </a:rPr>
              <a:t>Yoğun işlemlerde yüksek enerji tüketimi ve hesaplama yükü</a:t>
            </a:r>
            <a:endParaRPr lang="en-US" sz="1700" dirty="0"/>
          </a:p>
          <a:p>
            <a:pPr marL="190500" indent="-190500" algn="l">
              <a:spcAft>
                <a:spcPts val="1000"/>
              </a:spcAft>
              <a:buSzPct val="100000"/>
              <a:buChar char="•"/>
            </a:pPr>
            <a:r>
              <a:rPr lang="en-US" sz="1700" dirty="0">
                <a:solidFill>
                  <a:srgbClr val="26262E"/>
                </a:solidFill>
                <a:latin typeface="Calibri" pitchFamily="34" charset="0"/>
                <a:ea typeface="Calibri" pitchFamily="34" charset="-122"/>
                <a:cs typeface="Calibri" pitchFamily="34" charset="-120"/>
              </a:rPr>
              <a:t>Katastrofik unutma ve zorlu parametre optimizasyonu</a:t>
            </a:r>
            <a:endParaRPr lang="en-US" sz="1700" dirty="0"/>
          </a:p>
          <a:p>
            <a:pPr marL="190500" indent="-190500" algn="l">
              <a:spcAft>
                <a:spcPts val="1000"/>
              </a:spcAft>
              <a:buSzPct val="100000"/>
              <a:buChar char="•"/>
            </a:pPr>
            <a:r>
              <a:rPr lang="en-US" sz="1700" dirty="0">
                <a:solidFill>
                  <a:srgbClr val="26262E"/>
                </a:solidFill>
                <a:latin typeface="Calibri" pitchFamily="34" charset="0"/>
                <a:ea typeface="Calibri" pitchFamily="34" charset="-122"/>
                <a:cs typeface="Calibri" pitchFamily="34" charset="-120"/>
              </a:rPr>
              <a:t>Nöronların çalışma prensibinden sınırlı düzeyde esinlenme</a:t>
            </a:r>
            <a:endParaRPr lang="en-US" sz="1700" dirty="0"/>
          </a:p>
          <a:p>
            <a:pPr marL="190500" indent="-190500" algn="l">
              <a:spcAft>
                <a:spcPts val="1000"/>
              </a:spcAft>
              <a:buSzPct val="100000"/>
              <a:buChar char="•"/>
            </a:pPr>
            <a:r>
              <a:rPr lang="en-US" sz="1700" dirty="0">
                <a:solidFill>
                  <a:srgbClr val="26262E"/>
                </a:solidFill>
                <a:latin typeface="Calibri" pitchFamily="34" charset="0"/>
                <a:ea typeface="Calibri" pitchFamily="34" charset="-122"/>
                <a:cs typeface="Calibri" pitchFamily="34" charset="-120"/>
              </a:rPr>
              <a:t>Gradyan tabanlı öğrenmenin çevrim içi kullanımı güç</a:t>
            </a:r>
            <a:endParaRPr lang="en-US" sz="1700" dirty="0"/>
          </a:p>
        </p:txBody>
      </p:sp>
      <p:sp>
        <p:nvSpPr>
          <p:cNvPr id="7" name="Shape 5"/>
          <p:cNvSpPr/>
          <p:nvPr/>
        </p:nvSpPr>
        <p:spPr>
          <a:xfrm>
            <a:off x="6254496" y="1600200"/>
            <a:ext cx="5294376" cy="3611880"/>
          </a:xfrm>
          <a:prstGeom prst="roundRect">
            <a:avLst>
              <a:gd name="adj" fmla="val 1519"/>
            </a:avLst>
          </a:prstGeom>
          <a:solidFill>
            <a:srgbClr val="EEF3FB"/>
          </a:solidFill>
          <a:ln/>
        </p:spPr>
        <p:txBody>
          <a:bodyPr/>
          <a:lstStyle/>
          <a:p>
            <a:endParaRPr lang="tr-TR"/>
          </a:p>
        </p:txBody>
      </p:sp>
      <p:sp>
        <p:nvSpPr>
          <p:cNvPr id="8" name="Text 6"/>
          <p:cNvSpPr txBox="1"/>
          <p:nvPr/>
        </p:nvSpPr>
        <p:spPr>
          <a:xfrm>
            <a:off x="6528816" y="1828800"/>
            <a:ext cx="4745736" cy="365760"/>
          </a:xfrm>
          <a:prstGeom prst="rect">
            <a:avLst/>
          </a:prstGeom>
          <a:noFill/>
          <a:ln/>
        </p:spPr>
        <p:txBody>
          <a:bodyPr wrap="square" lIns="0" tIns="0" rIns="0" bIns="0" rtlCol="0" anchor="ctr"/>
          <a:lstStyle/>
          <a:p>
            <a:pPr marL="0" indent="0">
              <a:buNone/>
            </a:pPr>
            <a:r>
              <a:rPr lang="en-US" sz="1800" b="1" dirty="0">
                <a:solidFill>
                  <a:srgbClr val="1E2761"/>
                </a:solidFill>
                <a:latin typeface="Calibri" pitchFamily="34" charset="0"/>
                <a:ea typeface="Calibri" pitchFamily="34" charset="-122"/>
                <a:cs typeface="Calibri" pitchFamily="34" charset="-120"/>
              </a:rPr>
              <a:t>Vuru Üreten Nöral Devreler (VND)</a:t>
            </a:r>
            <a:endParaRPr lang="en-US" sz="1800" dirty="0"/>
          </a:p>
        </p:txBody>
      </p:sp>
      <p:sp>
        <p:nvSpPr>
          <p:cNvPr id="9" name="Text 7"/>
          <p:cNvSpPr txBox="1"/>
          <p:nvPr/>
        </p:nvSpPr>
        <p:spPr>
          <a:xfrm>
            <a:off x="6528816" y="2331720"/>
            <a:ext cx="4745736" cy="2697480"/>
          </a:xfrm>
          <a:prstGeom prst="rect">
            <a:avLst/>
          </a:prstGeom>
          <a:noFill/>
          <a:ln/>
        </p:spPr>
        <p:txBody>
          <a:bodyPr wrap="square" lIns="0" tIns="0" rIns="0" bIns="0" rtlCol="0" anchor="t"/>
          <a:lstStyle/>
          <a:p>
            <a:pPr marL="190500" indent="-190500" algn="l">
              <a:spcAft>
                <a:spcPts val="1000"/>
              </a:spcAft>
              <a:buSzPct val="100000"/>
              <a:buChar char="•"/>
            </a:pPr>
            <a:r>
              <a:rPr lang="en-US" sz="1700" dirty="0">
                <a:solidFill>
                  <a:srgbClr val="26262E"/>
                </a:solidFill>
                <a:latin typeface="Calibri" pitchFamily="34" charset="0"/>
                <a:ea typeface="Calibri" pitchFamily="34" charset="-122"/>
                <a:cs typeface="Calibri" pitchFamily="34" charset="-120"/>
              </a:rPr>
              <a:t>Bilgi, ayrık zamanlı vuru dizileri ile taşınır (aksiyon potansiyelleri)</a:t>
            </a:r>
            <a:endParaRPr lang="en-US" sz="1700" dirty="0"/>
          </a:p>
          <a:p>
            <a:pPr marL="190500" indent="-190500" algn="l">
              <a:spcAft>
                <a:spcPts val="1000"/>
              </a:spcAft>
              <a:buSzPct val="100000"/>
              <a:buChar char="•"/>
            </a:pPr>
            <a:r>
              <a:rPr lang="en-US" sz="1700" dirty="0">
                <a:solidFill>
                  <a:srgbClr val="26262E"/>
                </a:solidFill>
                <a:latin typeface="Calibri" pitchFamily="34" charset="0"/>
                <a:ea typeface="Calibri" pitchFamily="34" charset="-122"/>
                <a:cs typeface="Calibri" pitchFamily="34" charset="-120"/>
              </a:rPr>
              <a:t>Olay tabanlı çalışma → düşük enerji, gerçek zamanlı potansiyel</a:t>
            </a:r>
            <a:endParaRPr lang="en-US" sz="1700" dirty="0"/>
          </a:p>
          <a:p>
            <a:pPr marL="190500" indent="-190500" algn="l">
              <a:spcAft>
                <a:spcPts val="1000"/>
              </a:spcAft>
              <a:buSzPct val="100000"/>
              <a:buChar char="•"/>
            </a:pPr>
            <a:r>
              <a:rPr lang="en-US" sz="1700" dirty="0">
                <a:solidFill>
                  <a:srgbClr val="26262E"/>
                </a:solidFill>
                <a:latin typeface="Calibri" pitchFamily="34" charset="0"/>
                <a:ea typeface="Calibri" pitchFamily="34" charset="-122"/>
                <a:cs typeface="Calibri" pitchFamily="34" charset="-120"/>
              </a:rPr>
              <a:t>STDP gibi biyolojik temelli yerel öğrenme kuralları</a:t>
            </a:r>
            <a:endParaRPr lang="en-US" sz="1700" dirty="0"/>
          </a:p>
          <a:p>
            <a:pPr marL="190500" indent="-190500" algn="l">
              <a:spcAft>
                <a:spcPts val="1000"/>
              </a:spcAft>
              <a:buSzPct val="100000"/>
              <a:buChar char="•"/>
            </a:pPr>
            <a:r>
              <a:rPr lang="en-US" sz="1700" dirty="0">
                <a:solidFill>
                  <a:srgbClr val="26262E"/>
                </a:solidFill>
                <a:latin typeface="Calibri" pitchFamily="34" charset="0"/>
                <a:ea typeface="Calibri" pitchFamily="34" charset="-122"/>
                <a:cs typeface="Calibri" pitchFamily="34" charset="-120"/>
              </a:rPr>
              <a:t>Nöromorfik donanımlar üzerinde gerçeklenmeye uygun</a:t>
            </a:r>
            <a:endParaRPr lang="en-US" sz="1700" dirty="0"/>
          </a:p>
        </p:txBody>
      </p:sp>
      <p:sp>
        <p:nvSpPr>
          <p:cNvPr id="10" name="Text 8"/>
          <p:cNvSpPr txBox="1"/>
          <p:nvPr/>
        </p:nvSpPr>
        <p:spPr>
          <a:xfrm>
            <a:off x="640080" y="5440680"/>
            <a:ext cx="10908792" cy="77724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Vizyon: </a:t>
            </a:r>
            <a:r>
              <a:rPr lang="en-US" sz="1700" dirty="0">
                <a:solidFill>
                  <a:srgbClr val="26262E"/>
                </a:solidFill>
                <a:latin typeface="Calibri" pitchFamily="34" charset="0"/>
                <a:ea typeface="Calibri" pitchFamily="34" charset="-122"/>
                <a:cs typeface="Calibri" pitchFamily="34" charset="-120"/>
              </a:rPr>
              <a:t>Beyinden esinlenen, enerji açısından verimli, çevresel uyaranlarla kendini güncelleyebilen ve örüntü tanıyabilen bir VND yapısı geliştirmek.</a:t>
            </a:r>
            <a:endParaRPr lang="en-US" sz="1700" dirty="0"/>
          </a:p>
        </p:txBody>
      </p:sp>
      <p:sp>
        <p:nvSpPr>
          <p:cNvPr id="11" name="Text 9"/>
          <p:cNvSpPr txBox="1"/>
          <p:nvPr/>
        </p:nvSpPr>
        <p:spPr>
          <a:xfrm>
            <a:off x="640080" y="6419088"/>
            <a:ext cx="64008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TÜBİTAK 1001 · 123E674 — Proje Çalıştayı, 24 Eylül 2026</a:t>
            </a:r>
            <a:endParaRPr lang="en-US" sz="1000" dirty="0"/>
          </a:p>
        </p:txBody>
      </p:sp>
      <p:sp>
        <p:nvSpPr>
          <p:cNvPr id="12" name="Text 10"/>
          <p:cNvSpPr txBox="1"/>
          <p:nvPr/>
        </p:nvSpPr>
        <p:spPr>
          <a:xfrm>
            <a:off x="11503152" y="6419088"/>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84048"/>
            <a:ext cx="10908792" cy="27432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TEMEL KAVRAM</a:t>
            </a:r>
            <a:endParaRPr lang="en-US" sz="12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Yapay Nöron ve Vuru Üreten Nöron</a:t>
            </a:r>
            <a:endParaRPr lang="en-US" sz="3000" dirty="0"/>
          </a:p>
        </p:txBody>
      </p:sp>
      <p:sp>
        <p:nvSpPr>
          <p:cNvPr id="4" name="Shape 2"/>
          <p:cNvSpPr/>
          <p:nvPr/>
        </p:nvSpPr>
        <p:spPr>
          <a:xfrm>
            <a:off x="640080" y="1554480"/>
            <a:ext cx="5294376" cy="4663440"/>
          </a:xfrm>
          <a:prstGeom prst="roundRect">
            <a:avLst>
              <a:gd name="adj" fmla="val 1176"/>
            </a:avLst>
          </a:prstGeom>
          <a:solidFill>
            <a:srgbClr val="F5F7FA"/>
          </a:solidFill>
          <a:ln/>
        </p:spPr>
        <p:txBody>
          <a:bodyPr/>
          <a:lstStyle/>
          <a:p>
            <a:endParaRPr lang="tr-TR"/>
          </a:p>
        </p:txBody>
      </p:sp>
      <p:sp>
        <p:nvSpPr>
          <p:cNvPr id="5" name="Text 3"/>
          <p:cNvSpPr txBox="1"/>
          <p:nvPr/>
        </p:nvSpPr>
        <p:spPr>
          <a:xfrm>
            <a:off x="914400" y="1737360"/>
            <a:ext cx="4745736" cy="365760"/>
          </a:xfrm>
          <a:prstGeom prst="rect">
            <a:avLst/>
          </a:prstGeom>
          <a:noFill/>
          <a:ln/>
        </p:spPr>
        <p:txBody>
          <a:bodyPr wrap="square" lIns="0" tIns="0" rIns="0" bIns="0" rtlCol="0" anchor="ctr"/>
          <a:lstStyle/>
          <a:p>
            <a:pPr marL="0" indent="0">
              <a:buNone/>
            </a:pPr>
            <a:r>
              <a:rPr lang="en-US" sz="1800" b="1" dirty="0">
                <a:solidFill>
                  <a:srgbClr val="1E2761"/>
                </a:solidFill>
                <a:latin typeface="Calibri" pitchFamily="34" charset="0"/>
                <a:ea typeface="Calibri" pitchFamily="34" charset="-122"/>
                <a:cs typeface="Calibri" pitchFamily="34" charset="-120"/>
              </a:rPr>
              <a:t>Yapay nöron (perseptron)</a:t>
            </a:r>
            <a:endParaRPr lang="en-US" sz="1800" dirty="0"/>
          </a:p>
        </p:txBody>
      </p:sp>
      <p:pic>
        <p:nvPicPr>
          <p:cNvPr id="6" name="Image 0" descr="Perseptron: sürekli girişler, ağırlıklı toplam ve aktivasyon fonksiyonu"/>
          <p:cNvPicPr>
            <a:picLocks noChangeAspect="1"/>
          </p:cNvPicPr>
          <p:nvPr/>
        </p:nvPicPr>
        <p:blipFill>
          <a:blip r:embed="rId3"/>
          <a:stretch>
            <a:fillRect/>
          </a:stretch>
        </p:blipFill>
        <p:spPr>
          <a:xfrm>
            <a:off x="818388" y="2157984"/>
            <a:ext cx="4937760" cy="2645229"/>
          </a:xfrm>
          <a:prstGeom prst="rect">
            <a:avLst/>
          </a:prstGeom>
        </p:spPr>
      </p:pic>
      <p:sp>
        <p:nvSpPr>
          <p:cNvPr id="7" name="Text 4"/>
          <p:cNvSpPr txBox="1"/>
          <p:nvPr/>
        </p:nvSpPr>
        <p:spPr>
          <a:xfrm>
            <a:off x="914400" y="4876365"/>
            <a:ext cx="4745736" cy="347472"/>
          </a:xfrm>
          <a:prstGeom prst="rect">
            <a:avLst/>
          </a:prstGeom>
          <a:noFill/>
          <a:ln/>
        </p:spPr>
        <p:txBody>
          <a:bodyPr wrap="square" lIns="0" tIns="0" rIns="0" bIns="0" rtlCol="0" anchor="ctr"/>
          <a:lstStyle/>
          <a:p>
            <a:pPr marL="0" indent="0">
              <a:buNone/>
            </a:pPr>
            <a:r>
              <a:rPr lang="en-US" sz="1600" i="1" dirty="0">
                <a:solidFill>
                  <a:srgbClr val="1E2761"/>
                </a:solidFill>
                <a:latin typeface="Calibri" pitchFamily="34" charset="0"/>
                <a:ea typeface="Calibri" pitchFamily="34" charset="-122"/>
                <a:cs typeface="Calibri" pitchFamily="34" charset="-120"/>
              </a:rPr>
              <a:t>y = f(Σ w</a:t>
            </a:r>
            <a:r>
              <a:rPr lang="en-US" sz="1600" i="1" baseline="-40000" dirty="0">
                <a:solidFill>
                  <a:srgbClr val="1E2761"/>
                </a:solidFill>
                <a:latin typeface="Calibri" pitchFamily="34" charset="0"/>
                <a:ea typeface="Calibri" pitchFamily="34" charset="-122"/>
                <a:cs typeface="Calibri" pitchFamily="34" charset="-120"/>
              </a:rPr>
              <a:t>i</a:t>
            </a:r>
            <a:r>
              <a:rPr lang="en-US" sz="1600" i="1" dirty="0">
                <a:solidFill>
                  <a:srgbClr val="1E2761"/>
                </a:solidFill>
                <a:latin typeface="Calibri" pitchFamily="34" charset="0"/>
                <a:ea typeface="Calibri" pitchFamily="34" charset="-122"/>
                <a:cs typeface="Calibri" pitchFamily="34" charset="-120"/>
              </a:rPr>
              <a:t> x</a:t>
            </a:r>
            <a:r>
              <a:rPr lang="en-US" sz="1600" i="1" baseline="-40000" dirty="0">
                <a:solidFill>
                  <a:srgbClr val="1E2761"/>
                </a:solidFill>
                <a:latin typeface="Calibri" pitchFamily="34" charset="0"/>
                <a:ea typeface="Calibri" pitchFamily="34" charset="-122"/>
                <a:cs typeface="Calibri" pitchFamily="34" charset="-120"/>
              </a:rPr>
              <a:t>i</a:t>
            </a:r>
            <a:r>
              <a:rPr lang="en-US" sz="1600" i="1" dirty="0">
                <a:solidFill>
                  <a:srgbClr val="1E2761"/>
                </a:solidFill>
                <a:latin typeface="Calibri" pitchFamily="34" charset="0"/>
                <a:ea typeface="Calibri" pitchFamily="34" charset="-122"/>
                <a:cs typeface="Calibri" pitchFamily="34" charset="-120"/>
              </a:rPr>
              <a:t> + b)</a:t>
            </a:r>
            <a:endParaRPr lang="en-US" sz="1600" dirty="0"/>
          </a:p>
        </p:txBody>
      </p:sp>
      <p:sp>
        <p:nvSpPr>
          <p:cNvPr id="8" name="Text 5"/>
          <p:cNvSpPr txBox="1"/>
          <p:nvPr/>
        </p:nvSpPr>
        <p:spPr>
          <a:xfrm>
            <a:off x="914400" y="5306133"/>
            <a:ext cx="4745736" cy="820347"/>
          </a:xfrm>
          <a:prstGeom prst="rect">
            <a:avLst/>
          </a:prstGeom>
          <a:noFill/>
          <a:ln/>
        </p:spPr>
        <p:txBody>
          <a:bodyPr wrap="square" lIns="0" tIns="0" rIns="0" bIns="0" rtlCol="0" anchor="t"/>
          <a:lstStyle/>
          <a:p>
            <a:pPr marL="190500" indent="-190500" algn="l">
              <a:spcAft>
                <a:spcPts val="600"/>
              </a:spcAft>
              <a:buSzPct val="100000"/>
              <a:buChar char="•"/>
            </a:pPr>
            <a:r>
              <a:rPr lang="en-US" sz="1500" dirty="0">
                <a:solidFill>
                  <a:srgbClr val="26262E"/>
                </a:solidFill>
                <a:latin typeface="Calibri" pitchFamily="34" charset="0"/>
                <a:ea typeface="Calibri" pitchFamily="34" charset="-122"/>
                <a:cs typeface="Calibri" pitchFamily="34" charset="-120"/>
              </a:rPr>
              <a:t>Girişler ve çıkış sürekli değerler; zaman bilgisi yok</a:t>
            </a:r>
            <a:endParaRPr lang="en-US" sz="1500" dirty="0"/>
          </a:p>
          <a:p>
            <a:pPr marL="190500" indent="-190500" algn="l">
              <a:spcAft>
                <a:spcPts val="600"/>
              </a:spcAft>
              <a:buSzPct val="100000"/>
              <a:buChar char="•"/>
            </a:pPr>
            <a:r>
              <a:rPr lang="en-US" sz="1500" dirty="0">
                <a:solidFill>
                  <a:srgbClr val="26262E"/>
                </a:solidFill>
                <a:latin typeface="Calibri" pitchFamily="34" charset="0"/>
                <a:ea typeface="Calibri" pitchFamily="34" charset="-122"/>
                <a:cs typeface="Calibri" pitchFamily="34" charset="-120"/>
              </a:rPr>
              <a:t>Türevlenebilir aktivasyon → geri yayılımla eğitim</a:t>
            </a:r>
            <a:endParaRPr lang="en-US" sz="1500" dirty="0"/>
          </a:p>
        </p:txBody>
      </p:sp>
      <p:sp>
        <p:nvSpPr>
          <p:cNvPr id="9" name="Shape 6"/>
          <p:cNvSpPr/>
          <p:nvPr/>
        </p:nvSpPr>
        <p:spPr>
          <a:xfrm>
            <a:off x="6254496" y="1554480"/>
            <a:ext cx="5294376" cy="4663440"/>
          </a:xfrm>
          <a:prstGeom prst="roundRect">
            <a:avLst>
              <a:gd name="adj" fmla="val 1176"/>
            </a:avLst>
          </a:prstGeom>
          <a:solidFill>
            <a:srgbClr val="EEF3FB"/>
          </a:solidFill>
          <a:ln/>
        </p:spPr>
        <p:txBody>
          <a:bodyPr/>
          <a:lstStyle/>
          <a:p>
            <a:endParaRPr lang="tr-TR"/>
          </a:p>
        </p:txBody>
      </p:sp>
      <p:sp>
        <p:nvSpPr>
          <p:cNvPr id="10" name="Text 7"/>
          <p:cNvSpPr txBox="1"/>
          <p:nvPr/>
        </p:nvSpPr>
        <p:spPr>
          <a:xfrm>
            <a:off x="6528816" y="1737360"/>
            <a:ext cx="4745736" cy="365760"/>
          </a:xfrm>
          <a:prstGeom prst="rect">
            <a:avLst/>
          </a:prstGeom>
          <a:noFill/>
          <a:ln/>
        </p:spPr>
        <p:txBody>
          <a:bodyPr wrap="square" lIns="0" tIns="0" rIns="0" bIns="0" rtlCol="0" anchor="ctr"/>
          <a:lstStyle/>
          <a:p>
            <a:pPr marL="0" indent="0">
              <a:buNone/>
            </a:pPr>
            <a:r>
              <a:rPr lang="en-US" sz="1800" b="1" dirty="0">
                <a:solidFill>
                  <a:srgbClr val="1E2761"/>
                </a:solidFill>
                <a:latin typeface="Calibri" pitchFamily="34" charset="0"/>
                <a:ea typeface="Calibri" pitchFamily="34" charset="-122"/>
                <a:cs typeface="Calibri" pitchFamily="34" charset="-120"/>
              </a:rPr>
              <a:t>Vuru üreten nöron (LIF)</a:t>
            </a:r>
            <a:endParaRPr lang="en-US" sz="1800" dirty="0"/>
          </a:p>
        </p:txBody>
      </p:sp>
      <p:pic>
        <p:nvPicPr>
          <p:cNvPr id="11" name="Image 1" descr="LIF nöronu: giriş vuruları zar potansiyelini artırır, eşikte çıkış vurusu üretilir"/>
          <p:cNvPicPr>
            <a:picLocks noChangeAspect="1"/>
          </p:cNvPicPr>
          <p:nvPr/>
        </p:nvPicPr>
        <p:blipFill>
          <a:blip r:embed="rId4"/>
          <a:stretch>
            <a:fillRect/>
          </a:stretch>
        </p:blipFill>
        <p:spPr>
          <a:xfrm>
            <a:off x="6432804" y="2157984"/>
            <a:ext cx="4937760" cy="2645229"/>
          </a:xfrm>
          <a:prstGeom prst="rect">
            <a:avLst/>
          </a:prstGeom>
        </p:spPr>
      </p:pic>
      <p:sp>
        <p:nvSpPr>
          <p:cNvPr id="12" name="Text 8"/>
          <p:cNvSpPr txBox="1"/>
          <p:nvPr/>
        </p:nvSpPr>
        <p:spPr>
          <a:xfrm>
            <a:off x="6528816" y="4876365"/>
            <a:ext cx="4745736" cy="347472"/>
          </a:xfrm>
          <a:prstGeom prst="rect">
            <a:avLst/>
          </a:prstGeom>
          <a:noFill/>
          <a:ln/>
        </p:spPr>
        <p:txBody>
          <a:bodyPr wrap="square" lIns="0" tIns="0" rIns="0" bIns="0" rtlCol="0" anchor="ctr"/>
          <a:lstStyle/>
          <a:p>
            <a:pPr marL="0" indent="0">
              <a:buNone/>
            </a:pPr>
            <a:r>
              <a:rPr lang="en-US" sz="1600" i="1" dirty="0">
                <a:solidFill>
                  <a:srgbClr val="1E2761"/>
                </a:solidFill>
                <a:latin typeface="Calibri" pitchFamily="34" charset="0"/>
                <a:ea typeface="Calibri" pitchFamily="34" charset="-122"/>
                <a:cs typeface="Calibri" pitchFamily="34" charset="-120"/>
              </a:rPr>
              <a:t>τ · dv/dt = −(v − v</a:t>
            </a:r>
            <a:r>
              <a:rPr lang="en-US" sz="1600" i="1" baseline="-40000" dirty="0">
                <a:solidFill>
                  <a:srgbClr val="1E2761"/>
                </a:solidFill>
                <a:latin typeface="Calibri" pitchFamily="34" charset="0"/>
                <a:ea typeface="Calibri" pitchFamily="34" charset="-122"/>
                <a:cs typeface="Calibri" pitchFamily="34" charset="-120"/>
              </a:rPr>
              <a:t>dinlenme</a:t>
            </a:r>
            <a:r>
              <a:rPr lang="en-US" sz="1600" i="1" dirty="0">
                <a:solidFill>
                  <a:srgbClr val="1E2761"/>
                </a:solidFill>
                <a:latin typeface="Calibri" pitchFamily="34" charset="0"/>
                <a:ea typeface="Calibri" pitchFamily="34" charset="-122"/>
                <a:cs typeface="Calibri" pitchFamily="34" charset="-120"/>
              </a:rPr>
              <a:t>) + R · I(t)</a:t>
            </a:r>
            <a:endParaRPr lang="en-US" sz="1600" dirty="0"/>
          </a:p>
        </p:txBody>
      </p:sp>
      <p:sp>
        <p:nvSpPr>
          <p:cNvPr id="13" name="Text 9"/>
          <p:cNvSpPr txBox="1"/>
          <p:nvPr/>
        </p:nvSpPr>
        <p:spPr>
          <a:xfrm>
            <a:off x="6528816" y="5306133"/>
            <a:ext cx="4745736" cy="820347"/>
          </a:xfrm>
          <a:prstGeom prst="rect">
            <a:avLst/>
          </a:prstGeom>
          <a:noFill/>
          <a:ln/>
        </p:spPr>
        <p:txBody>
          <a:bodyPr wrap="square" lIns="0" tIns="0" rIns="0" bIns="0" rtlCol="0" anchor="t"/>
          <a:lstStyle/>
          <a:p>
            <a:pPr marL="190500" indent="-190500" algn="l">
              <a:spcAft>
                <a:spcPts val="600"/>
              </a:spcAft>
              <a:buSzPct val="100000"/>
              <a:buChar char="•"/>
            </a:pPr>
            <a:r>
              <a:rPr lang="en-US" sz="1500" dirty="0">
                <a:solidFill>
                  <a:srgbClr val="26262E"/>
                </a:solidFill>
                <a:latin typeface="Calibri" pitchFamily="34" charset="0"/>
                <a:ea typeface="Calibri" pitchFamily="34" charset="-122"/>
                <a:cs typeface="Calibri" pitchFamily="34" charset="-120"/>
              </a:rPr>
              <a:t>Bilgi, ayrık vuruların zamanlamasıyla taşınır</a:t>
            </a:r>
            <a:endParaRPr lang="en-US" sz="1500" dirty="0"/>
          </a:p>
          <a:p>
            <a:pPr marL="190500" indent="-190500" algn="l">
              <a:spcAft>
                <a:spcPts val="600"/>
              </a:spcAft>
              <a:buSzPct val="100000"/>
              <a:buChar char="•"/>
            </a:pPr>
            <a:r>
              <a:rPr lang="en-US" sz="1500" dirty="0">
                <a:solidFill>
                  <a:srgbClr val="26262E"/>
                </a:solidFill>
                <a:latin typeface="Calibri" pitchFamily="34" charset="0"/>
                <a:ea typeface="Calibri" pitchFamily="34" charset="-122"/>
                <a:cs typeface="Calibri" pitchFamily="34" charset="-120"/>
              </a:rPr>
              <a:t>Eşikte (θ) vuru ve sıfırlanma; STDP ile yerel öğrenme</a:t>
            </a:r>
            <a:endParaRPr lang="en-US" sz="1500" dirty="0"/>
          </a:p>
        </p:txBody>
      </p:sp>
      <p:sp>
        <p:nvSpPr>
          <p:cNvPr id="14" name="Text 10"/>
          <p:cNvSpPr txBox="1"/>
          <p:nvPr/>
        </p:nvSpPr>
        <p:spPr>
          <a:xfrm>
            <a:off x="640080" y="6419088"/>
            <a:ext cx="64008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TÜBİTAK 1001 · 123E674 — Proje Çalıştayı, 24 Eylül 2026</a:t>
            </a:r>
            <a:endParaRPr lang="en-US" sz="1000" dirty="0"/>
          </a:p>
        </p:txBody>
      </p:sp>
      <p:sp>
        <p:nvSpPr>
          <p:cNvPr id="15" name="Text 11"/>
          <p:cNvSpPr txBox="1"/>
          <p:nvPr/>
        </p:nvSpPr>
        <p:spPr>
          <a:xfrm>
            <a:off x="11503152" y="6419088"/>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84048"/>
            <a:ext cx="10908792" cy="27432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PROJENİN AMACI VE ÖZGÜN DEĞERİ</a:t>
            </a:r>
            <a:endParaRPr lang="en-US" sz="12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Ne Yapmayı Hedefliyoruz?</a:t>
            </a:r>
            <a:endParaRPr lang="en-US" sz="3000" dirty="0"/>
          </a:p>
        </p:txBody>
      </p:sp>
      <p:sp>
        <p:nvSpPr>
          <p:cNvPr id="4" name="Shape 2"/>
          <p:cNvSpPr/>
          <p:nvPr/>
        </p:nvSpPr>
        <p:spPr>
          <a:xfrm>
            <a:off x="640080" y="1600200"/>
            <a:ext cx="10908792" cy="1371600"/>
          </a:xfrm>
          <a:prstGeom prst="roundRect">
            <a:avLst>
              <a:gd name="adj" fmla="val 4000"/>
            </a:avLst>
          </a:prstGeom>
          <a:solidFill>
            <a:srgbClr val="EEF3FB"/>
          </a:solidFill>
          <a:ln/>
        </p:spPr>
        <p:txBody>
          <a:bodyPr/>
          <a:lstStyle/>
          <a:p>
            <a:endParaRPr lang="tr-TR"/>
          </a:p>
        </p:txBody>
      </p:sp>
      <p:sp>
        <p:nvSpPr>
          <p:cNvPr id="5" name="Text 3"/>
          <p:cNvSpPr txBox="1"/>
          <p:nvPr/>
        </p:nvSpPr>
        <p:spPr>
          <a:xfrm>
            <a:off x="914400" y="1737360"/>
            <a:ext cx="10360152" cy="1097280"/>
          </a:xfrm>
          <a:prstGeom prst="rect">
            <a:avLst/>
          </a:prstGeom>
          <a:noFill/>
          <a:ln/>
        </p:spPr>
        <p:txBody>
          <a:bodyPr wrap="square" lIns="0" tIns="0" rIns="0" bIns="0" rtlCol="0" anchor="ctr"/>
          <a:lstStyle/>
          <a:p>
            <a:pPr marL="0" indent="0">
              <a:lnSpc>
                <a:spcPct val="105000"/>
              </a:lnSpc>
              <a:buNone/>
            </a:pPr>
            <a:r>
              <a:rPr lang="en-US" sz="1700" b="1" dirty="0">
                <a:solidFill>
                  <a:srgbClr val="1E2761"/>
                </a:solidFill>
                <a:latin typeface="Calibri" pitchFamily="34" charset="0"/>
                <a:ea typeface="Calibri" pitchFamily="34" charset="-122"/>
                <a:cs typeface="Calibri" pitchFamily="34" charset="-120"/>
              </a:rPr>
              <a:t>Amaç: </a:t>
            </a:r>
            <a:r>
              <a:rPr lang="en-US" sz="1700" dirty="0">
                <a:solidFill>
                  <a:srgbClr val="26262E"/>
                </a:solidFill>
                <a:latin typeface="Calibri" pitchFamily="34" charset="0"/>
                <a:ea typeface="Calibri" pitchFamily="34" charset="-122"/>
                <a:cs typeface="Calibri" pitchFamily="34" charset="-120"/>
              </a:rPr>
              <a:t>Öngörüsel Kodlama (ÖK) ve Kazanan Hepsini Alır (KHA) mekanizmalarını içeren bir VND ağını, yeni bir öğrenme kuralı ile biyolojik olarak daha gerçekçi hale getirmek; yapıyı robot üzerinde uygulamak ve nöromorfik donanım arayüzünde enerji verimliliğini gözlemlemek.</a:t>
            </a:r>
            <a:endParaRPr lang="en-US" sz="1700" dirty="0"/>
          </a:p>
        </p:txBody>
      </p:sp>
      <p:sp>
        <p:nvSpPr>
          <p:cNvPr id="6" name="Shape 4"/>
          <p:cNvSpPr/>
          <p:nvPr/>
        </p:nvSpPr>
        <p:spPr>
          <a:xfrm>
            <a:off x="640080" y="3246120"/>
            <a:ext cx="3422904" cy="2926080"/>
          </a:xfrm>
          <a:prstGeom prst="roundRect">
            <a:avLst>
              <a:gd name="adj" fmla="val 1875"/>
            </a:avLst>
          </a:prstGeom>
          <a:solidFill>
            <a:srgbClr val="F5F7FA"/>
          </a:solidFill>
          <a:ln/>
        </p:spPr>
        <p:txBody>
          <a:bodyPr/>
          <a:lstStyle/>
          <a:p>
            <a:endParaRPr lang="tr-TR"/>
          </a:p>
        </p:txBody>
      </p:sp>
      <p:sp>
        <p:nvSpPr>
          <p:cNvPr id="7" name="Text 5"/>
          <p:cNvSpPr txBox="1"/>
          <p:nvPr/>
        </p:nvSpPr>
        <p:spPr>
          <a:xfrm>
            <a:off x="914400" y="3447288"/>
            <a:ext cx="548640" cy="45720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1</a:t>
            </a:r>
            <a:endParaRPr lang="en-US" sz="2800" dirty="0"/>
          </a:p>
        </p:txBody>
      </p:sp>
      <p:sp>
        <p:nvSpPr>
          <p:cNvPr id="8" name="Text 6"/>
          <p:cNvSpPr txBox="1"/>
          <p:nvPr/>
        </p:nvSpPr>
        <p:spPr>
          <a:xfrm>
            <a:off x="914400" y="3977640"/>
            <a:ext cx="2874264" cy="365760"/>
          </a:xfrm>
          <a:prstGeom prst="rect">
            <a:avLst/>
          </a:prstGeom>
          <a:noFill/>
          <a:ln/>
        </p:spPr>
        <p:txBody>
          <a:bodyPr wrap="square" lIns="0" tIns="0" rIns="0" bIns="0" rtlCol="0" anchor="ctr"/>
          <a:lstStyle/>
          <a:p>
            <a:pPr marL="0" indent="0">
              <a:buNone/>
            </a:pPr>
            <a:r>
              <a:rPr lang="en-US" sz="1700" b="1" dirty="0">
                <a:solidFill>
                  <a:srgbClr val="26262E"/>
                </a:solidFill>
                <a:latin typeface="Calibri" pitchFamily="34" charset="0"/>
                <a:ea typeface="Calibri" pitchFamily="34" charset="-122"/>
                <a:cs typeface="Calibri" pitchFamily="34" charset="-120"/>
              </a:rPr>
              <a:t>Bütünleşik yapı</a:t>
            </a:r>
            <a:endParaRPr lang="en-US" sz="1700" dirty="0"/>
          </a:p>
        </p:txBody>
      </p:sp>
      <p:sp>
        <p:nvSpPr>
          <p:cNvPr id="9" name="Text 7"/>
          <p:cNvSpPr txBox="1"/>
          <p:nvPr/>
        </p:nvSpPr>
        <p:spPr>
          <a:xfrm>
            <a:off x="914400" y="4389120"/>
            <a:ext cx="2874264" cy="1645920"/>
          </a:xfrm>
          <a:prstGeom prst="rect">
            <a:avLst/>
          </a:prstGeom>
          <a:noFill/>
          <a:ln/>
        </p:spPr>
        <p:txBody>
          <a:bodyPr wrap="square" lIns="0" tIns="0" rIns="0" bIns="0" rtlCol="0" anchor="t"/>
          <a:lstStyle/>
          <a:p>
            <a:pPr marL="0" indent="0">
              <a:lnSpc>
                <a:spcPct val="105000"/>
              </a:lnSpc>
              <a:buNone/>
            </a:pPr>
            <a:r>
              <a:rPr lang="en-US" sz="1550" dirty="0">
                <a:solidFill>
                  <a:srgbClr val="26262E"/>
                </a:solidFill>
                <a:latin typeface="Calibri" pitchFamily="34" charset="0"/>
                <a:ea typeface="Calibri" pitchFamily="34" charset="-122"/>
                <a:cs typeface="Calibri" pitchFamily="34" charset="-120"/>
              </a:rPr>
              <a:t>Çevresel kısıtlama (ÇK) ile gerçeklenen KHA mekanizmasının, ÖK yapısı ile aynı VND ağında bütünleştirilmesi.</a:t>
            </a:r>
            <a:endParaRPr lang="en-US" sz="1550" dirty="0"/>
          </a:p>
        </p:txBody>
      </p:sp>
      <p:sp>
        <p:nvSpPr>
          <p:cNvPr id="10" name="Shape 8"/>
          <p:cNvSpPr/>
          <p:nvPr/>
        </p:nvSpPr>
        <p:spPr>
          <a:xfrm>
            <a:off x="4383024" y="3246120"/>
            <a:ext cx="3422904" cy="2926080"/>
          </a:xfrm>
          <a:prstGeom prst="roundRect">
            <a:avLst>
              <a:gd name="adj" fmla="val 1875"/>
            </a:avLst>
          </a:prstGeom>
          <a:solidFill>
            <a:srgbClr val="F5F7FA"/>
          </a:solidFill>
          <a:ln/>
        </p:spPr>
        <p:txBody>
          <a:bodyPr/>
          <a:lstStyle/>
          <a:p>
            <a:endParaRPr lang="tr-TR"/>
          </a:p>
        </p:txBody>
      </p:sp>
      <p:sp>
        <p:nvSpPr>
          <p:cNvPr id="11" name="Text 9"/>
          <p:cNvSpPr txBox="1"/>
          <p:nvPr/>
        </p:nvSpPr>
        <p:spPr>
          <a:xfrm>
            <a:off x="4657344" y="3447288"/>
            <a:ext cx="548640" cy="45720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2</a:t>
            </a:r>
            <a:endParaRPr lang="en-US" sz="2800" dirty="0"/>
          </a:p>
        </p:txBody>
      </p:sp>
      <p:sp>
        <p:nvSpPr>
          <p:cNvPr id="12" name="Text 10"/>
          <p:cNvSpPr txBox="1"/>
          <p:nvPr/>
        </p:nvSpPr>
        <p:spPr>
          <a:xfrm>
            <a:off x="4657344" y="3977640"/>
            <a:ext cx="2874264" cy="365760"/>
          </a:xfrm>
          <a:prstGeom prst="rect">
            <a:avLst/>
          </a:prstGeom>
          <a:noFill/>
          <a:ln/>
        </p:spPr>
        <p:txBody>
          <a:bodyPr wrap="square" lIns="0" tIns="0" rIns="0" bIns="0" rtlCol="0" anchor="ctr"/>
          <a:lstStyle/>
          <a:p>
            <a:pPr marL="0" indent="0">
              <a:buNone/>
            </a:pPr>
            <a:r>
              <a:rPr lang="en-US" sz="1700" b="1" dirty="0">
                <a:solidFill>
                  <a:srgbClr val="26262E"/>
                </a:solidFill>
                <a:latin typeface="Calibri" pitchFamily="34" charset="0"/>
                <a:ea typeface="Calibri" pitchFamily="34" charset="-122"/>
                <a:cs typeface="Calibri" pitchFamily="34" charset="-120"/>
              </a:rPr>
              <a:t>Yeni öğrenme kuralı</a:t>
            </a:r>
            <a:endParaRPr lang="en-US" sz="1700" dirty="0"/>
          </a:p>
        </p:txBody>
      </p:sp>
      <p:sp>
        <p:nvSpPr>
          <p:cNvPr id="13" name="Text 11"/>
          <p:cNvSpPr txBox="1"/>
          <p:nvPr/>
        </p:nvSpPr>
        <p:spPr>
          <a:xfrm>
            <a:off x="4657344" y="4389120"/>
            <a:ext cx="2874264" cy="1645920"/>
          </a:xfrm>
          <a:prstGeom prst="rect">
            <a:avLst/>
          </a:prstGeom>
          <a:noFill/>
          <a:ln/>
        </p:spPr>
        <p:txBody>
          <a:bodyPr wrap="square" lIns="0" tIns="0" rIns="0" bIns="0" rtlCol="0" anchor="t"/>
          <a:lstStyle/>
          <a:p>
            <a:pPr marL="0" indent="0">
              <a:lnSpc>
                <a:spcPct val="105000"/>
              </a:lnSpc>
              <a:buNone/>
            </a:pPr>
            <a:r>
              <a:rPr lang="en-US" sz="1550" dirty="0">
                <a:solidFill>
                  <a:srgbClr val="26262E"/>
                </a:solidFill>
                <a:latin typeface="Calibri" pitchFamily="34" charset="0"/>
                <a:ea typeface="Calibri" pitchFamily="34" charset="-122"/>
                <a:cs typeface="Calibri" pitchFamily="34" charset="-120"/>
              </a:rPr>
              <a:t>Klasik STDP'ye muadil, vuru izlerine dayalı ve çevrim içi güncellenebilen yerel bir öğrenme kuralının geliştirilmesi.</a:t>
            </a:r>
            <a:endParaRPr lang="en-US" sz="1550" dirty="0"/>
          </a:p>
        </p:txBody>
      </p:sp>
      <p:sp>
        <p:nvSpPr>
          <p:cNvPr id="14" name="Shape 12"/>
          <p:cNvSpPr/>
          <p:nvPr/>
        </p:nvSpPr>
        <p:spPr>
          <a:xfrm>
            <a:off x="8125968" y="3246120"/>
            <a:ext cx="3422904" cy="2926080"/>
          </a:xfrm>
          <a:prstGeom prst="roundRect">
            <a:avLst>
              <a:gd name="adj" fmla="val 1875"/>
            </a:avLst>
          </a:prstGeom>
          <a:solidFill>
            <a:srgbClr val="F5F7FA"/>
          </a:solidFill>
          <a:ln/>
        </p:spPr>
        <p:txBody>
          <a:bodyPr/>
          <a:lstStyle/>
          <a:p>
            <a:endParaRPr lang="tr-TR"/>
          </a:p>
        </p:txBody>
      </p:sp>
      <p:sp>
        <p:nvSpPr>
          <p:cNvPr id="15" name="Text 13"/>
          <p:cNvSpPr txBox="1"/>
          <p:nvPr/>
        </p:nvSpPr>
        <p:spPr>
          <a:xfrm>
            <a:off x="8400288" y="3447288"/>
            <a:ext cx="548640" cy="45720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3</a:t>
            </a:r>
            <a:endParaRPr lang="en-US" sz="2800" dirty="0"/>
          </a:p>
        </p:txBody>
      </p:sp>
      <p:sp>
        <p:nvSpPr>
          <p:cNvPr id="16" name="Text 14"/>
          <p:cNvSpPr txBox="1"/>
          <p:nvPr/>
        </p:nvSpPr>
        <p:spPr>
          <a:xfrm>
            <a:off x="8400288" y="3977640"/>
            <a:ext cx="2874264" cy="365760"/>
          </a:xfrm>
          <a:prstGeom prst="rect">
            <a:avLst/>
          </a:prstGeom>
          <a:noFill/>
          <a:ln/>
        </p:spPr>
        <p:txBody>
          <a:bodyPr wrap="square" lIns="0" tIns="0" rIns="0" bIns="0" rtlCol="0" anchor="ctr"/>
          <a:lstStyle/>
          <a:p>
            <a:pPr marL="0" indent="0">
              <a:buNone/>
            </a:pPr>
            <a:r>
              <a:rPr lang="en-US" sz="1700" b="1" dirty="0">
                <a:solidFill>
                  <a:srgbClr val="26262E"/>
                </a:solidFill>
                <a:latin typeface="Calibri" pitchFamily="34" charset="0"/>
                <a:ea typeface="Calibri" pitchFamily="34" charset="-122"/>
                <a:cs typeface="Calibri" pitchFamily="34" charset="-120"/>
              </a:rPr>
              <a:t>Gerçek sistemde sınama</a:t>
            </a:r>
            <a:endParaRPr lang="en-US" sz="1700" dirty="0"/>
          </a:p>
        </p:txBody>
      </p:sp>
      <p:sp>
        <p:nvSpPr>
          <p:cNvPr id="17" name="Text 15"/>
          <p:cNvSpPr txBox="1"/>
          <p:nvPr/>
        </p:nvSpPr>
        <p:spPr>
          <a:xfrm>
            <a:off x="8400288" y="4389120"/>
            <a:ext cx="2874264" cy="1645920"/>
          </a:xfrm>
          <a:prstGeom prst="rect">
            <a:avLst/>
          </a:prstGeom>
          <a:noFill/>
          <a:ln/>
        </p:spPr>
        <p:txBody>
          <a:bodyPr wrap="square" lIns="0" tIns="0" rIns="0" bIns="0" rtlCol="0" anchor="t"/>
          <a:lstStyle/>
          <a:p>
            <a:pPr marL="0" indent="0">
              <a:lnSpc>
                <a:spcPct val="105000"/>
              </a:lnSpc>
              <a:buNone/>
            </a:pPr>
            <a:r>
              <a:rPr lang="en-US" sz="1550" dirty="0">
                <a:solidFill>
                  <a:srgbClr val="26262E"/>
                </a:solidFill>
                <a:latin typeface="Calibri" pitchFamily="34" charset="0"/>
                <a:ea typeface="Calibri" pitchFamily="34" charset="-122"/>
                <a:cs typeface="Calibri" pitchFamily="34" charset="-120"/>
              </a:rPr>
              <a:t>Yöntemin robotik bir platformda (görsel örüntü temelli görev) ve nöromorfik arayüzde sınanması — bilindiği kadarıyla bu birleşimiyle ilk çalışma.</a:t>
            </a:r>
            <a:endParaRPr lang="en-US" sz="1550" dirty="0"/>
          </a:p>
        </p:txBody>
      </p:sp>
      <p:sp>
        <p:nvSpPr>
          <p:cNvPr id="18" name="Text 16"/>
          <p:cNvSpPr txBox="1"/>
          <p:nvPr/>
        </p:nvSpPr>
        <p:spPr>
          <a:xfrm>
            <a:off x="640080" y="6419088"/>
            <a:ext cx="64008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TÜBİTAK 1001 · 123E674 — Proje Çalıştayı, 24 Eylül 2026</a:t>
            </a:r>
            <a:endParaRPr lang="en-US" sz="1000" dirty="0"/>
          </a:p>
        </p:txBody>
      </p:sp>
      <p:sp>
        <p:nvSpPr>
          <p:cNvPr id="19" name="Text 17"/>
          <p:cNvSpPr txBox="1"/>
          <p:nvPr/>
        </p:nvSpPr>
        <p:spPr>
          <a:xfrm>
            <a:off x="11503152" y="6419088"/>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84048"/>
            <a:ext cx="10908792" cy="27432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YÖNTEM</a:t>
            </a:r>
            <a:endParaRPr lang="en-US" sz="12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Yöntemin Dört Yapı Taşı</a:t>
            </a:r>
            <a:endParaRPr lang="en-US" sz="3000" dirty="0"/>
          </a:p>
        </p:txBody>
      </p:sp>
      <p:sp>
        <p:nvSpPr>
          <p:cNvPr id="4" name="Shape 2"/>
          <p:cNvSpPr/>
          <p:nvPr/>
        </p:nvSpPr>
        <p:spPr>
          <a:xfrm>
            <a:off x="640080" y="1600200"/>
            <a:ext cx="5294376" cy="1920240"/>
          </a:xfrm>
          <a:prstGeom prst="roundRect">
            <a:avLst>
              <a:gd name="adj" fmla="val 2857"/>
            </a:avLst>
          </a:prstGeom>
          <a:solidFill>
            <a:srgbClr val="F5F7FA"/>
          </a:solidFill>
          <a:ln/>
        </p:spPr>
        <p:txBody>
          <a:bodyPr/>
          <a:lstStyle/>
          <a:p>
            <a:endParaRPr lang="tr-TR"/>
          </a:p>
        </p:txBody>
      </p:sp>
      <p:sp>
        <p:nvSpPr>
          <p:cNvPr id="5" name="Text 3"/>
          <p:cNvSpPr txBox="1"/>
          <p:nvPr/>
        </p:nvSpPr>
        <p:spPr>
          <a:xfrm>
            <a:off x="914400" y="1783080"/>
            <a:ext cx="4745736" cy="36576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Vuru Üreten Nöron Modelleri</a:t>
            </a:r>
            <a:endParaRPr lang="en-US" sz="1700" dirty="0"/>
          </a:p>
        </p:txBody>
      </p:sp>
      <p:sp>
        <p:nvSpPr>
          <p:cNvPr id="6" name="Text 4"/>
          <p:cNvSpPr txBox="1"/>
          <p:nvPr/>
        </p:nvSpPr>
        <p:spPr>
          <a:xfrm>
            <a:off x="914400" y="2221992"/>
            <a:ext cx="4745736" cy="1143000"/>
          </a:xfrm>
          <a:prstGeom prst="rect">
            <a:avLst/>
          </a:prstGeom>
          <a:noFill/>
          <a:ln/>
        </p:spPr>
        <p:txBody>
          <a:bodyPr wrap="square" lIns="0" tIns="0" rIns="0" bIns="0" rtlCol="0" anchor="t"/>
          <a:lstStyle/>
          <a:p>
            <a:pPr marL="0" indent="0">
              <a:lnSpc>
                <a:spcPct val="105000"/>
              </a:lnSpc>
              <a:buNone/>
            </a:pPr>
            <a:r>
              <a:rPr lang="en-US" sz="1600" dirty="0">
                <a:solidFill>
                  <a:srgbClr val="26262E"/>
                </a:solidFill>
                <a:latin typeface="Calibri" pitchFamily="34" charset="0"/>
                <a:ea typeface="Calibri" pitchFamily="34" charset="-122"/>
                <a:cs typeface="Calibri" pitchFamily="34" charset="-120"/>
              </a:rPr>
              <a:t>LIF, Izhikevich ve AdEx hücre modelleri; AMPA, NMDA ve GABA iletkenlik tabanlı sinaptik akımlar. Girişler Poisson vuru dizilerine kodlanır.</a:t>
            </a:r>
            <a:endParaRPr lang="en-US" sz="1600" dirty="0"/>
          </a:p>
        </p:txBody>
      </p:sp>
      <p:sp>
        <p:nvSpPr>
          <p:cNvPr id="7" name="Shape 5"/>
          <p:cNvSpPr/>
          <p:nvPr/>
        </p:nvSpPr>
        <p:spPr>
          <a:xfrm>
            <a:off x="6254496" y="1600200"/>
            <a:ext cx="5294376" cy="1920240"/>
          </a:xfrm>
          <a:prstGeom prst="roundRect">
            <a:avLst>
              <a:gd name="adj" fmla="val 2857"/>
            </a:avLst>
          </a:prstGeom>
          <a:solidFill>
            <a:srgbClr val="EEF3FB"/>
          </a:solidFill>
          <a:ln/>
        </p:spPr>
        <p:txBody>
          <a:bodyPr/>
          <a:lstStyle/>
          <a:p>
            <a:endParaRPr lang="tr-TR"/>
          </a:p>
        </p:txBody>
      </p:sp>
      <p:sp>
        <p:nvSpPr>
          <p:cNvPr id="8" name="Text 6"/>
          <p:cNvSpPr txBox="1"/>
          <p:nvPr/>
        </p:nvSpPr>
        <p:spPr>
          <a:xfrm>
            <a:off x="6528816" y="1783080"/>
            <a:ext cx="4745736" cy="36576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STDP ve Türevleri</a:t>
            </a:r>
            <a:endParaRPr lang="en-US" sz="1700" dirty="0"/>
          </a:p>
        </p:txBody>
      </p:sp>
      <p:sp>
        <p:nvSpPr>
          <p:cNvPr id="9" name="Text 7"/>
          <p:cNvSpPr txBox="1"/>
          <p:nvPr/>
        </p:nvSpPr>
        <p:spPr>
          <a:xfrm>
            <a:off x="6528816" y="2221992"/>
            <a:ext cx="4745736" cy="1143000"/>
          </a:xfrm>
          <a:prstGeom prst="rect">
            <a:avLst/>
          </a:prstGeom>
          <a:noFill/>
          <a:ln/>
        </p:spPr>
        <p:txBody>
          <a:bodyPr wrap="square" lIns="0" tIns="0" rIns="0" bIns="0" rtlCol="0" anchor="t"/>
          <a:lstStyle/>
          <a:p>
            <a:pPr marL="0" indent="0">
              <a:lnSpc>
                <a:spcPct val="105000"/>
              </a:lnSpc>
              <a:buNone/>
            </a:pPr>
            <a:r>
              <a:rPr lang="en-US" sz="1600" dirty="0">
                <a:solidFill>
                  <a:srgbClr val="26262E"/>
                </a:solidFill>
                <a:latin typeface="Calibri" pitchFamily="34" charset="0"/>
                <a:ea typeface="Calibri" pitchFamily="34" charset="-122"/>
                <a:cs typeface="Calibri" pitchFamily="34" charset="-120"/>
              </a:rPr>
              <a:t>Vuru zamanına bağlı plastisite: klasik STDP, Triplet-STDP, S-STDP (ağırlık bağımlı), R-STDP (ödül modülasyonlu) ve iSTDP (bastırıcı plastisite).</a:t>
            </a:r>
            <a:endParaRPr lang="en-US" sz="1600" dirty="0"/>
          </a:p>
        </p:txBody>
      </p:sp>
      <p:sp>
        <p:nvSpPr>
          <p:cNvPr id="10" name="Shape 8"/>
          <p:cNvSpPr/>
          <p:nvPr/>
        </p:nvSpPr>
        <p:spPr>
          <a:xfrm>
            <a:off x="640080" y="3794760"/>
            <a:ext cx="5294376" cy="1920240"/>
          </a:xfrm>
          <a:prstGeom prst="roundRect">
            <a:avLst>
              <a:gd name="adj" fmla="val 2857"/>
            </a:avLst>
          </a:prstGeom>
          <a:solidFill>
            <a:srgbClr val="F5F7FA"/>
          </a:solidFill>
          <a:ln/>
        </p:spPr>
        <p:txBody>
          <a:bodyPr/>
          <a:lstStyle/>
          <a:p>
            <a:endParaRPr lang="tr-TR"/>
          </a:p>
        </p:txBody>
      </p:sp>
      <p:sp>
        <p:nvSpPr>
          <p:cNvPr id="11" name="Text 9"/>
          <p:cNvSpPr txBox="1"/>
          <p:nvPr/>
        </p:nvSpPr>
        <p:spPr>
          <a:xfrm>
            <a:off x="914400" y="3977640"/>
            <a:ext cx="4745736" cy="36576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Öngörüsel Kodlama (ÖK)</a:t>
            </a:r>
            <a:endParaRPr lang="en-US" sz="1700" dirty="0"/>
          </a:p>
        </p:txBody>
      </p:sp>
      <p:sp>
        <p:nvSpPr>
          <p:cNvPr id="12" name="Text 10"/>
          <p:cNvSpPr txBox="1"/>
          <p:nvPr/>
        </p:nvSpPr>
        <p:spPr>
          <a:xfrm>
            <a:off x="914400" y="4416552"/>
            <a:ext cx="4745736" cy="1143000"/>
          </a:xfrm>
          <a:prstGeom prst="rect">
            <a:avLst/>
          </a:prstGeom>
          <a:noFill/>
          <a:ln/>
        </p:spPr>
        <p:txBody>
          <a:bodyPr wrap="square" lIns="0" tIns="0" rIns="0" bIns="0" rtlCol="0" anchor="t"/>
          <a:lstStyle/>
          <a:p>
            <a:pPr marL="0" indent="0">
              <a:lnSpc>
                <a:spcPct val="105000"/>
              </a:lnSpc>
              <a:buNone/>
            </a:pPr>
            <a:r>
              <a:rPr lang="en-US" sz="1600" dirty="0">
                <a:solidFill>
                  <a:srgbClr val="26262E"/>
                </a:solidFill>
                <a:latin typeface="Calibri" pitchFamily="34" charset="0"/>
                <a:ea typeface="Calibri" pitchFamily="34" charset="-122"/>
                <a:cs typeface="Calibri" pitchFamily="34" charset="-120"/>
              </a:rPr>
              <a:t>Üst katman alt katmanın etkinliğini öngörür; yalnızca tahmin hatası iletilir (Rao–Ballard). Kontrastlı ÖK (CPC) ile gizli temsiller üzerinden ardıllık öğrenilir.</a:t>
            </a:r>
            <a:endParaRPr lang="en-US" sz="1600" dirty="0"/>
          </a:p>
        </p:txBody>
      </p:sp>
      <p:sp>
        <p:nvSpPr>
          <p:cNvPr id="13" name="Shape 11"/>
          <p:cNvSpPr/>
          <p:nvPr/>
        </p:nvSpPr>
        <p:spPr>
          <a:xfrm>
            <a:off x="6254496" y="3794760"/>
            <a:ext cx="5294376" cy="1920240"/>
          </a:xfrm>
          <a:prstGeom prst="roundRect">
            <a:avLst>
              <a:gd name="adj" fmla="val 2857"/>
            </a:avLst>
          </a:prstGeom>
          <a:solidFill>
            <a:srgbClr val="EEF3FB"/>
          </a:solidFill>
          <a:ln/>
        </p:spPr>
        <p:txBody>
          <a:bodyPr/>
          <a:lstStyle/>
          <a:p>
            <a:endParaRPr lang="tr-TR"/>
          </a:p>
        </p:txBody>
      </p:sp>
      <p:sp>
        <p:nvSpPr>
          <p:cNvPr id="14" name="Text 12"/>
          <p:cNvSpPr txBox="1"/>
          <p:nvPr/>
        </p:nvSpPr>
        <p:spPr>
          <a:xfrm>
            <a:off x="6528816" y="3977640"/>
            <a:ext cx="4745736" cy="36576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Kazanan Hepsini Alır (KHA)</a:t>
            </a:r>
            <a:endParaRPr lang="en-US" sz="1700" dirty="0"/>
          </a:p>
        </p:txBody>
      </p:sp>
      <p:sp>
        <p:nvSpPr>
          <p:cNvPr id="15" name="Text 13"/>
          <p:cNvSpPr txBox="1"/>
          <p:nvPr/>
        </p:nvSpPr>
        <p:spPr>
          <a:xfrm>
            <a:off x="6528816" y="4416552"/>
            <a:ext cx="4745736" cy="1143000"/>
          </a:xfrm>
          <a:prstGeom prst="rect">
            <a:avLst/>
          </a:prstGeom>
          <a:noFill/>
          <a:ln/>
        </p:spPr>
        <p:txBody>
          <a:bodyPr wrap="square" lIns="0" tIns="0" rIns="0" bIns="0" rtlCol="0" anchor="t"/>
          <a:lstStyle/>
          <a:p>
            <a:pPr marL="0" indent="0">
              <a:lnSpc>
                <a:spcPct val="105000"/>
              </a:lnSpc>
              <a:buNone/>
            </a:pPr>
            <a:r>
              <a:rPr lang="en-US" sz="1600" dirty="0">
                <a:solidFill>
                  <a:srgbClr val="26262E"/>
                </a:solidFill>
                <a:latin typeface="Calibri" pitchFamily="34" charset="0"/>
                <a:ea typeface="Calibri" pitchFamily="34" charset="-122"/>
                <a:cs typeface="Calibri" pitchFamily="34" charset="-120"/>
              </a:rPr>
              <a:t>Yanal (YK) ve çevresel (ÇK) kısıtlama ile nöron grupları arasında rekabet; belirli bir uyarana karşı seçici grup etkinliği oluşur.</a:t>
            </a:r>
            <a:endParaRPr lang="en-US" sz="1600" dirty="0"/>
          </a:p>
        </p:txBody>
      </p:sp>
      <p:sp>
        <p:nvSpPr>
          <p:cNvPr id="16" name="Text 14"/>
          <p:cNvSpPr txBox="1"/>
          <p:nvPr/>
        </p:nvSpPr>
        <p:spPr>
          <a:xfrm>
            <a:off x="640080" y="5870448"/>
            <a:ext cx="10908792" cy="384048"/>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Araçlar: </a:t>
            </a:r>
            <a:r>
              <a:rPr lang="en-US" sz="1500" dirty="0">
                <a:solidFill>
                  <a:srgbClr val="26262E"/>
                </a:solidFill>
                <a:latin typeface="Calibri" pitchFamily="34" charset="0"/>
                <a:ea typeface="Calibri" pitchFamily="34" charset="-122"/>
                <a:cs typeface="Calibri" pitchFamily="34" charset="-120"/>
              </a:rPr>
              <a:t>Brian2 ve SPAYK (VND benzetimi) · Webots + ROS2 (robot) · LAVA (Loihi nöromorfik arayüzü)</a:t>
            </a:r>
            <a:endParaRPr lang="en-US" sz="1500" dirty="0"/>
          </a:p>
        </p:txBody>
      </p:sp>
      <p:sp>
        <p:nvSpPr>
          <p:cNvPr id="17" name="Text 15"/>
          <p:cNvSpPr txBox="1"/>
          <p:nvPr/>
        </p:nvSpPr>
        <p:spPr>
          <a:xfrm>
            <a:off x="640080" y="6419088"/>
            <a:ext cx="64008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TÜBİTAK 1001 · 123E674 — Proje Çalıştayı, 24 Eylül 2026</a:t>
            </a:r>
            <a:endParaRPr lang="en-US" sz="1000" dirty="0"/>
          </a:p>
        </p:txBody>
      </p:sp>
      <p:sp>
        <p:nvSpPr>
          <p:cNvPr id="18" name="Text 16"/>
          <p:cNvSpPr txBox="1"/>
          <p:nvPr/>
        </p:nvSpPr>
        <p:spPr>
          <a:xfrm>
            <a:off x="11503152" y="6419088"/>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84048"/>
            <a:ext cx="10908792" cy="27432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YÖNTEM · ÖĞRENME KURALI</a:t>
            </a:r>
            <a:endParaRPr lang="en-US" sz="12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Vuru Zamanına Bağlı Plastisite (STDP)</a:t>
            </a:r>
            <a:endParaRPr lang="en-US" sz="3000" dirty="0"/>
          </a:p>
        </p:txBody>
      </p:sp>
      <p:sp>
        <p:nvSpPr>
          <p:cNvPr id="4" name="Text 2"/>
          <p:cNvSpPr txBox="1"/>
          <p:nvPr/>
        </p:nvSpPr>
        <p:spPr>
          <a:xfrm>
            <a:off x="640080" y="1691640"/>
            <a:ext cx="4983480" cy="2926080"/>
          </a:xfrm>
          <a:prstGeom prst="rect">
            <a:avLst/>
          </a:prstGeom>
          <a:noFill/>
          <a:ln/>
        </p:spPr>
        <p:txBody>
          <a:bodyPr wrap="square" lIns="0" tIns="0" rIns="0" bIns="0" rtlCol="0" anchor="t"/>
          <a:lstStyle/>
          <a:p>
            <a:pPr marL="190500" indent="-190500" algn="l">
              <a:spcAft>
                <a:spcPts val="1200"/>
              </a:spcAft>
              <a:buSzPct val="100000"/>
              <a:buChar char="•"/>
            </a:pPr>
            <a:r>
              <a:rPr lang="en-US" sz="1800" dirty="0">
                <a:solidFill>
                  <a:srgbClr val="26262E"/>
                </a:solidFill>
                <a:latin typeface="Calibri" pitchFamily="34" charset="0"/>
                <a:ea typeface="Calibri" pitchFamily="34" charset="-122"/>
                <a:cs typeface="Calibri" pitchFamily="34" charset="-120"/>
              </a:rPr>
              <a:t>Hebb ilkesi: birlikte ateşleyen nöronlar arasındaki bağlantı güçlenir.</a:t>
            </a:r>
            <a:endParaRPr lang="en-US" sz="1800" dirty="0"/>
          </a:p>
          <a:p>
            <a:pPr marL="190500" indent="-190500" algn="l">
              <a:spcAft>
                <a:spcPts val="1200"/>
              </a:spcAft>
              <a:buSzPct val="100000"/>
              <a:buChar char="•"/>
            </a:pPr>
            <a:r>
              <a:rPr lang="en-US" sz="1800" dirty="0">
                <a:solidFill>
                  <a:srgbClr val="26262E"/>
                </a:solidFill>
                <a:latin typeface="Calibri" pitchFamily="34" charset="0"/>
                <a:ea typeface="Calibri" pitchFamily="34" charset="-122"/>
                <a:cs typeface="Calibri" pitchFamily="34" charset="-120"/>
              </a:rPr>
              <a:t>Öncül vuru ardıldan önce gelirse (Δt &gt; 0) bağlantı güçlenir: LTP.</a:t>
            </a:r>
            <a:endParaRPr lang="en-US" sz="1800" dirty="0"/>
          </a:p>
          <a:p>
            <a:pPr marL="190500" indent="-190500" algn="l">
              <a:spcAft>
                <a:spcPts val="1200"/>
              </a:spcAft>
              <a:buSzPct val="100000"/>
              <a:buChar char="•"/>
            </a:pPr>
            <a:r>
              <a:rPr lang="en-US" sz="1800" dirty="0">
                <a:solidFill>
                  <a:srgbClr val="26262E"/>
                </a:solidFill>
                <a:latin typeface="Calibri" pitchFamily="34" charset="0"/>
                <a:ea typeface="Calibri" pitchFamily="34" charset="-122"/>
                <a:cs typeface="Calibri" pitchFamily="34" charset="-120"/>
              </a:rPr>
              <a:t>Ardıl vuru önce gelirse (Δt &lt; 0) bağlantı zayıflar: LTD.</a:t>
            </a:r>
            <a:endParaRPr lang="en-US" sz="1800" dirty="0"/>
          </a:p>
          <a:p>
            <a:pPr marL="190500" indent="-190500" algn="l">
              <a:spcAft>
                <a:spcPts val="1200"/>
              </a:spcAft>
              <a:buSzPct val="100000"/>
              <a:buChar char="•"/>
            </a:pPr>
            <a:r>
              <a:rPr lang="en-US" sz="1800" dirty="0">
                <a:solidFill>
                  <a:srgbClr val="26262E"/>
                </a:solidFill>
                <a:latin typeface="Calibri" pitchFamily="34" charset="0"/>
                <a:ea typeface="Calibri" pitchFamily="34" charset="-122"/>
                <a:cs typeface="Calibri" pitchFamily="34" charset="-120"/>
              </a:rPr>
              <a:t>Etki, zaman farkı büyüdükçe üstel olarak azalır; yalnızca yerel bilgi kullanılır.</a:t>
            </a:r>
            <a:endParaRPr lang="en-US" sz="1800" dirty="0"/>
          </a:p>
        </p:txBody>
      </p:sp>
      <p:sp>
        <p:nvSpPr>
          <p:cNvPr id="5" name="Shape 3"/>
          <p:cNvSpPr/>
          <p:nvPr/>
        </p:nvSpPr>
        <p:spPr>
          <a:xfrm>
            <a:off x="640080" y="4663440"/>
            <a:ext cx="4983480" cy="960120"/>
          </a:xfrm>
          <a:prstGeom prst="roundRect">
            <a:avLst>
              <a:gd name="adj" fmla="val 5714"/>
            </a:avLst>
          </a:prstGeom>
          <a:solidFill>
            <a:srgbClr val="EEF3FB"/>
          </a:solidFill>
          <a:ln/>
        </p:spPr>
        <p:txBody>
          <a:bodyPr/>
          <a:lstStyle/>
          <a:p>
            <a:endParaRPr lang="tr-TR"/>
          </a:p>
        </p:txBody>
      </p:sp>
      <p:sp>
        <p:nvSpPr>
          <p:cNvPr id="6" name="Text 4"/>
          <p:cNvSpPr txBox="1"/>
          <p:nvPr/>
        </p:nvSpPr>
        <p:spPr>
          <a:xfrm>
            <a:off x="914400" y="4754880"/>
            <a:ext cx="4434840" cy="777240"/>
          </a:xfrm>
          <a:prstGeom prst="rect">
            <a:avLst/>
          </a:prstGeom>
          <a:noFill/>
          <a:ln/>
        </p:spPr>
        <p:txBody>
          <a:bodyPr wrap="square" lIns="0" tIns="0" rIns="0" bIns="0" rtlCol="0" anchor="ctr"/>
          <a:lstStyle/>
          <a:p>
            <a:pPr marL="0" indent="0">
              <a:buNone/>
            </a:pPr>
            <a:r>
              <a:rPr lang="en-US" sz="1600" i="1" dirty="0">
                <a:solidFill>
                  <a:srgbClr val="1E2761"/>
                </a:solidFill>
                <a:latin typeface="Calibri" pitchFamily="34" charset="0"/>
                <a:ea typeface="Calibri" pitchFamily="34" charset="-122"/>
                <a:cs typeface="Calibri" pitchFamily="34" charset="-120"/>
              </a:rPr>
              <a:t>Δw = A</a:t>
            </a:r>
            <a:r>
              <a:rPr lang="en-US" sz="1600" i="1" baseline="-40000" dirty="0">
                <a:solidFill>
                  <a:srgbClr val="1E2761"/>
                </a:solidFill>
                <a:latin typeface="Calibri" pitchFamily="34" charset="0"/>
                <a:ea typeface="Calibri" pitchFamily="34" charset="-122"/>
                <a:cs typeface="Calibri" pitchFamily="34" charset="-120"/>
              </a:rPr>
              <a:t>+</a:t>
            </a:r>
            <a:r>
              <a:rPr lang="en-US" sz="1600" i="1" dirty="0">
                <a:solidFill>
                  <a:srgbClr val="1E2761"/>
                </a:solidFill>
                <a:latin typeface="Calibri" pitchFamily="34" charset="0"/>
                <a:ea typeface="Calibri" pitchFamily="34" charset="-122"/>
                <a:cs typeface="Calibri" pitchFamily="34" charset="-120"/>
              </a:rPr>
              <a:t> · exp(−Δt / τ</a:t>
            </a:r>
            <a:r>
              <a:rPr lang="en-US" sz="1600" i="1" baseline="-40000" dirty="0">
                <a:solidFill>
                  <a:srgbClr val="1E2761"/>
                </a:solidFill>
                <a:latin typeface="Calibri" pitchFamily="34" charset="0"/>
                <a:ea typeface="Calibri" pitchFamily="34" charset="-122"/>
                <a:cs typeface="Calibri" pitchFamily="34" charset="-120"/>
              </a:rPr>
              <a:t>+</a:t>
            </a:r>
            <a:r>
              <a:rPr lang="en-US" sz="1600" i="1" dirty="0">
                <a:solidFill>
                  <a:srgbClr val="1E2761"/>
                </a:solidFill>
                <a:latin typeface="Calibri" pitchFamily="34" charset="0"/>
                <a:ea typeface="Calibri" pitchFamily="34" charset="-122"/>
                <a:cs typeface="Calibri" pitchFamily="34" charset="-120"/>
              </a:rPr>
              <a:t>)</a:t>
            </a:r>
            <a:r>
              <a:rPr lang="en-US" sz="1600" dirty="0">
                <a:solidFill>
                  <a:srgbClr val="1E2761"/>
                </a:solidFill>
                <a:latin typeface="Calibri" pitchFamily="34" charset="0"/>
                <a:ea typeface="Calibri" pitchFamily="34" charset="-122"/>
                <a:cs typeface="Calibri" pitchFamily="34" charset="-120"/>
              </a:rPr>
              <a:t>   (Δt &gt; 0)</a:t>
            </a:r>
            <a:endParaRPr lang="en-US" sz="1600" dirty="0"/>
          </a:p>
          <a:p>
            <a:pPr marL="0" indent="0">
              <a:buNone/>
            </a:pPr>
            <a:r>
              <a:rPr lang="en-US" sz="1600" i="1" dirty="0">
                <a:solidFill>
                  <a:srgbClr val="1E2761"/>
                </a:solidFill>
                <a:latin typeface="Calibri" pitchFamily="34" charset="0"/>
                <a:ea typeface="Calibri" pitchFamily="34" charset="-122"/>
                <a:cs typeface="Calibri" pitchFamily="34" charset="-120"/>
              </a:rPr>
              <a:t>Δw = −A</a:t>
            </a:r>
            <a:r>
              <a:rPr lang="en-US" sz="1600" i="1" baseline="-40000" dirty="0">
                <a:solidFill>
                  <a:srgbClr val="1E2761"/>
                </a:solidFill>
                <a:latin typeface="Calibri" pitchFamily="34" charset="0"/>
                <a:ea typeface="Calibri" pitchFamily="34" charset="-122"/>
                <a:cs typeface="Calibri" pitchFamily="34" charset="-120"/>
              </a:rPr>
              <a:t>−</a:t>
            </a:r>
            <a:r>
              <a:rPr lang="en-US" sz="1600" i="1" dirty="0">
                <a:solidFill>
                  <a:srgbClr val="1E2761"/>
                </a:solidFill>
                <a:latin typeface="Calibri" pitchFamily="34" charset="0"/>
                <a:ea typeface="Calibri" pitchFamily="34" charset="-122"/>
                <a:cs typeface="Calibri" pitchFamily="34" charset="-120"/>
              </a:rPr>
              <a:t> · exp(Δt / τ</a:t>
            </a:r>
            <a:r>
              <a:rPr lang="en-US" sz="1600" i="1" baseline="-40000" dirty="0">
                <a:solidFill>
                  <a:srgbClr val="1E2761"/>
                </a:solidFill>
                <a:latin typeface="Calibri" pitchFamily="34" charset="0"/>
                <a:ea typeface="Calibri" pitchFamily="34" charset="-122"/>
                <a:cs typeface="Calibri" pitchFamily="34" charset="-120"/>
              </a:rPr>
              <a:t>−</a:t>
            </a:r>
            <a:r>
              <a:rPr lang="en-US" sz="1600" i="1" dirty="0">
                <a:solidFill>
                  <a:srgbClr val="1E2761"/>
                </a:solidFill>
                <a:latin typeface="Calibri" pitchFamily="34" charset="0"/>
                <a:ea typeface="Calibri" pitchFamily="34" charset="-122"/>
                <a:cs typeface="Calibri" pitchFamily="34" charset="-120"/>
              </a:rPr>
              <a:t>)</a:t>
            </a:r>
            <a:r>
              <a:rPr lang="en-US" sz="1600" dirty="0">
                <a:solidFill>
                  <a:srgbClr val="1E2761"/>
                </a:solidFill>
                <a:latin typeface="Calibri" pitchFamily="34" charset="0"/>
                <a:ea typeface="Calibri" pitchFamily="34" charset="-122"/>
                <a:cs typeface="Calibri" pitchFamily="34" charset="-120"/>
              </a:rPr>
              <a:t>   (Δt &lt; 0)</a:t>
            </a:r>
            <a:endParaRPr lang="en-US" sz="1600" dirty="0"/>
          </a:p>
        </p:txBody>
      </p:sp>
      <p:sp>
        <p:nvSpPr>
          <p:cNvPr id="7" name="Text 5"/>
          <p:cNvSpPr txBox="1"/>
          <p:nvPr/>
        </p:nvSpPr>
        <p:spPr>
          <a:xfrm>
            <a:off x="640080" y="5715000"/>
            <a:ext cx="4983480" cy="5486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Projede incelenen türevler:</a:t>
            </a:r>
            <a:endParaRPr lang="en-US" sz="1500" dirty="0"/>
          </a:p>
          <a:p>
            <a:pPr marL="0" indent="0">
              <a:buNone/>
            </a:pPr>
            <a:r>
              <a:rPr lang="en-US" sz="1500" dirty="0">
                <a:solidFill>
                  <a:srgbClr val="26262E"/>
                </a:solidFill>
                <a:latin typeface="Calibri" pitchFamily="34" charset="0"/>
                <a:ea typeface="Calibri" pitchFamily="34" charset="-122"/>
                <a:cs typeface="Calibri" pitchFamily="34" charset="-120"/>
              </a:rPr>
              <a:t>Triplet-STDP · S-STDP · R-STDP · iSTDP</a:t>
            </a:r>
            <a:endParaRPr lang="en-US" sz="1500" dirty="0"/>
          </a:p>
        </p:txBody>
      </p:sp>
      <p:pic>
        <p:nvPicPr>
          <p:cNvPr id="8" name="Image 0" descr="STDP: öncül ve ardıl vuru zamanlaması ile ağırlık değişimi eğrisi"/>
          <p:cNvPicPr>
            <a:picLocks noChangeAspect="1"/>
          </p:cNvPicPr>
          <p:nvPr/>
        </p:nvPicPr>
        <p:blipFill>
          <a:blip r:embed="rId3"/>
          <a:stretch>
            <a:fillRect/>
          </a:stretch>
        </p:blipFill>
        <p:spPr>
          <a:xfrm>
            <a:off x="5989320" y="1572768"/>
            <a:ext cx="5532120" cy="4425696"/>
          </a:xfrm>
          <a:prstGeom prst="rect">
            <a:avLst/>
          </a:prstGeom>
        </p:spPr>
      </p:pic>
      <p:sp>
        <p:nvSpPr>
          <p:cNvPr id="9" name="Text 6"/>
          <p:cNvSpPr txBox="1"/>
          <p:nvPr/>
        </p:nvSpPr>
        <p:spPr>
          <a:xfrm>
            <a:off x="640080" y="6419088"/>
            <a:ext cx="64008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TÜBİTAK 1001 · 123E674 — Proje Çalıştayı, 24 Eylül 2026</a:t>
            </a:r>
            <a:endParaRPr lang="en-US" sz="1000" dirty="0"/>
          </a:p>
        </p:txBody>
      </p:sp>
      <p:sp>
        <p:nvSpPr>
          <p:cNvPr id="10" name="Text 7"/>
          <p:cNvSpPr txBox="1"/>
          <p:nvPr/>
        </p:nvSpPr>
        <p:spPr>
          <a:xfrm>
            <a:off x="11503152" y="6419088"/>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84048"/>
            <a:ext cx="10908792" cy="27432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YÖNTEM · REKABET MEKANİZMASI</a:t>
            </a:r>
            <a:endParaRPr lang="en-US" sz="12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Kazanan Hepsini Alır: Yanal ve Çevresel Kısıtlama</a:t>
            </a:r>
            <a:endParaRPr lang="en-US" sz="3000" dirty="0"/>
          </a:p>
        </p:txBody>
      </p:sp>
      <p:sp>
        <p:nvSpPr>
          <p:cNvPr id="4" name="Shape 2"/>
          <p:cNvSpPr/>
          <p:nvPr/>
        </p:nvSpPr>
        <p:spPr>
          <a:xfrm>
            <a:off x="640080" y="1554480"/>
            <a:ext cx="5294376" cy="4224528"/>
          </a:xfrm>
          <a:prstGeom prst="roundRect">
            <a:avLst>
              <a:gd name="adj" fmla="val 1299"/>
            </a:avLst>
          </a:prstGeom>
          <a:solidFill>
            <a:srgbClr val="F5F7FA"/>
          </a:solidFill>
          <a:ln/>
        </p:spPr>
        <p:txBody>
          <a:bodyPr/>
          <a:lstStyle/>
          <a:p>
            <a:endParaRPr lang="tr-TR"/>
          </a:p>
        </p:txBody>
      </p:sp>
      <p:sp>
        <p:nvSpPr>
          <p:cNvPr id="5" name="Text 3"/>
          <p:cNvSpPr txBox="1"/>
          <p:nvPr/>
        </p:nvSpPr>
        <p:spPr>
          <a:xfrm>
            <a:off x="914400" y="1737360"/>
            <a:ext cx="4745736" cy="365760"/>
          </a:xfrm>
          <a:prstGeom prst="rect">
            <a:avLst/>
          </a:prstGeom>
          <a:noFill/>
          <a:ln/>
        </p:spPr>
        <p:txBody>
          <a:bodyPr wrap="square" lIns="0" tIns="0" rIns="0" bIns="0" rtlCol="0" anchor="ctr"/>
          <a:lstStyle/>
          <a:p>
            <a:pPr marL="0" indent="0">
              <a:buNone/>
            </a:pPr>
            <a:r>
              <a:rPr lang="en-US" sz="1800" b="1" dirty="0">
                <a:solidFill>
                  <a:srgbClr val="1E2761"/>
                </a:solidFill>
                <a:latin typeface="Calibri" pitchFamily="34" charset="0"/>
                <a:ea typeface="Calibri" pitchFamily="34" charset="-122"/>
                <a:cs typeface="Calibri" pitchFamily="34" charset="-120"/>
              </a:rPr>
              <a:t>Yanal kısıtlama (YK)</a:t>
            </a:r>
            <a:endParaRPr lang="en-US" sz="1800" dirty="0"/>
          </a:p>
        </p:txBody>
      </p:sp>
      <p:pic>
        <p:nvPicPr>
          <p:cNvPr id="6" name="Image 0" descr="Yanal kısıtlama: kazanan nöronun bastırıcı nöronu diğer tüm uyarıcı nöronları bastırır"/>
          <p:cNvPicPr>
            <a:picLocks noChangeAspect="1"/>
          </p:cNvPicPr>
          <p:nvPr/>
        </p:nvPicPr>
        <p:blipFill>
          <a:blip r:embed="rId3"/>
          <a:stretch>
            <a:fillRect/>
          </a:stretch>
        </p:blipFill>
        <p:spPr>
          <a:xfrm>
            <a:off x="864108" y="2121408"/>
            <a:ext cx="4846320" cy="2267385"/>
          </a:xfrm>
          <a:prstGeom prst="rect">
            <a:avLst/>
          </a:prstGeom>
        </p:spPr>
      </p:pic>
      <p:sp>
        <p:nvSpPr>
          <p:cNvPr id="7" name="Text 4"/>
          <p:cNvSpPr txBox="1"/>
          <p:nvPr/>
        </p:nvSpPr>
        <p:spPr>
          <a:xfrm>
            <a:off x="914400" y="4498521"/>
            <a:ext cx="4745736" cy="1189047"/>
          </a:xfrm>
          <a:prstGeom prst="rect">
            <a:avLst/>
          </a:prstGeom>
          <a:noFill/>
          <a:ln/>
        </p:spPr>
        <p:txBody>
          <a:bodyPr wrap="square" lIns="0" tIns="0" rIns="0" bIns="0" rtlCol="0" anchor="t"/>
          <a:lstStyle/>
          <a:p>
            <a:pPr marL="190500" indent="-190500" algn="l">
              <a:spcAft>
                <a:spcPts val="600"/>
              </a:spcAft>
              <a:buSzPct val="100000"/>
              <a:buChar char="•"/>
            </a:pPr>
            <a:r>
              <a:rPr lang="en-US" sz="1500" dirty="0">
                <a:solidFill>
                  <a:srgbClr val="26262E"/>
                </a:solidFill>
                <a:latin typeface="Calibri" pitchFamily="34" charset="0"/>
                <a:ea typeface="Calibri" pitchFamily="34" charset="-122"/>
                <a:cs typeface="Calibri" pitchFamily="34" charset="-120"/>
              </a:rPr>
              <a:t>Kazanan nöron, bastırıcı nöron üzerinden diğer tüm uyarıcı nöronları bastırır.</a:t>
            </a:r>
            <a:endParaRPr lang="en-US" sz="1500" dirty="0"/>
          </a:p>
          <a:p>
            <a:pPr marL="190500" indent="-190500" algn="l">
              <a:spcAft>
                <a:spcPts val="600"/>
              </a:spcAft>
              <a:buSzPct val="100000"/>
              <a:buChar char="•"/>
            </a:pPr>
            <a:r>
              <a:rPr lang="en-US" sz="1500" dirty="0">
                <a:solidFill>
                  <a:srgbClr val="26262E"/>
                </a:solidFill>
                <a:latin typeface="Calibri" pitchFamily="34" charset="0"/>
                <a:ea typeface="Calibri" pitchFamily="34" charset="-122"/>
                <a:cs typeface="Calibri" pitchFamily="34" charset="-120"/>
              </a:rPr>
              <a:t>Basit ve düşük işlem yüklü; görüntüde kenarlara ayırt edici tepki.</a:t>
            </a:r>
            <a:endParaRPr lang="en-US" sz="1500" dirty="0"/>
          </a:p>
        </p:txBody>
      </p:sp>
      <p:sp>
        <p:nvSpPr>
          <p:cNvPr id="8" name="Shape 5"/>
          <p:cNvSpPr/>
          <p:nvPr/>
        </p:nvSpPr>
        <p:spPr>
          <a:xfrm>
            <a:off x="6254496" y="1554480"/>
            <a:ext cx="5294376" cy="4224528"/>
          </a:xfrm>
          <a:prstGeom prst="roundRect">
            <a:avLst>
              <a:gd name="adj" fmla="val 1299"/>
            </a:avLst>
          </a:prstGeom>
          <a:solidFill>
            <a:srgbClr val="EEF3FB"/>
          </a:solidFill>
          <a:ln/>
        </p:spPr>
        <p:txBody>
          <a:bodyPr/>
          <a:lstStyle/>
          <a:p>
            <a:endParaRPr lang="tr-TR"/>
          </a:p>
        </p:txBody>
      </p:sp>
      <p:sp>
        <p:nvSpPr>
          <p:cNvPr id="9" name="Text 6"/>
          <p:cNvSpPr txBox="1"/>
          <p:nvPr/>
        </p:nvSpPr>
        <p:spPr>
          <a:xfrm>
            <a:off x="6528816" y="1737360"/>
            <a:ext cx="4745736" cy="365760"/>
          </a:xfrm>
          <a:prstGeom prst="rect">
            <a:avLst/>
          </a:prstGeom>
          <a:noFill/>
          <a:ln/>
        </p:spPr>
        <p:txBody>
          <a:bodyPr wrap="square" lIns="0" tIns="0" rIns="0" bIns="0" rtlCol="0" anchor="ctr"/>
          <a:lstStyle/>
          <a:p>
            <a:pPr marL="0" indent="0">
              <a:buNone/>
            </a:pPr>
            <a:r>
              <a:rPr lang="en-US" sz="1800" b="1" dirty="0">
                <a:solidFill>
                  <a:srgbClr val="1E2761"/>
                </a:solidFill>
                <a:latin typeface="Calibri" pitchFamily="34" charset="0"/>
                <a:ea typeface="Calibri" pitchFamily="34" charset="-122"/>
                <a:cs typeface="Calibri" pitchFamily="34" charset="-120"/>
              </a:rPr>
              <a:t>Çevresel kısıtlama (ÇK)</a:t>
            </a:r>
            <a:endParaRPr lang="en-US" sz="1800" dirty="0"/>
          </a:p>
        </p:txBody>
      </p:sp>
      <p:pic>
        <p:nvPicPr>
          <p:cNvPr id="10" name="Image 1" descr="Çevresel kısıtlama: yakın komşular bastırılmaz, uzaktaki nöronlar bastırılır; kazanan bir grup oluşur"/>
          <p:cNvPicPr>
            <a:picLocks noChangeAspect="1"/>
          </p:cNvPicPr>
          <p:nvPr/>
        </p:nvPicPr>
        <p:blipFill>
          <a:blip r:embed="rId4"/>
          <a:stretch>
            <a:fillRect/>
          </a:stretch>
        </p:blipFill>
        <p:spPr>
          <a:xfrm>
            <a:off x="6478524" y="2121408"/>
            <a:ext cx="4846320" cy="2267385"/>
          </a:xfrm>
          <a:prstGeom prst="rect">
            <a:avLst/>
          </a:prstGeom>
        </p:spPr>
      </p:pic>
      <p:sp>
        <p:nvSpPr>
          <p:cNvPr id="11" name="Text 7"/>
          <p:cNvSpPr txBox="1"/>
          <p:nvPr/>
        </p:nvSpPr>
        <p:spPr>
          <a:xfrm>
            <a:off x="6528816" y="4498521"/>
            <a:ext cx="4745736" cy="1189047"/>
          </a:xfrm>
          <a:prstGeom prst="rect">
            <a:avLst/>
          </a:prstGeom>
          <a:noFill/>
          <a:ln/>
        </p:spPr>
        <p:txBody>
          <a:bodyPr wrap="square" lIns="0" tIns="0" rIns="0" bIns="0" rtlCol="0" anchor="t"/>
          <a:lstStyle/>
          <a:p>
            <a:pPr marL="190500" indent="-190500" algn="l">
              <a:spcAft>
                <a:spcPts val="600"/>
              </a:spcAft>
              <a:buSzPct val="100000"/>
              <a:buChar char="•"/>
            </a:pPr>
            <a:r>
              <a:rPr lang="en-US" sz="1500" dirty="0">
                <a:solidFill>
                  <a:srgbClr val="26262E"/>
                </a:solidFill>
                <a:latin typeface="Calibri" pitchFamily="34" charset="0"/>
                <a:ea typeface="Calibri" pitchFamily="34" charset="-122"/>
                <a:cs typeface="Calibri" pitchFamily="34" charset="-120"/>
              </a:rPr>
              <a:t>Bastırıcı nöronlar en yakın komşuları değil, belli uzaklıktaki nöronları bastırır.</a:t>
            </a:r>
            <a:endParaRPr lang="en-US" sz="1500" dirty="0"/>
          </a:p>
          <a:p>
            <a:pPr marL="190500" indent="-190500" algn="l">
              <a:spcAft>
                <a:spcPts val="600"/>
              </a:spcAft>
              <a:buSzPct val="100000"/>
              <a:buChar char="•"/>
            </a:pPr>
            <a:r>
              <a:rPr lang="en-US" sz="1500" dirty="0">
                <a:solidFill>
                  <a:srgbClr val="26262E"/>
                </a:solidFill>
                <a:latin typeface="Calibri" pitchFamily="34" charset="0"/>
                <a:ea typeface="Calibri" pitchFamily="34" charset="-122"/>
                <a:cs typeface="Calibri" pitchFamily="34" charset="-120"/>
              </a:rPr>
              <a:t>Bir nöron grubu, belirli bir uyarana karşı kararlı biçimde etkin kalır (grup seçiciliği).</a:t>
            </a:r>
            <a:endParaRPr lang="en-US" sz="1500" dirty="0"/>
          </a:p>
        </p:txBody>
      </p:sp>
      <p:pic>
        <p:nvPicPr>
          <p:cNvPr id="12" name="Image 2" descr="Lejant: uyarıcı nöron, bastırıcı nöron, kazanan, uyarıcı ve bastırıcı bağlantı"/>
          <p:cNvPicPr>
            <a:picLocks noChangeAspect="1"/>
          </p:cNvPicPr>
          <p:nvPr/>
        </p:nvPicPr>
        <p:blipFill>
          <a:blip r:embed="rId5"/>
          <a:stretch>
            <a:fillRect/>
          </a:stretch>
        </p:blipFill>
        <p:spPr>
          <a:xfrm>
            <a:off x="2482596" y="5870448"/>
            <a:ext cx="7223760" cy="361188"/>
          </a:xfrm>
          <a:prstGeom prst="rect">
            <a:avLst/>
          </a:prstGeom>
        </p:spPr>
      </p:pic>
      <p:sp>
        <p:nvSpPr>
          <p:cNvPr id="13" name="Text 8"/>
          <p:cNvSpPr txBox="1"/>
          <p:nvPr/>
        </p:nvSpPr>
        <p:spPr>
          <a:xfrm>
            <a:off x="640080" y="6419088"/>
            <a:ext cx="64008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TÜBİTAK 1001 · 123E674 — Proje Çalıştayı, 24 Eylül 2026</a:t>
            </a:r>
            <a:endParaRPr lang="en-US" sz="1000" dirty="0"/>
          </a:p>
        </p:txBody>
      </p:sp>
      <p:sp>
        <p:nvSpPr>
          <p:cNvPr id="14" name="Text 9"/>
          <p:cNvSpPr txBox="1"/>
          <p:nvPr/>
        </p:nvSpPr>
        <p:spPr>
          <a:xfrm>
            <a:off x="11503152" y="6419088"/>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84048"/>
            <a:ext cx="10908792" cy="27432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YÖNTEM · ÖNGÖRÜSEL KODLAMA</a:t>
            </a:r>
            <a:endParaRPr lang="en-US" sz="12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Öngörüsel Kodlama (ÖK)</a:t>
            </a:r>
            <a:endParaRPr lang="en-US" sz="3000" dirty="0"/>
          </a:p>
        </p:txBody>
      </p:sp>
      <p:sp>
        <p:nvSpPr>
          <p:cNvPr id="4" name="Shape 2"/>
          <p:cNvSpPr/>
          <p:nvPr/>
        </p:nvSpPr>
        <p:spPr>
          <a:xfrm>
            <a:off x="640080" y="1572768"/>
            <a:ext cx="5257800" cy="4617720"/>
          </a:xfrm>
          <a:prstGeom prst="roundRect">
            <a:avLst>
              <a:gd name="adj" fmla="val 1188"/>
            </a:avLst>
          </a:prstGeom>
          <a:solidFill>
            <a:srgbClr val="F5F7FA"/>
          </a:solidFill>
          <a:ln/>
        </p:spPr>
        <p:txBody>
          <a:bodyPr/>
          <a:lstStyle/>
          <a:p>
            <a:endParaRPr lang="tr-TR"/>
          </a:p>
        </p:txBody>
      </p:sp>
      <p:pic>
        <p:nvPicPr>
          <p:cNvPr id="5" name="Image 0" descr="Öngörüsel kodlama: üst seviye tahmin gönderir, hata birimleri giriş ile tahmin farkını yukarı iletir"/>
          <p:cNvPicPr>
            <a:picLocks noChangeAspect="1"/>
          </p:cNvPicPr>
          <p:nvPr/>
        </p:nvPicPr>
        <p:blipFill>
          <a:blip r:embed="rId3"/>
          <a:stretch>
            <a:fillRect/>
          </a:stretch>
        </p:blipFill>
        <p:spPr>
          <a:xfrm>
            <a:off x="822960" y="2000074"/>
            <a:ext cx="4892040" cy="3763108"/>
          </a:xfrm>
          <a:prstGeom prst="rect">
            <a:avLst/>
          </a:prstGeom>
        </p:spPr>
      </p:pic>
      <p:sp>
        <p:nvSpPr>
          <p:cNvPr id="6" name="Text 3"/>
          <p:cNvSpPr txBox="1"/>
          <p:nvPr/>
        </p:nvSpPr>
        <p:spPr>
          <a:xfrm>
            <a:off x="6263640" y="1691640"/>
            <a:ext cx="5285232" cy="3749040"/>
          </a:xfrm>
          <a:prstGeom prst="rect">
            <a:avLst/>
          </a:prstGeom>
          <a:noFill/>
          <a:ln/>
        </p:spPr>
        <p:txBody>
          <a:bodyPr wrap="square" lIns="0" tIns="0" rIns="0" bIns="0" rtlCol="0" anchor="t"/>
          <a:lstStyle/>
          <a:p>
            <a:pPr marL="190500" indent="-190500" algn="l">
              <a:spcAft>
                <a:spcPts val="1200"/>
              </a:spcAft>
              <a:buSzPct val="100000"/>
              <a:buChar char="•"/>
            </a:pPr>
            <a:r>
              <a:rPr lang="en-US" sz="1800" dirty="0">
                <a:solidFill>
                  <a:srgbClr val="26262E"/>
                </a:solidFill>
                <a:latin typeface="Calibri" pitchFamily="34" charset="0"/>
                <a:ea typeface="Calibri" pitchFamily="34" charset="-122"/>
                <a:cs typeface="Calibri" pitchFamily="34" charset="-120"/>
              </a:rPr>
              <a:t>Üst seviye, alt seviyenin etkinliğini öngörür ve tahmini geri besleme </a:t>
            </a:r>
            <a:r>
              <a:rPr lang="en-US" sz="1800" dirty="0" err="1">
                <a:solidFill>
                  <a:srgbClr val="26262E"/>
                </a:solidFill>
                <a:latin typeface="Calibri" pitchFamily="34" charset="0"/>
                <a:ea typeface="Calibri" pitchFamily="34" charset="-122"/>
                <a:cs typeface="Calibri" pitchFamily="34" charset="-120"/>
              </a:rPr>
              <a:t>ile</a:t>
            </a:r>
            <a:r>
              <a:rPr lang="en-US" sz="1800" dirty="0">
                <a:solidFill>
                  <a:srgbClr val="26262E"/>
                </a:solidFill>
                <a:latin typeface="Calibri" pitchFamily="34" charset="0"/>
                <a:ea typeface="Calibri" pitchFamily="34" charset="-122"/>
                <a:cs typeface="Calibri" pitchFamily="34" charset="-120"/>
              </a:rPr>
              <a:t> </a:t>
            </a:r>
            <a:r>
              <a:rPr lang="en-US" sz="1800" dirty="0" err="1">
                <a:solidFill>
                  <a:srgbClr val="26262E"/>
                </a:solidFill>
                <a:latin typeface="Calibri" pitchFamily="34" charset="0"/>
                <a:ea typeface="Calibri" pitchFamily="34" charset="-122"/>
                <a:cs typeface="Calibri" pitchFamily="34" charset="-120"/>
              </a:rPr>
              <a:t>aşağı</a:t>
            </a:r>
            <a:r>
              <a:rPr lang="tr-TR" sz="1800" dirty="0">
                <a:solidFill>
                  <a:srgbClr val="26262E"/>
                </a:solidFill>
                <a:latin typeface="Calibri" pitchFamily="34" charset="0"/>
                <a:ea typeface="Calibri" pitchFamily="34" charset="-122"/>
                <a:cs typeface="Calibri" pitchFamily="34" charset="-120"/>
              </a:rPr>
              <a:t> yönlü</a:t>
            </a:r>
            <a:r>
              <a:rPr lang="en-US" sz="1800" dirty="0">
                <a:solidFill>
                  <a:srgbClr val="26262E"/>
                </a:solidFill>
                <a:latin typeface="Calibri" pitchFamily="34" charset="0"/>
                <a:ea typeface="Calibri" pitchFamily="34" charset="-122"/>
                <a:cs typeface="Calibri" pitchFamily="34" charset="-120"/>
              </a:rPr>
              <a:t> gönderir.</a:t>
            </a:r>
            <a:endParaRPr lang="en-US" sz="1800" dirty="0"/>
          </a:p>
          <a:p>
            <a:pPr marL="190500" indent="-190500" algn="l">
              <a:spcAft>
                <a:spcPts val="1200"/>
              </a:spcAft>
              <a:buSzPct val="100000"/>
              <a:buChar char="•"/>
            </a:pPr>
            <a:r>
              <a:rPr lang="en-US" sz="1800" dirty="0">
                <a:solidFill>
                  <a:srgbClr val="26262E"/>
                </a:solidFill>
                <a:latin typeface="Calibri" pitchFamily="34" charset="0"/>
                <a:ea typeface="Calibri" pitchFamily="34" charset="-122"/>
                <a:cs typeface="Calibri" pitchFamily="34" charset="-120"/>
              </a:rPr>
              <a:t>Yalnızca öngörülemeyen kısım — tahmin hatası — ileri besleme ile yukarı iletilir; gereksiz veri iletimi azalır.</a:t>
            </a:r>
            <a:endParaRPr lang="en-US" sz="1800" dirty="0"/>
          </a:p>
          <a:p>
            <a:pPr marL="190500" indent="-190500" algn="l">
              <a:spcAft>
                <a:spcPts val="1200"/>
              </a:spcAft>
              <a:buSzPct val="100000"/>
              <a:buChar char="•"/>
            </a:pPr>
            <a:r>
              <a:rPr lang="en-US" sz="1800" dirty="0">
                <a:solidFill>
                  <a:srgbClr val="26262E"/>
                </a:solidFill>
                <a:latin typeface="Calibri" pitchFamily="34" charset="0"/>
                <a:ea typeface="Calibri" pitchFamily="34" charset="-122"/>
                <a:cs typeface="Calibri" pitchFamily="34" charset="-120"/>
              </a:rPr>
              <a:t>Hata, temsili ve sinaptik ağırlıkları güncellemek için kullanılır.</a:t>
            </a:r>
            <a:endParaRPr lang="en-US" sz="1800" dirty="0"/>
          </a:p>
          <a:p>
            <a:pPr marL="190500" indent="-190500" algn="l">
              <a:spcAft>
                <a:spcPts val="1200"/>
              </a:spcAft>
              <a:buSzPct val="100000"/>
              <a:buChar char="•"/>
            </a:pPr>
            <a:r>
              <a:rPr lang="en-US" sz="1800" dirty="0">
                <a:solidFill>
                  <a:srgbClr val="26262E"/>
                </a:solidFill>
                <a:latin typeface="Calibri" pitchFamily="34" charset="0"/>
                <a:ea typeface="Calibri" pitchFamily="34" charset="-122"/>
                <a:cs typeface="Calibri" pitchFamily="34" charset="-120"/>
              </a:rPr>
              <a:t>Vurular negatif olamadığından işaretli hata, pozitif (E+) ve negatif (E−) hata nöronlarıyla kodlanır.</a:t>
            </a:r>
            <a:endParaRPr lang="en-US" sz="1800" dirty="0"/>
          </a:p>
        </p:txBody>
      </p:sp>
      <p:sp>
        <p:nvSpPr>
          <p:cNvPr id="7" name="Text 4"/>
          <p:cNvSpPr txBox="1"/>
          <p:nvPr/>
        </p:nvSpPr>
        <p:spPr>
          <a:xfrm>
            <a:off x="6263640" y="5504688"/>
            <a:ext cx="5285232" cy="658368"/>
          </a:xfrm>
          <a:prstGeom prst="rect">
            <a:avLst/>
          </a:prstGeom>
          <a:noFill/>
          <a:ln/>
        </p:spPr>
        <p:txBody>
          <a:bodyPr wrap="square" lIns="0" tIns="0" rIns="0" bIns="0" rtlCol="0" anchor="t"/>
          <a:lstStyle/>
          <a:p>
            <a:pPr marL="0" indent="0">
              <a:buNone/>
            </a:pPr>
            <a:r>
              <a:rPr lang="en-US" sz="1400" i="1" dirty="0">
                <a:solidFill>
                  <a:srgbClr val="6B7280"/>
                </a:solidFill>
                <a:latin typeface="Calibri" pitchFamily="34" charset="0"/>
                <a:ea typeface="Calibri" pitchFamily="34" charset="-122"/>
                <a:cs typeface="Calibri" pitchFamily="34" charset="-120"/>
              </a:rPr>
              <a:t>Temel model: Rao &amp; Ballard (1999), görsel korteks. Kontrastlı ÖK (CPC): zamansal ardıllık, gizli temsiller üzerinden öğrenilir.</a:t>
            </a:r>
            <a:endParaRPr lang="en-US" sz="1400" dirty="0"/>
          </a:p>
        </p:txBody>
      </p:sp>
      <p:sp>
        <p:nvSpPr>
          <p:cNvPr id="8" name="Text 5"/>
          <p:cNvSpPr txBox="1"/>
          <p:nvPr/>
        </p:nvSpPr>
        <p:spPr>
          <a:xfrm>
            <a:off x="640080" y="6419088"/>
            <a:ext cx="64008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TÜBİTAK 1001 · 123E674 — Proje Çalıştayı, 24 Eylül 2026</a:t>
            </a:r>
            <a:endParaRPr lang="en-US" sz="1000" dirty="0"/>
          </a:p>
        </p:txBody>
      </p:sp>
      <p:sp>
        <p:nvSpPr>
          <p:cNvPr id="9" name="Text 6"/>
          <p:cNvSpPr txBox="1"/>
          <p:nvPr/>
        </p:nvSpPr>
        <p:spPr>
          <a:xfrm>
            <a:off x="11503152" y="6419088"/>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384048"/>
            <a:ext cx="10908792" cy="27432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İŞ PAKETİ 1</a:t>
            </a:r>
            <a:endParaRPr lang="en-US" sz="12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Farklı Platformlarda Örüntü Tanıma</a:t>
            </a:r>
            <a:endParaRPr lang="en-US" sz="3000" dirty="0"/>
          </a:p>
        </p:txBody>
      </p:sp>
      <p:sp>
        <p:nvSpPr>
          <p:cNvPr id="4" name="Text 2"/>
          <p:cNvSpPr txBox="1"/>
          <p:nvPr/>
        </p:nvSpPr>
        <p:spPr>
          <a:xfrm>
            <a:off x="640080" y="1691640"/>
            <a:ext cx="6903720" cy="4526280"/>
          </a:xfrm>
          <a:prstGeom prst="rect">
            <a:avLst/>
          </a:prstGeom>
          <a:noFill/>
          <a:ln/>
        </p:spPr>
        <p:txBody>
          <a:bodyPr wrap="square" lIns="0" tIns="0" rIns="0" bIns="0" rtlCol="0" anchor="t"/>
          <a:lstStyle/>
          <a:p>
            <a:pPr marL="190500" indent="-190500" algn="l">
              <a:spcAft>
                <a:spcPts val="1400"/>
              </a:spcAft>
              <a:buSzPct val="100000"/>
              <a:buChar char="•"/>
            </a:pPr>
            <a:r>
              <a:rPr lang="en-US" sz="2400" dirty="0">
                <a:solidFill>
                  <a:srgbClr val="26262E"/>
                </a:solidFill>
                <a:latin typeface="Calibri" pitchFamily="34" charset="0"/>
                <a:ea typeface="Calibri" pitchFamily="34" charset="-122"/>
                <a:cs typeface="Calibri" pitchFamily="34" charset="-120"/>
              </a:rPr>
              <a:t>Aynı VND mimarisi Brian2 </a:t>
            </a:r>
            <a:r>
              <a:rPr lang="en-US" sz="2400" dirty="0" err="1">
                <a:solidFill>
                  <a:srgbClr val="26262E"/>
                </a:solidFill>
                <a:latin typeface="Calibri" pitchFamily="34" charset="0"/>
                <a:ea typeface="Calibri" pitchFamily="34" charset="-122"/>
                <a:cs typeface="Calibri" pitchFamily="34" charset="-120"/>
              </a:rPr>
              <a:t>kütüphane</a:t>
            </a:r>
            <a:r>
              <a:rPr lang="tr-TR" sz="2400" dirty="0">
                <a:solidFill>
                  <a:srgbClr val="26262E"/>
                </a:solidFill>
                <a:latin typeface="Calibri" pitchFamily="34" charset="0"/>
                <a:ea typeface="Calibri" pitchFamily="34" charset="-122"/>
                <a:cs typeface="Calibri" pitchFamily="34" charset="-120"/>
              </a:rPr>
              <a:t>sinde</a:t>
            </a:r>
            <a:r>
              <a:rPr lang="en-US" sz="2400" dirty="0">
                <a:solidFill>
                  <a:srgbClr val="26262E"/>
                </a:solidFill>
                <a:latin typeface="Calibri" pitchFamily="34" charset="0"/>
                <a:ea typeface="Calibri" pitchFamily="34" charset="-122"/>
                <a:cs typeface="Calibri" pitchFamily="34" charset="-120"/>
              </a:rPr>
              <a:t> gerçeklendi; davranışların tutarlılığı doğrulandı.</a:t>
            </a:r>
            <a:endParaRPr lang="en-US" sz="2400" dirty="0"/>
          </a:p>
          <a:p>
            <a:pPr marL="190500" indent="-190500" algn="l">
              <a:spcAft>
                <a:spcPts val="1400"/>
              </a:spcAft>
              <a:buSzPct val="100000"/>
              <a:buChar char="•"/>
            </a:pPr>
            <a:r>
              <a:rPr lang="en-US" sz="2400" dirty="0">
                <a:solidFill>
                  <a:srgbClr val="26262E"/>
                </a:solidFill>
                <a:latin typeface="Calibri" pitchFamily="34" charset="0"/>
                <a:ea typeface="Calibri" pitchFamily="34" charset="-122"/>
                <a:cs typeface="Calibri" pitchFamily="34" charset="-120"/>
              </a:rPr>
              <a:t>Üç hücre modeli (LIF, Izhikevich, AdEx) STDP </a:t>
            </a:r>
            <a:r>
              <a:rPr lang="en-US" sz="2400" dirty="0" err="1">
                <a:solidFill>
                  <a:srgbClr val="26262E"/>
                </a:solidFill>
                <a:latin typeface="Calibri" pitchFamily="34" charset="0"/>
                <a:ea typeface="Calibri" pitchFamily="34" charset="-122"/>
                <a:cs typeface="Calibri" pitchFamily="34" charset="-120"/>
              </a:rPr>
              <a:t>ile</a:t>
            </a:r>
            <a:r>
              <a:rPr lang="en-US" sz="2400" dirty="0">
                <a:solidFill>
                  <a:srgbClr val="26262E"/>
                </a:solidFill>
                <a:latin typeface="Calibri" pitchFamily="34" charset="0"/>
                <a:ea typeface="Calibri" pitchFamily="34" charset="-122"/>
                <a:cs typeface="Calibri" pitchFamily="34" charset="-120"/>
              </a:rPr>
              <a:t> </a:t>
            </a:r>
            <a:r>
              <a:rPr lang="en-US" sz="2400" dirty="0" err="1">
                <a:solidFill>
                  <a:srgbClr val="26262E"/>
                </a:solidFill>
                <a:latin typeface="Calibri" pitchFamily="34" charset="0"/>
                <a:ea typeface="Calibri" pitchFamily="34" charset="-122"/>
                <a:cs typeface="Calibri" pitchFamily="34" charset="-120"/>
              </a:rPr>
              <a:t>karşılaştırıldı</a:t>
            </a:r>
            <a:r>
              <a:rPr lang="tr-TR" sz="2400" dirty="0">
                <a:solidFill>
                  <a:srgbClr val="26262E"/>
                </a:solidFill>
                <a:latin typeface="Calibri" pitchFamily="34" charset="0"/>
                <a:ea typeface="Calibri" pitchFamily="34" charset="-122"/>
                <a:cs typeface="Calibri" pitchFamily="34" charset="-120"/>
              </a:rPr>
              <a:t>. </a:t>
            </a:r>
            <a:r>
              <a:rPr lang="en-US" sz="2400" dirty="0" err="1">
                <a:solidFill>
                  <a:srgbClr val="26262E"/>
                </a:solidFill>
                <a:latin typeface="Calibri" pitchFamily="34" charset="0"/>
                <a:ea typeface="Calibri" pitchFamily="34" charset="-122"/>
                <a:cs typeface="Calibri" pitchFamily="34" charset="-120"/>
              </a:rPr>
              <a:t>Çok</a:t>
            </a:r>
            <a:r>
              <a:rPr lang="en-US" sz="2400" dirty="0">
                <a:solidFill>
                  <a:srgbClr val="26262E"/>
                </a:solidFill>
                <a:latin typeface="Calibri" pitchFamily="34" charset="0"/>
                <a:ea typeface="Calibri" pitchFamily="34" charset="-122"/>
                <a:cs typeface="Calibri" pitchFamily="34" charset="-120"/>
              </a:rPr>
              <a:t> sayıda hücre grubu içeren ağda işlem verimliliği ve örüntü seçiciliği açısından en etkin model LIF oldu.</a:t>
            </a:r>
            <a:endParaRPr lang="en-US" sz="2400" dirty="0"/>
          </a:p>
          <a:p>
            <a:pPr marL="190500" indent="-190500" algn="l">
              <a:spcAft>
                <a:spcPts val="1400"/>
              </a:spcAft>
              <a:buSzPct val="100000"/>
              <a:buChar char="•"/>
            </a:pPr>
            <a:r>
              <a:rPr lang="en-US" sz="2400" dirty="0">
                <a:solidFill>
                  <a:srgbClr val="26262E"/>
                </a:solidFill>
                <a:latin typeface="Calibri" pitchFamily="34" charset="0"/>
                <a:ea typeface="Calibri" pitchFamily="34" charset="-122"/>
                <a:cs typeface="Calibri" pitchFamily="34" charset="-120"/>
              </a:rPr>
              <a:t>Etiket grubu tabanlı mimaride grup seçiciliği sınırlı kaldı; popülasyon seçiciliğine geçilerek hedeflenen başarı yakalandı.</a:t>
            </a:r>
            <a:endParaRPr lang="en-US" sz="2400" dirty="0"/>
          </a:p>
        </p:txBody>
      </p:sp>
      <p:sp>
        <p:nvSpPr>
          <p:cNvPr id="5" name="Shape 3"/>
          <p:cNvSpPr/>
          <p:nvPr/>
        </p:nvSpPr>
        <p:spPr>
          <a:xfrm>
            <a:off x="7955280" y="1691640"/>
            <a:ext cx="3593592" cy="2926080"/>
          </a:xfrm>
          <a:prstGeom prst="roundRect">
            <a:avLst>
              <a:gd name="adj" fmla="val 1875"/>
            </a:avLst>
          </a:prstGeom>
          <a:solidFill>
            <a:srgbClr val="EEF3FB"/>
          </a:solidFill>
          <a:ln/>
        </p:spPr>
        <p:txBody>
          <a:bodyPr/>
          <a:lstStyle/>
          <a:p>
            <a:endParaRPr lang="tr-TR"/>
          </a:p>
        </p:txBody>
      </p:sp>
      <p:sp>
        <p:nvSpPr>
          <p:cNvPr id="6" name="Text 4"/>
          <p:cNvSpPr txBox="1"/>
          <p:nvPr/>
        </p:nvSpPr>
        <p:spPr>
          <a:xfrm>
            <a:off x="8229600" y="1901952"/>
            <a:ext cx="3044952" cy="365760"/>
          </a:xfrm>
          <a:prstGeom prst="rect">
            <a:avLst/>
          </a:prstGeom>
          <a:noFill/>
          <a:ln/>
        </p:spPr>
        <p:txBody>
          <a:bodyPr wrap="square" lIns="0" tIns="0" rIns="0" bIns="0" rtlCol="0" anchor="ctr"/>
          <a:lstStyle/>
          <a:p>
            <a:pPr marL="0" indent="0">
              <a:buNone/>
            </a:pPr>
            <a:r>
              <a:rPr lang="en-US" sz="1500" b="1" dirty="0">
                <a:solidFill>
                  <a:srgbClr val="6B7280"/>
                </a:solidFill>
                <a:latin typeface="Calibri" pitchFamily="34" charset="0"/>
                <a:ea typeface="Calibri" pitchFamily="34" charset="-122"/>
                <a:cs typeface="Calibri" pitchFamily="34" charset="-120"/>
              </a:rPr>
              <a:t>MNIST sınıflandırma doğruluğu</a:t>
            </a:r>
            <a:endParaRPr lang="en-US" sz="1500" dirty="0"/>
          </a:p>
        </p:txBody>
      </p:sp>
      <p:sp>
        <p:nvSpPr>
          <p:cNvPr id="7" name="Text 5"/>
          <p:cNvSpPr txBox="1"/>
          <p:nvPr/>
        </p:nvSpPr>
        <p:spPr>
          <a:xfrm>
            <a:off x="8229600" y="2286000"/>
            <a:ext cx="3044952" cy="1005840"/>
          </a:xfrm>
          <a:prstGeom prst="rect">
            <a:avLst/>
          </a:prstGeom>
          <a:noFill/>
          <a:ln/>
        </p:spPr>
        <p:txBody>
          <a:bodyPr wrap="square" lIns="0" tIns="0" rIns="0" bIns="0" rtlCol="0" anchor="ctr"/>
          <a:lstStyle/>
          <a:p>
            <a:pPr marL="0" indent="0">
              <a:buNone/>
            </a:pPr>
            <a:r>
              <a:rPr lang="en-US" sz="6000" b="1" dirty="0">
                <a:solidFill>
                  <a:srgbClr val="1E2761"/>
                </a:solidFill>
                <a:latin typeface="Cambria" pitchFamily="34" charset="0"/>
                <a:ea typeface="Cambria" pitchFamily="34" charset="-122"/>
                <a:cs typeface="Cambria" pitchFamily="34" charset="-120"/>
              </a:rPr>
              <a:t>%88,2</a:t>
            </a:r>
            <a:endParaRPr lang="en-US" sz="6000" dirty="0"/>
          </a:p>
        </p:txBody>
      </p:sp>
      <p:sp>
        <p:nvSpPr>
          <p:cNvPr id="8" name="Text 6"/>
          <p:cNvSpPr txBox="1"/>
          <p:nvPr/>
        </p:nvSpPr>
        <p:spPr>
          <a:xfrm>
            <a:off x="8229600" y="3429000"/>
            <a:ext cx="3044952" cy="1005840"/>
          </a:xfrm>
          <a:prstGeom prst="rect">
            <a:avLst/>
          </a:prstGeom>
          <a:noFill/>
          <a:ln/>
        </p:spPr>
        <p:txBody>
          <a:bodyPr wrap="square" lIns="0" tIns="0" rIns="0" bIns="0" rtlCol="0" anchor="t"/>
          <a:lstStyle/>
          <a:p>
            <a:pPr marL="0" indent="0">
              <a:lnSpc>
                <a:spcPct val="105000"/>
              </a:lnSpc>
              <a:buNone/>
            </a:pPr>
            <a:r>
              <a:rPr lang="en-US" sz="1500" dirty="0">
                <a:solidFill>
                  <a:srgbClr val="26262E"/>
                </a:solidFill>
                <a:latin typeface="Calibri" pitchFamily="34" charset="0"/>
                <a:ea typeface="Calibri" pitchFamily="34" charset="-122"/>
                <a:cs typeface="Calibri" pitchFamily="34" charset="-120"/>
              </a:rPr>
              <a:t>ortalama (LIF modeli); en yüksek sınıf başarısı '1' rakamında %98</a:t>
            </a:r>
            <a:endParaRPr lang="en-US" sz="1500" dirty="0"/>
          </a:p>
        </p:txBody>
      </p:sp>
      <p:sp>
        <p:nvSpPr>
          <p:cNvPr id="9" name="Text 7"/>
          <p:cNvSpPr txBox="1"/>
          <p:nvPr/>
        </p:nvSpPr>
        <p:spPr>
          <a:xfrm>
            <a:off x="640080" y="6419088"/>
            <a:ext cx="64008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TÜBİTAK 1001 · 123E674 — Proje Çalıştayı, 24 Eylül 2026</a:t>
            </a:r>
            <a:endParaRPr lang="en-US" sz="1000" dirty="0"/>
          </a:p>
        </p:txBody>
      </p:sp>
      <p:sp>
        <p:nvSpPr>
          <p:cNvPr id="10" name="Text 8"/>
          <p:cNvSpPr txBox="1"/>
          <p:nvPr/>
        </p:nvSpPr>
        <p:spPr>
          <a:xfrm>
            <a:off x="11503152" y="6419088"/>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384048"/>
            <a:ext cx="10908792" cy="27432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İŞ PAKETİ 2</a:t>
            </a:r>
            <a:endParaRPr lang="en-US" sz="12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Öngörüsel Kodlama ile VND Entegrasyonu</a:t>
            </a:r>
            <a:endParaRPr lang="en-US" sz="3000" dirty="0"/>
          </a:p>
        </p:txBody>
      </p:sp>
      <p:sp>
        <p:nvSpPr>
          <p:cNvPr id="4" name="Text 2"/>
          <p:cNvSpPr txBox="1"/>
          <p:nvPr/>
        </p:nvSpPr>
        <p:spPr>
          <a:xfrm>
            <a:off x="640080" y="1691640"/>
            <a:ext cx="6903720" cy="4526280"/>
          </a:xfrm>
          <a:prstGeom prst="rect">
            <a:avLst/>
          </a:prstGeom>
          <a:noFill/>
          <a:ln/>
        </p:spPr>
        <p:txBody>
          <a:bodyPr wrap="square" lIns="0" tIns="0" rIns="0" bIns="0" rtlCol="0" anchor="t"/>
          <a:lstStyle/>
          <a:p>
            <a:pPr marL="190500" indent="-190500" algn="l">
              <a:spcAft>
                <a:spcPts val="1200"/>
              </a:spcAft>
              <a:buSzPct val="100000"/>
              <a:buChar char="•"/>
            </a:pPr>
            <a:r>
              <a:rPr lang="en-US" sz="2000" dirty="0">
                <a:solidFill>
                  <a:srgbClr val="26262E"/>
                </a:solidFill>
                <a:latin typeface="Calibri" pitchFamily="34" charset="0"/>
                <a:ea typeface="Calibri" pitchFamily="34" charset="-122"/>
                <a:cs typeface="Calibri" pitchFamily="34" charset="-120"/>
              </a:rPr>
              <a:t>Rao–Ballard hiyerarşik ÖK modeli gerçeklendi; katmanlar arası kalıntı hata azalarak yakınsama sağlandı.</a:t>
            </a:r>
            <a:endParaRPr lang="en-US" sz="2000" dirty="0"/>
          </a:p>
          <a:p>
            <a:pPr marL="190500" indent="-190500" algn="l">
              <a:spcAft>
                <a:spcPts val="1200"/>
              </a:spcAft>
              <a:buSzPct val="100000"/>
              <a:buChar char="•"/>
            </a:pPr>
            <a:r>
              <a:rPr lang="en-US" sz="2000" dirty="0">
                <a:solidFill>
                  <a:srgbClr val="26262E"/>
                </a:solidFill>
                <a:latin typeface="Calibri" pitchFamily="34" charset="0"/>
                <a:ea typeface="Calibri" pitchFamily="34" charset="-122"/>
                <a:cs typeface="Calibri" pitchFamily="34" charset="-120"/>
              </a:rPr>
              <a:t>Kontrastlı ÖK (CPC) ile VND entegre edildi: CPC'nin CNN kodlayıcısı VND ile değiştirildi — bilindiği kadarıyla alanında ilk çalışma.</a:t>
            </a:r>
            <a:endParaRPr lang="en-US" sz="2000" dirty="0"/>
          </a:p>
          <a:p>
            <a:pPr marL="190500" indent="-190500" algn="l">
              <a:spcAft>
                <a:spcPts val="1200"/>
              </a:spcAft>
              <a:buSzPct val="100000"/>
              <a:buChar char="•"/>
            </a:pPr>
            <a:r>
              <a:rPr lang="en-US" sz="2000" dirty="0">
                <a:solidFill>
                  <a:srgbClr val="26262E"/>
                </a:solidFill>
                <a:latin typeface="Calibri" pitchFamily="34" charset="0"/>
                <a:ea typeface="Calibri" pitchFamily="34" charset="-122"/>
                <a:cs typeface="Calibri" pitchFamily="34" charset="-120"/>
              </a:rPr>
              <a:t>Sınıflandırma için eğitilmiş VND'nin kodlayıcı (encoder) olarak da kullanılabildiği gösterildi.</a:t>
            </a:r>
            <a:endParaRPr lang="en-US" sz="2000" dirty="0"/>
          </a:p>
          <a:p>
            <a:pPr marL="190500" indent="-190500" algn="l">
              <a:spcAft>
                <a:spcPts val="1200"/>
              </a:spcAft>
              <a:buSzPct val="100000"/>
              <a:buChar char="•"/>
            </a:pPr>
            <a:r>
              <a:rPr lang="en-US" sz="2000" dirty="0">
                <a:solidFill>
                  <a:srgbClr val="26262E"/>
                </a:solidFill>
                <a:latin typeface="Calibri" pitchFamily="34" charset="0"/>
                <a:ea typeface="Calibri" pitchFamily="34" charset="-122"/>
                <a:cs typeface="Calibri" pitchFamily="34" charset="-120"/>
              </a:rPr>
              <a:t>SNN-PC (Saponati ve Vinck 2023): LIF nöronlu, lokal parametre güncellemesi ile ÖK modeli sürekli zamanlı bir sistem olarak yeniden uygulandı; nöronların öngörüsel tahmin yeteneği doğrulandı.</a:t>
            </a:r>
            <a:endParaRPr lang="en-US" sz="2000" dirty="0"/>
          </a:p>
        </p:txBody>
      </p:sp>
      <p:sp>
        <p:nvSpPr>
          <p:cNvPr id="5" name="Text 3"/>
          <p:cNvSpPr txBox="1"/>
          <p:nvPr/>
        </p:nvSpPr>
        <p:spPr>
          <a:xfrm>
            <a:off x="7955280" y="1691640"/>
            <a:ext cx="3593592" cy="566928"/>
          </a:xfrm>
          <a:prstGeom prst="rect">
            <a:avLst/>
          </a:prstGeom>
          <a:noFill/>
          <a:ln/>
        </p:spPr>
        <p:txBody>
          <a:bodyPr wrap="square" lIns="0" tIns="0" rIns="0" bIns="0" rtlCol="0" anchor="t"/>
          <a:lstStyle/>
          <a:p>
            <a:pPr marL="0" indent="0">
              <a:buNone/>
            </a:pPr>
            <a:r>
              <a:rPr lang="en-US" sz="1500" b="1" dirty="0">
                <a:solidFill>
                  <a:srgbClr val="6B7280"/>
                </a:solidFill>
                <a:latin typeface="Calibri" pitchFamily="34" charset="0"/>
                <a:ea typeface="Calibri" pitchFamily="34" charset="-122"/>
                <a:cs typeface="Calibri" pitchFamily="34" charset="-120"/>
              </a:rPr>
              <a:t>CPC ağı doğrulama başarısı (MNIST, ardıllık görevi)</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955280" y="2331720"/>
          <a:ext cx="3593592" cy="1847088"/>
        </p:xfrm>
        <a:graphic>
          <a:graphicData uri="http://schemas.openxmlformats.org/drawingml/2006/table">
            <a:tbl>
              <a:tblPr/>
              <a:tblGrid>
                <a:gridCol w="2587752">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tblGrid>
              <a:tr h="420624">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Kodlayıcı</a:t>
                      </a:r>
                      <a:endParaRPr lang="en-US" sz="1500" dirty="0">
                        <a:latin typeface="Calibri" charset="0"/>
                        <a:ea typeface="Calibri" charset="0"/>
                        <a:cs typeface="Calibri" charset="0"/>
                      </a:endParaRPr>
                    </a:p>
                  </a:txBody>
                  <a:tcPr marL="64008" marR="64008" marT="64008" marB="64008" anchor="ctr">
                    <a:lnL w="9525" cap="flat" cmpd="sng" algn="ctr">
                      <a:solidFill>
                        <a:srgbClr val="D5DBE8"/>
                      </a:solidFill>
                      <a:prstDash val="solid"/>
                      <a:round/>
                      <a:headEnd type="none" w="med" len="med"/>
                      <a:tailEnd type="none" w="med" len="med"/>
                    </a:lnL>
                    <a:lnR w="9525" cap="flat" cmpd="sng" algn="ctr">
                      <a:solidFill>
                        <a:srgbClr val="D5DBE8"/>
                      </a:solidFill>
                      <a:prstDash val="solid"/>
                      <a:round/>
                      <a:headEnd type="none" w="med" len="med"/>
                      <a:tailEnd type="none" w="med" len="med"/>
                    </a:lnR>
                    <a:lnT w="9525" cap="flat" cmpd="sng" algn="ctr">
                      <a:solidFill>
                        <a:srgbClr val="D5DBE8"/>
                      </a:solidFill>
                      <a:prstDash val="solid"/>
                      <a:round/>
                      <a:headEnd type="none" w="med" len="med"/>
                      <a:tailEnd type="none" w="med" len="med"/>
                    </a:lnT>
                    <a:lnB w="9525" cap="flat" cmpd="sng" algn="ctr">
                      <a:solidFill>
                        <a:srgbClr val="D5DBE8"/>
                      </a:solidFill>
                      <a:prstDash val="solid"/>
                      <a:round/>
                      <a:headEnd type="none" w="med" len="med"/>
                      <a:tailEnd type="none" w="med" len="med"/>
                    </a:lnB>
                    <a:solidFill>
                      <a:srgbClr val="1E2761"/>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Başarı</a:t>
                      </a:r>
                      <a:endParaRPr lang="en-US" sz="1500" dirty="0">
                        <a:latin typeface="Calibri" charset="0"/>
                        <a:ea typeface="Calibri" charset="0"/>
                        <a:cs typeface="Calibri" charset="0"/>
                      </a:endParaRPr>
                    </a:p>
                  </a:txBody>
                  <a:tcPr marL="64008" marR="64008" marT="64008" marB="64008" anchor="ctr">
                    <a:lnL w="9525" cap="flat" cmpd="sng" algn="ctr">
                      <a:solidFill>
                        <a:srgbClr val="D5DBE8"/>
                      </a:solidFill>
                      <a:prstDash val="solid"/>
                      <a:round/>
                      <a:headEnd type="none" w="med" len="med"/>
                      <a:tailEnd type="none" w="med" len="med"/>
                    </a:lnL>
                    <a:lnR w="9525" cap="flat" cmpd="sng" algn="ctr">
                      <a:solidFill>
                        <a:srgbClr val="D5DBE8"/>
                      </a:solidFill>
                      <a:prstDash val="solid"/>
                      <a:round/>
                      <a:headEnd type="none" w="med" len="med"/>
                      <a:tailEnd type="none" w="med" len="med"/>
                    </a:lnR>
                    <a:lnT w="9525" cap="flat" cmpd="sng" algn="ctr">
                      <a:solidFill>
                        <a:srgbClr val="D5DBE8"/>
                      </a:solidFill>
                      <a:prstDash val="solid"/>
                      <a:round/>
                      <a:headEnd type="none" w="med" len="med"/>
                      <a:tailEnd type="none" w="med" len="med"/>
                    </a:lnT>
                    <a:lnB w="9525" cap="flat" cmpd="sng" algn="ctr">
                      <a:solidFill>
                        <a:srgbClr val="D5DB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75488">
                <a:tc>
                  <a:txBody>
                    <a:bodyPr/>
                    <a:lstStyle/>
                    <a:p>
                      <a:pPr marL="0" indent="0">
                        <a:buNone/>
                      </a:pPr>
                      <a:r>
                        <a:rPr lang="en-US" sz="1500" dirty="0">
                          <a:solidFill>
                            <a:srgbClr val="26262E"/>
                          </a:solidFill>
                          <a:latin typeface="Calibri" pitchFamily="34" charset="0"/>
                          <a:ea typeface="Calibri" pitchFamily="34" charset="-122"/>
                          <a:cs typeface="Calibri" pitchFamily="34" charset="-120"/>
                        </a:rPr>
                        <a:t>VND-Otokodlayıcı</a:t>
                      </a:r>
                      <a:endParaRPr lang="en-US" sz="1500" dirty="0">
                        <a:latin typeface="Calibri" charset="0"/>
                        <a:ea typeface="Calibri" charset="0"/>
                        <a:cs typeface="Calibri" charset="0"/>
                      </a:endParaRPr>
                    </a:p>
                  </a:txBody>
                  <a:tcPr marL="64008" marR="64008" marT="64008" marB="64008" anchor="ctr">
                    <a:lnL w="9525" cap="flat" cmpd="sng" algn="ctr">
                      <a:solidFill>
                        <a:srgbClr val="D5DBE8"/>
                      </a:solidFill>
                      <a:prstDash val="solid"/>
                      <a:round/>
                      <a:headEnd type="none" w="med" len="med"/>
                      <a:tailEnd type="none" w="med" len="med"/>
                    </a:lnL>
                    <a:lnR w="9525" cap="flat" cmpd="sng" algn="ctr">
                      <a:solidFill>
                        <a:srgbClr val="D5DBE8"/>
                      </a:solidFill>
                      <a:prstDash val="solid"/>
                      <a:round/>
                      <a:headEnd type="none" w="med" len="med"/>
                      <a:tailEnd type="none" w="med" len="med"/>
                    </a:lnR>
                    <a:lnT w="9525" cap="flat" cmpd="sng" algn="ctr">
                      <a:solidFill>
                        <a:srgbClr val="D5DBE8"/>
                      </a:solidFill>
                      <a:prstDash val="solid"/>
                      <a:round/>
                      <a:headEnd type="none" w="med" len="med"/>
                      <a:tailEnd type="none" w="med" len="med"/>
                    </a:lnT>
                    <a:lnB w="9525" cap="flat" cmpd="sng" algn="ctr">
                      <a:solidFill>
                        <a:srgbClr val="D5DBE8"/>
                      </a:solidFill>
                      <a:prstDash val="solid"/>
                      <a:round/>
                      <a:headEnd type="none" w="med" len="med"/>
                      <a:tailEnd type="none" w="med" len="med"/>
                    </a:lnB>
                  </a:tcPr>
                </a:tc>
                <a:tc>
                  <a:txBody>
                    <a:bodyPr/>
                    <a:lstStyle/>
                    <a:p>
                      <a:pPr marL="0" indent="0" algn="ctr">
                        <a:buNone/>
                      </a:pPr>
                      <a:r>
                        <a:rPr lang="en-US" sz="1500" b="1" dirty="0">
                          <a:solidFill>
                            <a:srgbClr val="1E2761"/>
                          </a:solidFill>
                          <a:latin typeface="Calibri" pitchFamily="34" charset="0"/>
                          <a:ea typeface="Calibri" pitchFamily="34" charset="-122"/>
                          <a:cs typeface="Calibri" pitchFamily="34" charset="-120"/>
                        </a:rPr>
                        <a:t>0,97</a:t>
                      </a:r>
                      <a:endParaRPr lang="en-US" sz="1500" dirty="0">
                        <a:latin typeface="Calibri" charset="0"/>
                        <a:ea typeface="Calibri" charset="0"/>
                        <a:cs typeface="Calibri" charset="0"/>
                      </a:endParaRPr>
                    </a:p>
                  </a:txBody>
                  <a:tcPr marL="64008" marR="64008" marT="64008" marB="64008" anchor="ctr">
                    <a:lnL w="9525" cap="flat" cmpd="sng" algn="ctr">
                      <a:solidFill>
                        <a:srgbClr val="D5DBE8"/>
                      </a:solidFill>
                      <a:prstDash val="solid"/>
                      <a:round/>
                      <a:headEnd type="none" w="med" len="med"/>
                      <a:tailEnd type="none" w="med" len="med"/>
                    </a:lnL>
                    <a:lnR w="9525" cap="flat" cmpd="sng" algn="ctr">
                      <a:solidFill>
                        <a:srgbClr val="D5DBE8"/>
                      </a:solidFill>
                      <a:prstDash val="solid"/>
                      <a:round/>
                      <a:headEnd type="none" w="med" len="med"/>
                      <a:tailEnd type="none" w="med" len="med"/>
                    </a:lnR>
                    <a:lnT w="9525" cap="flat" cmpd="sng" algn="ctr">
                      <a:solidFill>
                        <a:srgbClr val="D5DBE8"/>
                      </a:solidFill>
                      <a:prstDash val="solid"/>
                      <a:round/>
                      <a:headEnd type="none" w="med" len="med"/>
                      <a:tailEnd type="none" w="med" len="med"/>
                    </a:lnT>
                    <a:lnB w="9525" cap="flat" cmpd="sng" algn="ctr">
                      <a:solidFill>
                        <a:srgbClr val="D5DBE8"/>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500" dirty="0">
                          <a:solidFill>
                            <a:srgbClr val="26262E"/>
                          </a:solidFill>
                          <a:latin typeface="Calibri" pitchFamily="34" charset="0"/>
                          <a:ea typeface="Calibri" pitchFamily="34" charset="-122"/>
                          <a:cs typeface="Calibri" pitchFamily="34" charset="-120"/>
                        </a:rPr>
                        <a:t>VND-Sınıflandırıcı</a:t>
                      </a:r>
                      <a:endParaRPr lang="en-US" sz="1500" dirty="0">
                        <a:latin typeface="Calibri" charset="0"/>
                        <a:ea typeface="Calibri" charset="0"/>
                        <a:cs typeface="Calibri" charset="0"/>
                      </a:endParaRPr>
                    </a:p>
                  </a:txBody>
                  <a:tcPr marL="64008" marR="64008" marT="64008" marB="64008" anchor="ctr">
                    <a:lnL w="9525" cap="flat" cmpd="sng" algn="ctr">
                      <a:solidFill>
                        <a:srgbClr val="D5DBE8"/>
                      </a:solidFill>
                      <a:prstDash val="solid"/>
                      <a:round/>
                      <a:headEnd type="none" w="med" len="med"/>
                      <a:tailEnd type="none" w="med" len="med"/>
                    </a:lnL>
                    <a:lnR w="9525" cap="flat" cmpd="sng" algn="ctr">
                      <a:solidFill>
                        <a:srgbClr val="D5DBE8"/>
                      </a:solidFill>
                      <a:prstDash val="solid"/>
                      <a:round/>
                      <a:headEnd type="none" w="med" len="med"/>
                      <a:tailEnd type="none" w="med" len="med"/>
                    </a:lnR>
                    <a:lnT w="9525" cap="flat" cmpd="sng" algn="ctr">
                      <a:solidFill>
                        <a:srgbClr val="D5DBE8"/>
                      </a:solidFill>
                      <a:prstDash val="solid"/>
                      <a:round/>
                      <a:headEnd type="none" w="med" len="med"/>
                      <a:tailEnd type="none" w="med" len="med"/>
                    </a:lnT>
                    <a:lnB w="9525" cap="flat" cmpd="sng" algn="ctr">
                      <a:solidFill>
                        <a:srgbClr val="D5DBE8"/>
                      </a:solidFill>
                      <a:prstDash val="solid"/>
                      <a:round/>
                      <a:headEnd type="none" w="med" len="med"/>
                      <a:tailEnd type="none" w="med" len="med"/>
                    </a:lnB>
                  </a:tcPr>
                </a:tc>
                <a:tc>
                  <a:txBody>
                    <a:bodyPr/>
                    <a:lstStyle/>
                    <a:p>
                      <a:pPr marL="0" indent="0" algn="ctr">
                        <a:buNone/>
                      </a:pPr>
                      <a:r>
                        <a:rPr lang="en-US" sz="1500" b="1" dirty="0">
                          <a:solidFill>
                            <a:srgbClr val="1E2761"/>
                          </a:solidFill>
                          <a:latin typeface="Calibri" pitchFamily="34" charset="0"/>
                          <a:ea typeface="Calibri" pitchFamily="34" charset="-122"/>
                          <a:cs typeface="Calibri" pitchFamily="34" charset="-120"/>
                        </a:rPr>
                        <a:t>0,80</a:t>
                      </a:r>
                      <a:endParaRPr lang="en-US" sz="1500" dirty="0">
                        <a:latin typeface="Calibri" charset="0"/>
                        <a:ea typeface="Calibri" charset="0"/>
                        <a:cs typeface="Calibri" charset="0"/>
                      </a:endParaRPr>
                    </a:p>
                  </a:txBody>
                  <a:tcPr marL="64008" marR="64008" marT="64008" marB="64008" anchor="ctr">
                    <a:lnL w="9525" cap="flat" cmpd="sng" algn="ctr">
                      <a:solidFill>
                        <a:srgbClr val="D5DBE8"/>
                      </a:solidFill>
                      <a:prstDash val="solid"/>
                      <a:round/>
                      <a:headEnd type="none" w="med" len="med"/>
                      <a:tailEnd type="none" w="med" len="med"/>
                    </a:lnL>
                    <a:lnR w="9525" cap="flat" cmpd="sng" algn="ctr">
                      <a:solidFill>
                        <a:srgbClr val="D5DBE8"/>
                      </a:solidFill>
                      <a:prstDash val="solid"/>
                      <a:round/>
                      <a:headEnd type="none" w="med" len="med"/>
                      <a:tailEnd type="none" w="med" len="med"/>
                    </a:lnR>
                    <a:lnT w="9525" cap="flat" cmpd="sng" algn="ctr">
                      <a:solidFill>
                        <a:srgbClr val="D5DBE8"/>
                      </a:solidFill>
                      <a:prstDash val="solid"/>
                      <a:round/>
                      <a:headEnd type="none" w="med" len="med"/>
                      <a:tailEnd type="none" w="med" len="med"/>
                    </a:lnT>
                    <a:lnB w="9525" cap="flat" cmpd="sng" algn="ctr">
                      <a:solidFill>
                        <a:srgbClr val="D5DBE8"/>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500" dirty="0">
                          <a:solidFill>
                            <a:srgbClr val="26262E"/>
                          </a:solidFill>
                          <a:latin typeface="Calibri" pitchFamily="34" charset="0"/>
                          <a:ea typeface="Calibri" pitchFamily="34" charset="-122"/>
                          <a:cs typeface="Calibri" pitchFamily="34" charset="-120"/>
                        </a:rPr>
                        <a:t>Rastgele kodlama (kontrol)</a:t>
                      </a:r>
                      <a:endParaRPr lang="en-US" sz="1500" dirty="0">
                        <a:latin typeface="Calibri" charset="0"/>
                        <a:ea typeface="Calibri" charset="0"/>
                        <a:cs typeface="Calibri" charset="0"/>
                      </a:endParaRPr>
                    </a:p>
                  </a:txBody>
                  <a:tcPr marL="64008" marR="64008" marT="64008" marB="64008" anchor="ctr">
                    <a:lnL w="9525" cap="flat" cmpd="sng" algn="ctr">
                      <a:solidFill>
                        <a:srgbClr val="D5DBE8"/>
                      </a:solidFill>
                      <a:prstDash val="solid"/>
                      <a:round/>
                      <a:headEnd type="none" w="med" len="med"/>
                      <a:tailEnd type="none" w="med" len="med"/>
                    </a:lnL>
                    <a:lnR w="9525" cap="flat" cmpd="sng" algn="ctr">
                      <a:solidFill>
                        <a:srgbClr val="D5DBE8"/>
                      </a:solidFill>
                      <a:prstDash val="solid"/>
                      <a:round/>
                      <a:headEnd type="none" w="med" len="med"/>
                      <a:tailEnd type="none" w="med" len="med"/>
                    </a:lnR>
                    <a:lnT w="9525" cap="flat" cmpd="sng" algn="ctr">
                      <a:solidFill>
                        <a:srgbClr val="D5DBE8"/>
                      </a:solidFill>
                      <a:prstDash val="solid"/>
                      <a:round/>
                      <a:headEnd type="none" w="med" len="med"/>
                      <a:tailEnd type="none" w="med" len="med"/>
                    </a:lnT>
                    <a:lnB w="9525" cap="flat" cmpd="sng" algn="ctr">
                      <a:solidFill>
                        <a:srgbClr val="D5DBE8"/>
                      </a:solidFill>
                      <a:prstDash val="solid"/>
                      <a:round/>
                      <a:headEnd type="none" w="med" len="med"/>
                      <a:tailEnd type="none" w="med" len="med"/>
                    </a:lnB>
                  </a:tcPr>
                </a:tc>
                <a:tc>
                  <a:txBody>
                    <a:bodyPr/>
                    <a:lstStyle/>
                    <a:p>
                      <a:pPr marL="0" indent="0" algn="ctr">
                        <a:buNone/>
                      </a:pPr>
                      <a:r>
                        <a:rPr lang="en-US" sz="1500" dirty="0">
                          <a:solidFill>
                            <a:srgbClr val="6B7280"/>
                          </a:solidFill>
                          <a:latin typeface="Calibri" pitchFamily="34" charset="0"/>
                          <a:ea typeface="Calibri" pitchFamily="34" charset="-122"/>
                          <a:cs typeface="Calibri" pitchFamily="34" charset="-120"/>
                        </a:rPr>
                        <a:t>0,56</a:t>
                      </a:r>
                      <a:endParaRPr lang="en-US" sz="1500" dirty="0">
                        <a:latin typeface="Calibri" charset="0"/>
                        <a:ea typeface="Calibri" charset="0"/>
                        <a:cs typeface="Calibri" charset="0"/>
                      </a:endParaRPr>
                    </a:p>
                  </a:txBody>
                  <a:tcPr marL="64008" marR="64008" marT="64008" marB="64008" anchor="ctr">
                    <a:lnL w="9525" cap="flat" cmpd="sng" algn="ctr">
                      <a:solidFill>
                        <a:srgbClr val="D5DBE8"/>
                      </a:solidFill>
                      <a:prstDash val="solid"/>
                      <a:round/>
                      <a:headEnd type="none" w="med" len="med"/>
                      <a:tailEnd type="none" w="med" len="med"/>
                    </a:lnL>
                    <a:lnR w="9525" cap="flat" cmpd="sng" algn="ctr">
                      <a:solidFill>
                        <a:srgbClr val="D5DBE8"/>
                      </a:solidFill>
                      <a:prstDash val="solid"/>
                      <a:round/>
                      <a:headEnd type="none" w="med" len="med"/>
                      <a:tailEnd type="none" w="med" len="med"/>
                    </a:lnR>
                    <a:lnT w="9525" cap="flat" cmpd="sng" algn="ctr">
                      <a:solidFill>
                        <a:srgbClr val="D5DBE8"/>
                      </a:solidFill>
                      <a:prstDash val="solid"/>
                      <a:round/>
                      <a:headEnd type="none" w="med" len="med"/>
                      <a:tailEnd type="none" w="med" len="med"/>
                    </a:lnT>
                    <a:lnB w="9525" cap="flat" cmpd="sng" algn="ctr">
                      <a:solidFill>
                        <a:srgbClr val="D5DB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txBox="1"/>
          <p:nvPr/>
        </p:nvSpPr>
        <p:spPr>
          <a:xfrm>
            <a:off x="640080" y="6419088"/>
            <a:ext cx="64008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TÜBİTAK 1001 · 123E674 — Proje Çalıştayı, 24 Eylül 2026</a:t>
            </a:r>
            <a:endParaRPr lang="en-US" sz="1000" dirty="0"/>
          </a:p>
        </p:txBody>
      </p:sp>
      <p:sp>
        <p:nvSpPr>
          <p:cNvPr id="8" name="Text 5"/>
          <p:cNvSpPr txBox="1"/>
          <p:nvPr/>
        </p:nvSpPr>
        <p:spPr>
          <a:xfrm>
            <a:off x="11503152" y="6419088"/>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384048"/>
            <a:ext cx="10908792" cy="27432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İŞ PAKETİ 3</a:t>
            </a:r>
            <a:endParaRPr lang="en-US" sz="12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Çevresel Kısıtlama İçeren KHA Uygulaması</a:t>
            </a:r>
            <a:endParaRPr lang="en-US" sz="3000" dirty="0"/>
          </a:p>
        </p:txBody>
      </p:sp>
      <p:sp>
        <p:nvSpPr>
          <p:cNvPr id="4" name="Text 2"/>
          <p:cNvSpPr txBox="1"/>
          <p:nvPr/>
        </p:nvSpPr>
        <p:spPr>
          <a:xfrm>
            <a:off x="640080" y="1691640"/>
            <a:ext cx="6903720" cy="4526280"/>
          </a:xfrm>
          <a:prstGeom prst="rect">
            <a:avLst/>
          </a:prstGeom>
          <a:noFill/>
          <a:ln/>
        </p:spPr>
        <p:txBody>
          <a:bodyPr wrap="square" lIns="0" tIns="0" rIns="0" bIns="0" rtlCol="0" anchor="t"/>
          <a:lstStyle/>
          <a:p>
            <a:pPr marL="190500" indent="-190500" algn="l">
              <a:spcAft>
                <a:spcPts val="1400"/>
              </a:spcAft>
              <a:buSzPct val="100000"/>
              <a:buChar char="•"/>
            </a:pPr>
            <a:r>
              <a:rPr lang="en-US" sz="2000" dirty="0">
                <a:solidFill>
                  <a:srgbClr val="26262E"/>
                </a:solidFill>
                <a:latin typeface="Calibri" pitchFamily="34" charset="0"/>
                <a:ea typeface="Calibri" pitchFamily="34" charset="-122"/>
                <a:cs typeface="Calibri" pitchFamily="34" charset="-120"/>
              </a:rPr>
              <a:t>Yanal (YK) ve çevresel (ÇK) kısıtlama topolojileri VND ağında gerçeklendi ve karşılaştırıldı.</a:t>
            </a:r>
            <a:endParaRPr lang="en-US" sz="2000" dirty="0"/>
          </a:p>
          <a:p>
            <a:pPr marL="190500" indent="-190500" algn="l">
              <a:spcAft>
                <a:spcPts val="1400"/>
              </a:spcAft>
              <a:buSzPct val="100000"/>
              <a:buChar char="•"/>
            </a:pPr>
            <a:r>
              <a:rPr lang="en-US" sz="2000" dirty="0">
                <a:solidFill>
                  <a:srgbClr val="26262E"/>
                </a:solidFill>
                <a:latin typeface="Calibri" pitchFamily="34" charset="0"/>
                <a:ea typeface="Calibri" pitchFamily="34" charset="-122"/>
                <a:cs typeface="Calibri" pitchFamily="34" charset="-120"/>
              </a:rPr>
              <a:t>ÇK, harici giriş olmadan dahi kararlı ve seçici grup etkinliği oluşturdu; MNIST sınamalarında YK ile daha başarılı sonuçlar alındı.</a:t>
            </a:r>
            <a:endParaRPr lang="en-US" sz="2000" dirty="0"/>
          </a:p>
          <a:p>
            <a:pPr marL="190500" indent="-190500" algn="l">
              <a:spcAft>
                <a:spcPts val="1400"/>
              </a:spcAft>
              <a:buSzPct val="100000"/>
              <a:buChar char="•"/>
            </a:pPr>
            <a:r>
              <a:rPr lang="en-US" sz="2000" dirty="0">
                <a:solidFill>
                  <a:srgbClr val="26262E"/>
                </a:solidFill>
                <a:latin typeface="Calibri" pitchFamily="34" charset="0"/>
                <a:ea typeface="Calibri" pitchFamily="34" charset="-122"/>
                <a:cs typeface="Calibri" pitchFamily="34" charset="-120"/>
              </a:rPr>
              <a:t>Diehl &amp; Cook (2015) gözetimsiz öğrenme mimarisi yeniden üretildi.</a:t>
            </a:r>
            <a:endParaRPr lang="en-US" sz="2000" dirty="0"/>
          </a:p>
          <a:p>
            <a:pPr marL="190500" indent="-190500" algn="l">
              <a:spcAft>
                <a:spcPts val="1400"/>
              </a:spcAft>
              <a:buSzPct val="100000"/>
              <a:buChar char="•"/>
            </a:pPr>
            <a:r>
              <a:rPr lang="en-US" sz="2000" dirty="0">
                <a:solidFill>
                  <a:srgbClr val="26262E"/>
                </a:solidFill>
                <a:latin typeface="Calibri" pitchFamily="34" charset="0"/>
                <a:ea typeface="Calibri" pitchFamily="34" charset="-122"/>
                <a:cs typeface="Calibri" pitchFamily="34" charset="-120"/>
              </a:rPr>
              <a:t>Vogels vd. (2011) bastırıcı plastisitesi (iSTDP) eklenerek uyarıcı–bastırıcı dengesini kendiliğinden ayarlayan bütünleşik bir yaklaşım önerildi.</a:t>
            </a:r>
            <a:endParaRPr lang="en-US" sz="2000" dirty="0"/>
          </a:p>
        </p:txBody>
      </p:sp>
      <p:sp>
        <p:nvSpPr>
          <p:cNvPr id="5" name="Shape 3"/>
          <p:cNvSpPr/>
          <p:nvPr/>
        </p:nvSpPr>
        <p:spPr>
          <a:xfrm>
            <a:off x="7955280" y="1691640"/>
            <a:ext cx="3593592" cy="2331720"/>
          </a:xfrm>
          <a:prstGeom prst="roundRect">
            <a:avLst>
              <a:gd name="adj" fmla="val 2353"/>
            </a:avLst>
          </a:prstGeom>
          <a:solidFill>
            <a:srgbClr val="EEF3FB"/>
          </a:solidFill>
          <a:ln/>
        </p:spPr>
        <p:txBody>
          <a:bodyPr/>
          <a:lstStyle/>
          <a:p>
            <a:endParaRPr lang="tr-TR"/>
          </a:p>
        </p:txBody>
      </p:sp>
      <p:sp>
        <p:nvSpPr>
          <p:cNvPr id="6" name="Text 4"/>
          <p:cNvSpPr txBox="1"/>
          <p:nvPr/>
        </p:nvSpPr>
        <p:spPr>
          <a:xfrm>
            <a:off x="8229600" y="1892808"/>
            <a:ext cx="3044952" cy="365760"/>
          </a:xfrm>
          <a:prstGeom prst="rect">
            <a:avLst/>
          </a:prstGeom>
          <a:noFill/>
          <a:ln/>
        </p:spPr>
        <p:txBody>
          <a:bodyPr wrap="square" lIns="0" tIns="0" rIns="0" bIns="0" rtlCol="0" anchor="ctr"/>
          <a:lstStyle/>
          <a:p>
            <a:pPr marL="0" indent="0">
              <a:buNone/>
            </a:pPr>
            <a:r>
              <a:rPr lang="en-US" sz="1500" b="1" dirty="0">
                <a:solidFill>
                  <a:srgbClr val="6B7280"/>
                </a:solidFill>
                <a:latin typeface="Calibri" pitchFamily="34" charset="0"/>
                <a:ea typeface="Calibri" pitchFamily="34" charset="-122"/>
                <a:cs typeface="Calibri" pitchFamily="34" charset="-120"/>
              </a:rPr>
              <a:t>Diehl &amp; Cook tekrarı (MNIST)</a:t>
            </a:r>
            <a:endParaRPr lang="en-US" sz="1500" dirty="0"/>
          </a:p>
        </p:txBody>
      </p:sp>
      <p:sp>
        <p:nvSpPr>
          <p:cNvPr id="7" name="Text 5"/>
          <p:cNvSpPr txBox="1"/>
          <p:nvPr/>
        </p:nvSpPr>
        <p:spPr>
          <a:xfrm>
            <a:off x="8229600" y="2286000"/>
            <a:ext cx="3044952" cy="914400"/>
          </a:xfrm>
          <a:prstGeom prst="rect">
            <a:avLst/>
          </a:prstGeom>
          <a:noFill/>
          <a:ln/>
        </p:spPr>
        <p:txBody>
          <a:bodyPr wrap="square" lIns="0" tIns="0" rIns="0" bIns="0" rtlCol="0" anchor="ctr"/>
          <a:lstStyle/>
          <a:p>
            <a:pPr marL="0" indent="0">
              <a:buNone/>
            </a:pPr>
            <a:r>
              <a:rPr lang="en-US" sz="5400" b="1" dirty="0">
                <a:solidFill>
                  <a:srgbClr val="1E2761"/>
                </a:solidFill>
                <a:latin typeface="Cambria" pitchFamily="34" charset="0"/>
                <a:ea typeface="Cambria" pitchFamily="34" charset="-122"/>
                <a:cs typeface="Cambria" pitchFamily="34" charset="-120"/>
              </a:rPr>
              <a:t>%88</a:t>
            </a:r>
            <a:endParaRPr lang="en-US" sz="5400" dirty="0"/>
          </a:p>
        </p:txBody>
      </p:sp>
      <p:sp>
        <p:nvSpPr>
          <p:cNvPr id="8" name="Text 6"/>
          <p:cNvSpPr txBox="1"/>
          <p:nvPr/>
        </p:nvSpPr>
        <p:spPr>
          <a:xfrm>
            <a:off x="8229600" y="3291840"/>
            <a:ext cx="3044952" cy="457200"/>
          </a:xfrm>
          <a:prstGeom prst="rect">
            <a:avLst/>
          </a:prstGeom>
          <a:noFill/>
          <a:ln/>
        </p:spPr>
        <p:txBody>
          <a:bodyPr wrap="square" lIns="0" tIns="0" rIns="0" bIns="0" rtlCol="0" anchor="ctr"/>
          <a:lstStyle/>
          <a:p>
            <a:pPr marL="0" indent="0">
              <a:buNone/>
            </a:pPr>
            <a:r>
              <a:rPr lang="en-US" sz="1500" dirty="0">
                <a:solidFill>
                  <a:srgbClr val="26262E"/>
                </a:solidFill>
                <a:latin typeface="Calibri" pitchFamily="34" charset="0"/>
                <a:ea typeface="Calibri" pitchFamily="34" charset="-122"/>
                <a:cs typeface="Calibri" pitchFamily="34" charset="-120"/>
              </a:rPr>
              <a:t>60.000 eğitim / 10.000 test örneği</a:t>
            </a:r>
            <a:endParaRPr lang="en-US" sz="1500" dirty="0"/>
          </a:p>
        </p:txBody>
      </p:sp>
      <p:sp>
        <p:nvSpPr>
          <p:cNvPr id="9" name="Shape 7"/>
          <p:cNvSpPr/>
          <p:nvPr/>
        </p:nvSpPr>
        <p:spPr>
          <a:xfrm>
            <a:off x="7955280" y="4251960"/>
            <a:ext cx="3593592" cy="1600200"/>
          </a:xfrm>
          <a:prstGeom prst="roundRect">
            <a:avLst>
              <a:gd name="adj" fmla="val 3429"/>
            </a:avLst>
          </a:prstGeom>
          <a:solidFill>
            <a:srgbClr val="F5F7FA"/>
          </a:solidFill>
          <a:ln/>
        </p:spPr>
        <p:txBody>
          <a:bodyPr/>
          <a:lstStyle/>
          <a:p>
            <a:endParaRPr lang="tr-TR"/>
          </a:p>
        </p:txBody>
      </p:sp>
      <p:sp>
        <p:nvSpPr>
          <p:cNvPr id="10" name="Text 8"/>
          <p:cNvSpPr txBox="1"/>
          <p:nvPr/>
        </p:nvSpPr>
        <p:spPr>
          <a:xfrm>
            <a:off x="8229600" y="4407408"/>
            <a:ext cx="3044952" cy="1298448"/>
          </a:xfrm>
          <a:prstGeom prst="rect">
            <a:avLst/>
          </a:prstGeom>
          <a:noFill/>
          <a:ln/>
        </p:spPr>
        <p:txBody>
          <a:bodyPr wrap="square" lIns="0" tIns="0" rIns="0" bIns="0" rtlCol="0" anchor="t"/>
          <a:lstStyle/>
          <a:p>
            <a:pPr marL="0" indent="0">
              <a:lnSpc>
                <a:spcPct val="105000"/>
              </a:lnSpc>
              <a:buNone/>
            </a:pPr>
            <a:r>
              <a:rPr lang="en-US" sz="1500" b="1" dirty="0">
                <a:solidFill>
                  <a:srgbClr val="1E2761"/>
                </a:solidFill>
                <a:latin typeface="Calibri" pitchFamily="34" charset="0"/>
                <a:ea typeface="Calibri" pitchFamily="34" charset="-122"/>
                <a:cs typeface="Calibri" pitchFamily="34" charset="-120"/>
              </a:rPr>
              <a:t>Mimari: </a:t>
            </a:r>
            <a:r>
              <a:rPr lang="en-US" sz="1500" dirty="0">
                <a:solidFill>
                  <a:srgbClr val="26262E"/>
                </a:solidFill>
                <a:latin typeface="Calibri" pitchFamily="34" charset="0"/>
                <a:ea typeface="Calibri" pitchFamily="34" charset="-122"/>
                <a:cs typeface="Calibri" pitchFamily="34" charset="-120"/>
              </a:rPr>
              <a:t>784 giriş nöronu → 400 uyarıcı + 400 bastırıcı nöron; STDP ve yanal kısıtlama ile etiketsiz öğrenme.</a:t>
            </a:r>
            <a:endParaRPr lang="en-US" sz="1500" dirty="0"/>
          </a:p>
        </p:txBody>
      </p:sp>
      <p:sp>
        <p:nvSpPr>
          <p:cNvPr id="11" name="Text 9"/>
          <p:cNvSpPr txBox="1"/>
          <p:nvPr/>
        </p:nvSpPr>
        <p:spPr>
          <a:xfrm>
            <a:off x="640080" y="6419088"/>
            <a:ext cx="64008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TÜBİTAK 1001 · 123E674 — Proje Çalıştayı, 24 Eylül 2026</a:t>
            </a:r>
            <a:endParaRPr lang="en-US" sz="1000" dirty="0"/>
          </a:p>
        </p:txBody>
      </p:sp>
      <p:sp>
        <p:nvSpPr>
          <p:cNvPr id="12" name="Text 10"/>
          <p:cNvSpPr txBox="1"/>
          <p:nvPr/>
        </p:nvSpPr>
        <p:spPr>
          <a:xfrm>
            <a:off x="11503152" y="6419088"/>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384048"/>
            <a:ext cx="10908792" cy="27432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İŞ PAKETİ 4</a:t>
            </a:r>
            <a:endParaRPr lang="en-US" sz="12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Öğrenme Kuralı Çalışmaları: STDP'nin Ötesi</a:t>
            </a:r>
            <a:endParaRPr lang="en-US" sz="3000" dirty="0"/>
          </a:p>
        </p:txBody>
      </p:sp>
      <p:sp>
        <p:nvSpPr>
          <p:cNvPr id="4" name="Shape 2"/>
          <p:cNvSpPr/>
          <p:nvPr/>
        </p:nvSpPr>
        <p:spPr>
          <a:xfrm>
            <a:off x="640080" y="1645920"/>
            <a:ext cx="3422904" cy="1920240"/>
          </a:xfrm>
          <a:prstGeom prst="roundRect">
            <a:avLst>
              <a:gd name="adj" fmla="val 2857"/>
            </a:avLst>
          </a:prstGeom>
          <a:solidFill>
            <a:srgbClr val="F5F7FA"/>
          </a:solidFill>
          <a:ln/>
        </p:spPr>
        <p:txBody>
          <a:bodyPr/>
          <a:lstStyle/>
          <a:p>
            <a:endParaRPr lang="tr-TR"/>
          </a:p>
        </p:txBody>
      </p:sp>
      <p:sp>
        <p:nvSpPr>
          <p:cNvPr id="5" name="Text 3"/>
          <p:cNvSpPr txBox="1"/>
          <p:nvPr/>
        </p:nvSpPr>
        <p:spPr>
          <a:xfrm>
            <a:off x="914400" y="1828800"/>
            <a:ext cx="2874264" cy="384048"/>
          </a:xfrm>
          <a:prstGeom prst="rect">
            <a:avLst/>
          </a:prstGeom>
          <a:noFill/>
          <a:ln/>
        </p:spPr>
        <p:txBody>
          <a:bodyPr wrap="square" lIns="0" tIns="0" rIns="0" bIns="0" rtlCol="0" anchor="ctr"/>
          <a:lstStyle/>
          <a:p>
            <a:pPr marL="0" indent="0">
              <a:buNone/>
            </a:pPr>
            <a:r>
              <a:rPr lang="en-US" sz="1800" b="1" dirty="0">
                <a:solidFill>
                  <a:srgbClr val="1E2761"/>
                </a:solidFill>
                <a:latin typeface="Calibri" pitchFamily="34" charset="0"/>
                <a:ea typeface="Calibri" pitchFamily="34" charset="-122"/>
                <a:cs typeface="Calibri" pitchFamily="34" charset="-120"/>
              </a:rPr>
              <a:t>S-STDP  </a:t>
            </a:r>
            <a:r>
              <a:rPr lang="en-US" sz="1800" b="1" dirty="0">
                <a:solidFill>
                  <a:srgbClr val="B85F1E"/>
                </a:solidFill>
                <a:latin typeface="Calibri" pitchFamily="34" charset="0"/>
                <a:ea typeface="Calibri" pitchFamily="34" charset="-122"/>
                <a:cs typeface="Calibri" pitchFamily="34" charset="-120"/>
              </a:rPr>
              <a:t>~%57</a:t>
            </a:r>
            <a:endParaRPr lang="en-US" sz="1800" dirty="0"/>
          </a:p>
        </p:txBody>
      </p:sp>
      <p:sp>
        <p:nvSpPr>
          <p:cNvPr id="6" name="Text 4"/>
          <p:cNvSpPr txBox="1"/>
          <p:nvPr/>
        </p:nvSpPr>
        <p:spPr>
          <a:xfrm>
            <a:off x="914400" y="2304288"/>
            <a:ext cx="2874264" cy="1143000"/>
          </a:xfrm>
          <a:prstGeom prst="rect">
            <a:avLst/>
          </a:prstGeom>
          <a:noFill/>
          <a:ln/>
        </p:spPr>
        <p:txBody>
          <a:bodyPr wrap="square" lIns="0" tIns="0" rIns="0" bIns="0" rtlCol="0" anchor="t"/>
          <a:lstStyle/>
          <a:p>
            <a:pPr marL="0" indent="0">
              <a:lnSpc>
                <a:spcPct val="105000"/>
              </a:lnSpc>
              <a:buNone/>
            </a:pPr>
            <a:r>
              <a:rPr lang="en-US" sz="1600" dirty="0">
                <a:solidFill>
                  <a:srgbClr val="26262E"/>
                </a:solidFill>
                <a:latin typeface="Calibri" pitchFamily="34" charset="0"/>
                <a:ea typeface="Calibri" pitchFamily="34" charset="-122"/>
                <a:cs typeface="Calibri" pitchFamily="34" charset="-120"/>
              </a:rPr>
              <a:t>Ağırlık bağımlı, yumuşak sınırlı güncelleme; ağırlıkların sınırlarda yığılmasını önler.</a:t>
            </a:r>
            <a:endParaRPr lang="en-US" sz="1600" dirty="0"/>
          </a:p>
        </p:txBody>
      </p:sp>
      <p:sp>
        <p:nvSpPr>
          <p:cNvPr id="7" name="Shape 5"/>
          <p:cNvSpPr/>
          <p:nvPr/>
        </p:nvSpPr>
        <p:spPr>
          <a:xfrm>
            <a:off x="4383024" y="1645920"/>
            <a:ext cx="3422904" cy="1920240"/>
          </a:xfrm>
          <a:prstGeom prst="roundRect">
            <a:avLst>
              <a:gd name="adj" fmla="val 2857"/>
            </a:avLst>
          </a:prstGeom>
          <a:solidFill>
            <a:srgbClr val="EEF3FB"/>
          </a:solidFill>
          <a:ln/>
        </p:spPr>
        <p:txBody>
          <a:bodyPr/>
          <a:lstStyle/>
          <a:p>
            <a:endParaRPr lang="tr-TR"/>
          </a:p>
        </p:txBody>
      </p:sp>
      <p:sp>
        <p:nvSpPr>
          <p:cNvPr id="8" name="Text 6"/>
          <p:cNvSpPr txBox="1"/>
          <p:nvPr/>
        </p:nvSpPr>
        <p:spPr>
          <a:xfrm>
            <a:off x="4657344" y="1828800"/>
            <a:ext cx="2874264" cy="384048"/>
          </a:xfrm>
          <a:prstGeom prst="rect">
            <a:avLst/>
          </a:prstGeom>
          <a:noFill/>
          <a:ln/>
        </p:spPr>
        <p:txBody>
          <a:bodyPr wrap="square" lIns="0" tIns="0" rIns="0" bIns="0" rtlCol="0" anchor="ctr"/>
          <a:lstStyle/>
          <a:p>
            <a:pPr marL="0" indent="0">
              <a:buNone/>
            </a:pPr>
            <a:r>
              <a:rPr lang="en-US" sz="1800" b="1" dirty="0">
                <a:solidFill>
                  <a:srgbClr val="1E2761"/>
                </a:solidFill>
                <a:latin typeface="Calibri" pitchFamily="34" charset="0"/>
                <a:ea typeface="Calibri" pitchFamily="34" charset="-122"/>
                <a:cs typeface="Calibri" pitchFamily="34" charset="-120"/>
              </a:rPr>
              <a:t>Triplet-STDP  </a:t>
            </a:r>
            <a:r>
              <a:rPr lang="en-US" sz="1800" b="1" dirty="0">
                <a:solidFill>
                  <a:srgbClr val="B85F1E"/>
                </a:solidFill>
                <a:latin typeface="Calibri" pitchFamily="34" charset="0"/>
                <a:ea typeface="Calibri" pitchFamily="34" charset="-122"/>
                <a:cs typeface="Calibri" pitchFamily="34" charset="-120"/>
              </a:rPr>
              <a:t>~%63</a:t>
            </a:r>
            <a:endParaRPr lang="en-US" sz="1800" dirty="0"/>
          </a:p>
        </p:txBody>
      </p:sp>
      <p:sp>
        <p:nvSpPr>
          <p:cNvPr id="9" name="Text 7"/>
          <p:cNvSpPr txBox="1"/>
          <p:nvPr/>
        </p:nvSpPr>
        <p:spPr>
          <a:xfrm>
            <a:off x="4657344" y="2304288"/>
            <a:ext cx="2874264" cy="1143000"/>
          </a:xfrm>
          <a:prstGeom prst="rect">
            <a:avLst/>
          </a:prstGeom>
          <a:noFill/>
          <a:ln/>
        </p:spPr>
        <p:txBody>
          <a:bodyPr wrap="square" lIns="0" tIns="0" rIns="0" bIns="0" rtlCol="0" anchor="t"/>
          <a:lstStyle/>
          <a:p>
            <a:pPr marL="0" indent="0">
              <a:lnSpc>
                <a:spcPct val="105000"/>
              </a:lnSpc>
              <a:buNone/>
            </a:pPr>
            <a:r>
              <a:rPr lang="en-US" sz="1600" dirty="0">
                <a:solidFill>
                  <a:srgbClr val="26262E"/>
                </a:solidFill>
                <a:latin typeface="Calibri" pitchFamily="34" charset="0"/>
                <a:ea typeface="Calibri" pitchFamily="34" charset="-122"/>
                <a:cs typeface="Calibri" pitchFamily="34" charset="-120"/>
              </a:rPr>
              <a:t>Çoklu vuru etkileşimlerini dikkate alır; en seçici temsiller → projeye özgü kuralın temeli seçildi.</a:t>
            </a:r>
            <a:endParaRPr lang="en-US" sz="1600" dirty="0"/>
          </a:p>
        </p:txBody>
      </p:sp>
      <p:sp>
        <p:nvSpPr>
          <p:cNvPr id="10" name="Shape 8"/>
          <p:cNvSpPr/>
          <p:nvPr/>
        </p:nvSpPr>
        <p:spPr>
          <a:xfrm>
            <a:off x="8125968" y="1645920"/>
            <a:ext cx="3422904" cy="1920240"/>
          </a:xfrm>
          <a:prstGeom prst="roundRect">
            <a:avLst>
              <a:gd name="adj" fmla="val 2857"/>
            </a:avLst>
          </a:prstGeom>
          <a:solidFill>
            <a:srgbClr val="F5F7FA"/>
          </a:solidFill>
          <a:ln/>
        </p:spPr>
        <p:txBody>
          <a:bodyPr/>
          <a:lstStyle/>
          <a:p>
            <a:endParaRPr lang="tr-TR"/>
          </a:p>
        </p:txBody>
      </p:sp>
      <p:sp>
        <p:nvSpPr>
          <p:cNvPr id="11" name="Text 9"/>
          <p:cNvSpPr txBox="1"/>
          <p:nvPr/>
        </p:nvSpPr>
        <p:spPr>
          <a:xfrm>
            <a:off x="8400288" y="1828800"/>
            <a:ext cx="2874264" cy="384048"/>
          </a:xfrm>
          <a:prstGeom prst="rect">
            <a:avLst/>
          </a:prstGeom>
          <a:noFill/>
          <a:ln/>
        </p:spPr>
        <p:txBody>
          <a:bodyPr wrap="square" lIns="0" tIns="0" rIns="0" bIns="0" rtlCol="0" anchor="ctr"/>
          <a:lstStyle/>
          <a:p>
            <a:pPr marL="0" indent="0">
              <a:buNone/>
            </a:pPr>
            <a:r>
              <a:rPr lang="en-US" sz="1800" b="1" dirty="0">
                <a:solidFill>
                  <a:srgbClr val="1E2761"/>
                </a:solidFill>
                <a:latin typeface="Calibri" pitchFamily="34" charset="0"/>
                <a:ea typeface="Calibri" pitchFamily="34" charset="-122"/>
                <a:cs typeface="Calibri" pitchFamily="34" charset="-120"/>
              </a:rPr>
              <a:t>R-STDP  </a:t>
            </a:r>
            <a:r>
              <a:rPr lang="en-US" sz="1500" b="1" dirty="0">
                <a:solidFill>
                  <a:srgbClr val="6B7280"/>
                </a:solidFill>
                <a:latin typeface="Calibri" pitchFamily="34" charset="0"/>
                <a:ea typeface="Calibri" pitchFamily="34" charset="-122"/>
                <a:cs typeface="Calibri" pitchFamily="34" charset="-120"/>
              </a:rPr>
              <a:t>ödül tabanlı</a:t>
            </a:r>
            <a:endParaRPr lang="en-US" sz="1800" dirty="0"/>
          </a:p>
        </p:txBody>
      </p:sp>
      <p:sp>
        <p:nvSpPr>
          <p:cNvPr id="12" name="Text 10"/>
          <p:cNvSpPr txBox="1"/>
          <p:nvPr/>
        </p:nvSpPr>
        <p:spPr>
          <a:xfrm>
            <a:off x="8400288" y="2304288"/>
            <a:ext cx="2874264" cy="1143000"/>
          </a:xfrm>
          <a:prstGeom prst="rect">
            <a:avLst/>
          </a:prstGeom>
          <a:noFill/>
          <a:ln/>
        </p:spPr>
        <p:txBody>
          <a:bodyPr wrap="square" lIns="0" tIns="0" rIns="0" bIns="0" rtlCol="0" anchor="t"/>
          <a:lstStyle/>
          <a:p>
            <a:pPr marL="0" indent="0">
              <a:lnSpc>
                <a:spcPct val="105000"/>
              </a:lnSpc>
              <a:buNone/>
            </a:pPr>
            <a:r>
              <a:rPr lang="en-US" sz="1600" dirty="0">
                <a:solidFill>
                  <a:srgbClr val="26262E"/>
                </a:solidFill>
                <a:latin typeface="Calibri" pitchFamily="34" charset="0"/>
                <a:ea typeface="Calibri" pitchFamily="34" charset="-122"/>
                <a:cs typeface="Calibri" pitchFamily="34" charset="-120"/>
              </a:rPr>
              <a:t>Ödül modülasyonlu (üç faktörlü) kural; ödül/hata sinyalinin tanımlı olduğu görevlere uygun.</a:t>
            </a:r>
            <a:endParaRPr lang="en-US" sz="1600" dirty="0"/>
          </a:p>
        </p:txBody>
      </p:sp>
      <p:sp>
        <p:nvSpPr>
          <p:cNvPr id="13" name="Text 11"/>
          <p:cNvSpPr txBox="1"/>
          <p:nvPr/>
        </p:nvSpPr>
        <p:spPr>
          <a:xfrm>
            <a:off x="640080" y="3657600"/>
            <a:ext cx="10908792" cy="292608"/>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MNIST, 1000 eğitim / 500 test örneği ile ÇK'lı KHA ağı üzerinde karşılaştırma</a:t>
            </a:r>
            <a:endParaRPr lang="en-US" sz="1300" dirty="0"/>
          </a:p>
        </p:txBody>
      </p:sp>
      <p:sp>
        <p:nvSpPr>
          <p:cNvPr id="14" name="Text 12"/>
          <p:cNvSpPr txBox="1"/>
          <p:nvPr/>
        </p:nvSpPr>
        <p:spPr>
          <a:xfrm>
            <a:off x="640080" y="4160520"/>
            <a:ext cx="10908792" cy="2057400"/>
          </a:xfrm>
          <a:prstGeom prst="rect">
            <a:avLst/>
          </a:prstGeom>
          <a:noFill/>
          <a:ln/>
        </p:spPr>
        <p:txBody>
          <a:bodyPr wrap="square" lIns="0" tIns="0" rIns="0" bIns="0" rtlCol="0" anchor="t"/>
          <a:lstStyle/>
          <a:p>
            <a:pPr marL="190500" indent="-190500" algn="l">
              <a:spcAft>
                <a:spcPts val="1400"/>
              </a:spcAft>
              <a:buSzPct val="100000"/>
              <a:buChar char="•"/>
            </a:pPr>
            <a:r>
              <a:rPr lang="en-US" sz="1900" dirty="0">
                <a:solidFill>
                  <a:srgbClr val="26262E"/>
                </a:solidFill>
                <a:latin typeface="Calibri" pitchFamily="34" charset="0"/>
                <a:ea typeface="Calibri" pitchFamily="34" charset="-122"/>
                <a:cs typeface="Calibri" pitchFamily="34" charset="-120"/>
              </a:rPr>
              <a:t>Tek nöron düzeyinde öğrenme ve çıkarım analizi: STDP ile örüntülerin öğrenilebildiği ve veri önyargılarının öğrenmeye etkisi ortaya kondu (ASYU 2025).</a:t>
            </a:r>
            <a:endParaRPr lang="en-US" sz="1900" dirty="0"/>
          </a:p>
          <a:p>
            <a:pPr marL="190500" indent="-190500" algn="l">
              <a:spcAft>
                <a:spcPts val="1400"/>
              </a:spcAft>
              <a:buSzPct val="100000"/>
              <a:buChar char="•"/>
            </a:pPr>
            <a:r>
              <a:rPr lang="en-US" sz="1900" dirty="0">
                <a:solidFill>
                  <a:srgbClr val="26262E"/>
                </a:solidFill>
                <a:latin typeface="Calibri" pitchFamily="34" charset="0"/>
                <a:ea typeface="Calibri" pitchFamily="34" charset="-122"/>
                <a:cs typeface="Calibri" pitchFamily="34" charset="-120"/>
              </a:rPr>
              <a:t>MMN (Uyumsuzluk Negatifliği) tabanlı VND–ÖK modeli Brian2'de gerçeklendi: ağ, uyaran dizisinin istatistiğini STDP ile öğrenip beklenmedik uyarana hata sinyali üretiyor.</a:t>
            </a:r>
            <a:endParaRPr lang="en-US" sz="1900" dirty="0"/>
          </a:p>
        </p:txBody>
      </p:sp>
      <p:sp>
        <p:nvSpPr>
          <p:cNvPr id="15" name="Text 13"/>
          <p:cNvSpPr txBox="1"/>
          <p:nvPr/>
        </p:nvSpPr>
        <p:spPr>
          <a:xfrm>
            <a:off x="640080" y="6419088"/>
            <a:ext cx="64008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TÜBİTAK 1001 · 123E674 — Proje Çalıştayı, 24 Eylül 2026</a:t>
            </a:r>
            <a:endParaRPr lang="en-US" sz="1000" dirty="0"/>
          </a:p>
        </p:txBody>
      </p:sp>
      <p:sp>
        <p:nvSpPr>
          <p:cNvPr id="16" name="Text 14"/>
          <p:cNvSpPr txBox="1"/>
          <p:nvPr/>
        </p:nvSpPr>
        <p:spPr>
          <a:xfrm>
            <a:off x="11503152" y="6419088"/>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384048"/>
            <a:ext cx="10908792" cy="27432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İŞ PAKETİ 5</a:t>
            </a:r>
            <a:endParaRPr lang="en-US" sz="12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Robot Uygulaması: Labirentte MNIST Tanıma</a:t>
            </a:r>
            <a:endParaRPr lang="en-US" sz="3000" dirty="0"/>
          </a:p>
        </p:txBody>
      </p:sp>
      <p:sp>
        <p:nvSpPr>
          <p:cNvPr id="4" name="Text 2"/>
          <p:cNvSpPr txBox="1"/>
          <p:nvPr/>
        </p:nvSpPr>
        <p:spPr>
          <a:xfrm>
            <a:off x="640080" y="1691640"/>
            <a:ext cx="6903720" cy="4526280"/>
          </a:xfrm>
          <a:prstGeom prst="rect">
            <a:avLst/>
          </a:prstGeom>
          <a:noFill/>
          <a:ln/>
        </p:spPr>
        <p:txBody>
          <a:bodyPr wrap="square" lIns="0" tIns="0" rIns="0" bIns="0" rtlCol="0" anchor="t"/>
          <a:lstStyle/>
          <a:p>
            <a:pPr marL="190500" indent="-190500" algn="l">
              <a:spcAft>
                <a:spcPts val="1400"/>
              </a:spcAft>
              <a:buSzPct val="100000"/>
              <a:buChar char="•"/>
            </a:pPr>
            <a:r>
              <a:rPr lang="en-US" sz="2000" dirty="0">
                <a:solidFill>
                  <a:srgbClr val="26262E"/>
                </a:solidFill>
                <a:latin typeface="Calibri" pitchFamily="34" charset="0"/>
                <a:ea typeface="Calibri" pitchFamily="34" charset="-122"/>
                <a:cs typeface="Calibri" pitchFamily="34" charset="-120"/>
              </a:rPr>
              <a:t>Webots'ta kademeli zorluk seviyeli labirent ortamları tasarlandı; duvarlara MNIST posterleri yerleştirildi.</a:t>
            </a:r>
            <a:endParaRPr lang="en-US" sz="2000" dirty="0"/>
          </a:p>
          <a:p>
            <a:pPr marL="190500" indent="-190500" algn="l">
              <a:spcAft>
                <a:spcPts val="1400"/>
              </a:spcAft>
              <a:buSzPct val="100000"/>
              <a:buChar char="•"/>
            </a:pPr>
            <a:r>
              <a:rPr lang="en-US" sz="2000" dirty="0">
                <a:solidFill>
                  <a:srgbClr val="26262E"/>
                </a:solidFill>
                <a:latin typeface="Calibri" pitchFamily="34" charset="0"/>
                <a:ea typeface="Calibri" pitchFamily="34" charset="-122"/>
                <a:cs typeface="Calibri" pitchFamily="34" charset="-120"/>
              </a:rPr>
              <a:t>ROS2 tabanlı kontrol: arama → hedef kilitleme → hizalanarak yaklaşma → tanıma → yeni hedef.</a:t>
            </a:r>
            <a:endParaRPr lang="en-US" sz="2000" dirty="0"/>
          </a:p>
          <a:p>
            <a:pPr marL="190500" indent="-190500" algn="l">
              <a:spcAft>
                <a:spcPts val="1400"/>
              </a:spcAft>
              <a:buSzPct val="100000"/>
              <a:buChar char="•"/>
            </a:pPr>
            <a:r>
              <a:rPr lang="en-US" sz="2000" dirty="0">
                <a:solidFill>
                  <a:srgbClr val="26262E"/>
                </a:solidFill>
                <a:latin typeface="Calibri" pitchFamily="34" charset="0"/>
                <a:ea typeface="Calibri" pitchFamily="34" charset="-122"/>
                <a:cs typeface="Calibri" pitchFamily="34" charset="-120"/>
              </a:rPr>
              <a:t>AprilTag ile poz ve hizalama; poster bölgesi kırpılıp 28×28'e ölçeklenerek ağa veriliyor.</a:t>
            </a:r>
            <a:endParaRPr lang="en-US" sz="2000" dirty="0"/>
          </a:p>
          <a:p>
            <a:pPr marL="190500" indent="-190500" algn="l">
              <a:spcAft>
                <a:spcPts val="1400"/>
              </a:spcAft>
              <a:buSzPct val="100000"/>
              <a:buChar char="•"/>
            </a:pPr>
            <a:r>
              <a:rPr lang="en-US" sz="2000" dirty="0">
                <a:solidFill>
                  <a:srgbClr val="26262E"/>
                </a:solidFill>
                <a:latin typeface="Calibri" pitchFamily="34" charset="0"/>
                <a:ea typeface="Calibri" pitchFamily="34" charset="-122"/>
                <a:cs typeface="Calibri" pitchFamily="34" charset="-120"/>
              </a:rPr>
              <a:t>CNN referans modelinin ardından Diehl–Cook VND ağı tanıma modülü olarak entegre edildi: robot, ROS ortamında VND ile rakamları tanıyor.</a:t>
            </a:r>
            <a:endParaRPr lang="en-US" sz="2000" dirty="0"/>
          </a:p>
        </p:txBody>
      </p:sp>
      <p:sp>
        <p:nvSpPr>
          <p:cNvPr id="5" name="Shape 3"/>
          <p:cNvSpPr/>
          <p:nvPr/>
        </p:nvSpPr>
        <p:spPr>
          <a:xfrm>
            <a:off x="7955280" y="1691640"/>
            <a:ext cx="3593592" cy="2103120"/>
          </a:xfrm>
          <a:prstGeom prst="roundRect">
            <a:avLst>
              <a:gd name="adj" fmla="val 2609"/>
            </a:avLst>
          </a:prstGeom>
          <a:solidFill>
            <a:srgbClr val="EEF3FB"/>
          </a:solidFill>
          <a:ln/>
        </p:spPr>
        <p:txBody>
          <a:bodyPr/>
          <a:lstStyle/>
          <a:p>
            <a:endParaRPr lang="tr-TR"/>
          </a:p>
        </p:txBody>
      </p:sp>
      <p:sp>
        <p:nvSpPr>
          <p:cNvPr id="6" name="Text 4"/>
          <p:cNvSpPr txBox="1"/>
          <p:nvPr/>
        </p:nvSpPr>
        <p:spPr>
          <a:xfrm>
            <a:off x="8229600" y="1856232"/>
            <a:ext cx="3044952"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Önemli bulgu</a:t>
            </a:r>
            <a:endParaRPr lang="en-US" sz="1600" dirty="0"/>
          </a:p>
        </p:txBody>
      </p:sp>
      <p:sp>
        <p:nvSpPr>
          <p:cNvPr id="7" name="Text 5"/>
          <p:cNvSpPr txBox="1"/>
          <p:nvPr/>
        </p:nvSpPr>
        <p:spPr>
          <a:xfrm>
            <a:off x="8229600" y="2240280"/>
            <a:ext cx="3044952" cy="1463040"/>
          </a:xfrm>
          <a:prstGeom prst="rect">
            <a:avLst/>
          </a:prstGeom>
          <a:noFill/>
          <a:ln/>
        </p:spPr>
        <p:txBody>
          <a:bodyPr wrap="square" lIns="0" tIns="0" rIns="0" bIns="0" rtlCol="0" anchor="t"/>
          <a:lstStyle/>
          <a:p>
            <a:pPr marL="0" indent="0">
              <a:lnSpc>
                <a:spcPct val="105000"/>
              </a:lnSpc>
              <a:buNone/>
            </a:pPr>
            <a:r>
              <a:rPr lang="en-US" sz="1600" dirty="0">
                <a:solidFill>
                  <a:srgbClr val="26262E"/>
                </a:solidFill>
                <a:latin typeface="Calibri" pitchFamily="34" charset="0"/>
                <a:ea typeface="Calibri" pitchFamily="34" charset="-122"/>
                <a:cs typeface="Calibri" pitchFamily="34" charset="-120"/>
              </a:rPr>
              <a:t>Tanıma başarısı, robotun postere 90° dik hizalanmasına doğrudan bağlı; perspektif bozulmaya VND'ler CNN'lere göre daha duyarlı.</a:t>
            </a:r>
            <a:endParaRPr lang="en-US" sz="1600" dirty="0"/>
          </a:p>
        </p:txBody>
      </p:sp>
      <p:sp>
        <p:nvSpPr>
          <p:cNvPr id="8" name="Shape 6"/>
          <p:cNvSpPr/>
          <p:nvPr/>
        </p:nvSpPr>
        <p:spPr>
          <a:xfrm>
            <a:off x="7955280" y="4023360"/>
            <a:ext cx="3593592" cy="1920240"/>
          </a:xfrm>
          <a:prstGeom prst="roundRect">
            <a:avLst>
              <a:gd name="adj" fmla="val 2857"/>
            </a:avLst>
          </a:prstGeom>
          <a:solidFill>
            <a:srgbClr val="F5F7FA"/>
          </a:solidFill>
          <a:ln/>
        </p:spPr>
        <p:txBody>
          <a:bodyPr/>
          <a:lstStyle/>
          <a:p>
            <a:endParaRPr lang="tr-TR"/>
          </a:p>
        </p:txBody>
      </p:sp>
      <p:sp>
        <p:nvSpPr>
          <p:cNvPr id="9" name="Text 7"/>
          <p:cNvSpPr txBox="1"/>
          <p:nvPr/>
        </p:nvSpPr>
        <p:spPr>
          <a:xfrm>
            <a:off x="8229600" y="4187952"/>
            <a:ext cx="3044952" cy="1645920"/>
          </a:xfrm>
          <a:prstGeom prst="rect">
            <a:avLst/>
          </a:prstGeom>
          <a:noFill/>
          <a:ln/>
        </p:spPr>
        <p:txBody>
          <a:bodyPr wrap="square" lIns="0" tIns="0" rIns="0" bIns="0" rtlCol="0" anchor="t"/>
          <a:lstStyle/>
          <a:p>
            <a:pPr marL="0" indent="0">
              <a:lnSpc>
                <a:spcPct val="105000"/>
              </a:lnSpc>
              <a:buNone/>
            </a:pPr>
            <a:r>
              <a:rPr lang="en-US" sz="1600" b="1" dirty="0">
                <a:solidFill>
                  <a:srgbClr val="1E2761"/>
                </a:solidFill>
                <a:latin typeface="Calibri" pitchFamily="34" charset="0"/>
                <a:ea typeface="Calibri" pitchFamily="34" charset="-122"/>
                <a:cs typeface="Calibri" pitchFamily="34" charset="-120"/>
              </a:rPr>
              <a:t>Senaryo tasarımı: </a:t>
            </a:r>
            <a:r>
              <a:rPr lang="en-US" sz="1600" dirty="0">
                <a:solidFill>
                  <a:srgbClr val="26262E"/>
                </a:solidFill>
                <a:latin typeface="Calibri" pitchFamily="34" charset="0"/>
                <a:ea typeface="Calibri" pitchFamily="34" charset="-122"/>
                <a:cs typeface="Calibri" pitchFamily="34" charset="-120"/>
              </a:rPr>
              <a:t>hedef rakamlar mekânsal olarak sıralı yerleştirilmedi; robot görsel yakınlığa değil, mantıksal sıraya göre karar vermek zorunda.</a:t>
            </a:r>
            <a:endParaRPr lang="en-US" sz="1600" dirty="0"/>
          </a:p>
        </p:txBody>
      </p:sp>
      <p:sp>
        <p:nvSpPr>
          <p:cNvPr id="10" name="Text 8"/>
          <p:cNvSpPr txBox="1"/>
          <p:nvPr/>
        </p:nvSpPr>
        <p:spPr>
          <a:xfrm>
            <a:off x="640080" y="6419088"/>
            <a:ext cx="64008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TÜBİTAK 1001 · 123E674 — Proje Çalıştayı, 24 Eylül 2026</a:t>
            </a:r>
            <a:endParaRPr lang="en-US" sz="1000" dirty="0"/>
          </a:p>
        </p:txBody>
      </p:sp>
      <p:sp>
        <p:nvSpPr>
          <p:cNvPr id="11" name="Text 9"/>
          <p:cNvSpPr txBox="1"/>
          <p:nvPr/>
        </p:nvSpPr>
        <p:spPr>
          <a:xfrm>
            <a:off x="11503152" y="6419088"/>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384048"/>
            <a:ext cx="10908792" cy="27432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İŞ PAKETİ 5</a:t>
            </a:r>
            <a:endParaRPr lang="en-US" sz="12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Robot Uygulaması: Fiziksel Labirent Ortamı</a:t>
            </a:r>
            <a:endParaRPr lang="en-US" sz="3000" dirty="0"/>
          </a:p>
        </p:txBody>
      </p:sp>
      <p:pic>
        <p:nvPicPr>
          <p:cNvPr id="4" name="Image 0" descr="Duvarlarında MNIST rakamları bulunan ahşap labirent"/>
          <p:cNvPicPr>
            <a:picLocks noChangeAspect="1"/>
          </p:cNvPicPr>
          <p:nvPr/>
        </p:nvPicPr>
        <p:blipFill>
          <a:blip r:embed="rId3"/>
          <a:stretch>
            <a:fillRect/>
          </a:stretch>
        </p:blipFill>
        <p:spPr>
          <a:xfrm>
            <a:off x="910441" y="1572768"/>
            <a:ext cx="2427732" cy="4315968"/>
          </a:xfrm>
          <a:prstGeom prst="rect">
            <a:avLst/>
          </a:prstGeom>
        </p:spPr>
      </p:pic>
      <p:pic>
        <p:nvPicPr>
          <p:cNvPr id="5" name="Image 1" descr="Labirent içinde TurtleBot3 robotu ve MNIST rakam etiketleri"/>
          <p:cNvPicPr>
            <a:picLocks noChangeAspect="1"/>
          </p:cNvPicPr>
          <p:nvPr/>
        </p:nvPicPr>
        <p:blipFill>
          <a:blip r:embed="rId4"/>
          <a:stretch>
            <a:fillRect/>
          </a:stretch>
        </p:blipFill>
        <p:spPr>
          <a:xfrm>
            <a:off x="3612493" y="1572768"/>
            <a:ext cx="7666018" cy="4315968"/>
          </a:xfrm>
          <a:prstGeom prst="rect">
            <a:avLst/>
          </a:prstGeom>
        </p:spPr>
      </p:pic>
      <p:sp>
        <p:nvSpPr>
          <p:cNvPr id="6" name="Text 2"/>
          <p:cNvSpPr txBox="1"/>
          <p:nvPr/>
        </p:nvSpPr>
        <p:spPr>
          <a:xfrm>
            <a:off x="910441" y="5980176"/>
            <a:ext cx="2427732"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Labirent ortamı</a:t>
            </a:r>
            <a:endParaRPr lang="en-US" sz="1400" dirty="0"/>
          </a:p>
        </p:txBody>
      </p:sp>
      <p:sp>
        <p:nvSpPr>
          <p:cNvPr id="7" name="Text 3"/>
          <p:cNvSpPr txBox="1"/>
          <p:nvPr/>
        </p:nvSpPr>
        <p:spPr>
          <a:xfrm>
            <a:off x="3612493" y="5980176"/>
            <a:ext cx="7666018"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TurtleBot3 robot platformu ve duvarlardaki MNIST rakamları</a:t>
            </a:r>
            <a:endParaRPr lang="en-US" sz="1400" dirty="0"/>
          </a:p>
        </p:txBody>
      </p:sp>
      <p:sp>
        <p:nvSpPr>
          <p:cNvPr id="8" name="Text 4"/>
          <p:cNvSpPr txBox="1"/>
          <p:nvPr/>
        </p:nvSpPr>
        <p:spPr>
          <a:xfrm>
            <a:off x="640080" y="6419088"/>
            <a:ext cx="64008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TÜBİTAK 1001 · 123E674 — Proje Çalıştayı, 24 Eylül 2026</a:t>
            </a:r>
            <a:endParaRPr lang="en-US" sz="1000" dirty="0"/>
          </a:p>
        </p:txBody>
      </p:sp>
      <p:sp>
        <p:nvSpPr>
          <p:cNvPr id="9" name="Text 5"/>
          <p:cNvSpPr txBox="1"/>
          <p:nvPr/>
        </p:nvSpPr>
        <p:spPr>
          <a:xfrm>
            <a:off x="11503152" y="6419088"/>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384048"/>
            <a:ext cx="10908792" cy="274320"/>
          </a:xfrm>
          <a:prstGeom prst="rect">
            <a:avLst/>
          </a:prstGeom>
          <a:noFill/>
          <a:ln/>
        </p:spPr>
        <p:txBody>
          <a:bodyPr wrap="square" lIns="0" tIns="0" rIns="0" bIns="0"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ÇIKTILAR</a:t>
            </a:r>
            <a:endParaRPr lang="en-US" sz="12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Yayınlar ve Yayılım Faaliyetleri</a:t>
            </a:r>
            <a:endParaRPr lang="en-US" sz="3000" dirty="0"/>
          </a:p>
        </p:txBody>
      </p:sp>
      <p:sp>
        <p:nvSpPr>
          <p:cNvPr id="4" name="Text 2"/>
          <p:cNvSpPr txBox="1"/>
          <p:nvPr/>
        </p:nvSpPr>
        <p:spPr>
          <a:xfrm>
            <a:off x="640080" y="1600200"/>
            <a:ext cx="10908792" cy="36576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SİU 2025 (33. IEEE Sinyal İşleme ve İletişim Uygulamaları Kurultayı, Işık Ü.)</a:t>
            </a:r>
            <a:endParaRPr lang="en-US" sz="1700" dirty="0"/>
          </a:p>
        </p:txBody>
      </p:sp>
      <p:sp>
        <p:nvSpPr>
          <p:cNvPr id="5" name="Text 3"/>
          <p:cNvSpPr txBox="1"/>
          <p:nvPr/>
        </p:nvSpPr>
        <p:spPr>
          <a:xfrm>
            <a:off x="777240" y="2011680"/>
            <a:ext cx="10771632" cy="813816"/>
          </a:xfrm>
          <a:prstGeom prst="rect">
            <a:avLst/>
          </a:prstGeom>
          <a:noFill/>
          <a:ln/>
        </p:spPr>
        <p:txBody>
          <a:bodyPr wrap="square" lIns="0" tIns="0" rIns="0" bIns="0" rtlCol="0" anchor="t"/>
          <a:lstStyle/>
          <a:p>
            <a:pPr marL="190500" indent="-190500" algn="l">
              <a:spcAft>
                <a:spcPts val="500"/>
              </a:spcAft>
              <a:buSzPct val="100000"/>
              <a:buChar char="•"/>
            </a:pPr>
            <a:r>
              <a:rPr lang="en-US" sz="1600" dirty="0">
                <a:solidFill>
                  <a:srgbClr val="26262E"/>
                </a:solidFill>
                <a:latin typeface="Calibri" pitchFamily="34" charset="0"/>
                <a:ea typeface="Calibri" pitchFamily="34" charset="-122"/>
                <a:cs typeface="Calibri" pitchFamily="34" charset="-120"/>
              </a:rPr>
              <a:t>Vuru Üreten Nöron Grupları ile Gözetimsiz Örüntü Tanıma — Gelen vd.</a:t>
            </a:r>
            <a:endParaRPr lang="en-US" sz="1600" dirty="0"/>
          </a:p>
          <a:p>
            <a:pPr marL="190500" indent="-190500" algn="l">
              <a:spcAft>
                <a:spcPts val="500"/>
              </a:spcAft>
              <a:buSzPct val="100000"/>
              <a:buChar char="•"/>
            </a:pPr>
            <a:r>
              <a:rPr lang="en-US" sz="1600" dirty="0">
                <a:solidFill>
                  <a:srgbClr val="26262E"/>
                </a:solidFill>
                <a:latin typeface="Calibri" pitchFamily="34" charset="0"/>
                <a:ea typeface="Calibri" pitchFamily="34" charset="-122"/>
                <a:cs typeface="Calibri" pitchFamily="34" charset="-120"/>
              </a:rPr>
              <a:t>Kontrastlı Öngörüsel Kodlama ile Vuru Üreten Nöral Devrelerin Entegrasyonu — Bilgiç vd.</a:t>
            </a:r>
            <a:endParaRPr lang="en-US" sz="1600" dirty="0"/>
          </a:p>
        </p:txBody>
      </p:sp>
      <p:sp>
        <p:nvSpPr>
          <p:cNvPr id="6" name="Text 4"/>
          <p:cNvSpPr txBox="1"/>
          <p:nvPr/>
        </p:nvSpPr>
        <p:spPr>
          <a:xfrm>
            <a:off x="640080" y="3054096"/>
            <a:ext cx="10908792" cy="36576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ASYU 2025 (Akıllı Sistemlerde Yenilikler ve Uygulamaları Konf., Bursa Teknik Ü.)</a:t>
            </a:r>
            <a:endParaRPr lang="en-US" sz="1700" dirty="0"/>
          </a:p>
        </p:txBody>
      </p:sp>
      <p:sp>
        <p:nvSpPr>
          <p:cNvPr id="7" name="Text 5"/>
          <p:cNvSpPr txBox="1"/>
          <p:nvPr/>
        </p:nvSpPr>
        <p:spPr>
          <a:xfrm>
            <a:off x="777240" y="3465576"/>
            <a:ext cx="10771632" cy="1197864"/>
          </a:xfrm>
          <a:prstGeom prst="rect">
            <a:avLst/>
          </a:prstGeom>
          <a:noFill/>
          <a:ln/>
        </p:spPr>
        <p:txBody>
          <a:bodyPr wrap="square" lIns="0" tIns="0" rIns="0" bIns="0" rtlCol="0" anchor="t"/>
          <a:lstStyle/>
          <a:p>
            <a:pPr marL="190500" indent="-190500" algn="l">
              <a:spcAft>
                <a:spcPts val="500"/>
              </a:spcAft>
              <a:buSzPct val="100000"/>
              <a:buChar char="•"/>
            </a:pPr>
            <a:r>
              <a:rPr lang="en-US" sz="1600" dirty="0">
                <a:solidFill>
                  <a:srgbClr val="26262E"/>
                </a:solidFill>
                <a:latin typeface="Calibri" pitchFamily="34" charset="0"/>
                <a:ea typeface="Calibri" pitchFamily="34" charset="-122"/>
                <a:cs typeface="Calibri" pitchFamily="34" charset="-120"/>
              </a:rPr>
              <a:t>Sürekli Zaman Uzayında Vuru Üreten Nöral Ağın Öngörüsel Davranışı — İşler vd.</a:t>
            </a:r>
            <a:endParaRPr lang="en-US" sz="1600" dirty="0"/>
          </a:p>
          <a:p>
            <a:pPr marL="190500" indent="-190500" algn="l">
              <a:spcAft>
                <a:spcPts val="500"/>
              </a:spcAft>
              <a:buSzPct val="100000"/>
              <a:buChar char="•"/>
            </a:pPr>
            <a:r>
              <a:rPr lang="en-US" sz="1600" dirty="0">
                <a:solidFill>
                  <a:srgbClr val="26262E"/>
                </a:solidFill>
                <a:latin typeface="Calibri" pitchFamily="34" charset="0"/>
                <a:ea typeface="Calibri" pitchFamily="34" charset="-122"/>
                <a:cs typeface="Calibri" pitchFamily="34" charset="-120"/>
              </a:rPr>
              <a:t>Vuru Üreten Nöronlarda Sinaptik Plastisite ile Öğrenme ve Çıkarım Analizi — Gelen vd.</a:t>
            </a:r>
            <a:endParaRPr lang="en-US" sz="1600" dirty="0"/>
          </a:p>
          <a:p>
            <a:pPr marL="190500" indent="-190500" algn="l">
              <a:spcAft>
                <a:spcPts val="500"/>
              </a:spcAft>
              <a:buSzPct val="100000"/>
              <a:buChar char="•"/>
            </a:pPr>
            <a:r>
              <a:rPr lang="en-US" sz="1600" dirty="0">
                <a:solidFill>
                  <a:srgbClr val="26262E"/>
                </a:solidFill>
                <a:latin typeface="Calibri" pitchFamily="34" charset="0"/>
                <a:ea typeface="Calibri" pitchFamily="34" charset="-122"/>
                <a:cs typeface="Calibri" pitchFamily="34" charset="-120"/>
              </a:rPr>
              <a:t>Proje ekibinin düzenlediği özel oturum: "Vuru Üreten Nöral Ağlar ve Uygulamaları"</a:t>
            </a:r>
            <a:endParaRPr lang="en-US" sz="1600" dirty="0"/>
          </a:p>
        </p:txBody>
      </p:sp>
      <p:sp>
        <p:nvSpPr>
          <p:cNvPr id="8" name="Shape 6"/>
          <p:cNvSpPr/>
          <p:nvPr/>
        </p:nvSpPr>
        <p:spPr>
          <a:xfrm>
            <a:off x="640080" y="4937760"/>
            <a:ext cx="3422904" cy="1234440"/>
          </a:xfrm>
          <a:prstGeom prst="roundRect">
            <a:avLst>
              <a:gd name="adj" fmla="val 4444"/>
            </a:avLst>
          </a:prstGeom>
          <a:solidFill>
            <a:srgbClr val="F5F7FA"/>
          </a:solidFill>
          <a:ln/>
        </p:spPr>
        <p:txBody>
          <a:bodyPr/>
          <a:lstStyle/>
          <a:p>
            <a:endParaRPr lang="tr-TR"/>
          </a:p>
        </p:txBody>
      </p:sp>
      <p:sp>
        <p:nvSpPr>
          <p:cNvPr id="9" name="Text 7"/>
          <p:cNvSpPr txBox="1"/>
          <p:nvPr/>
        </p:nvSpPr>
        <p:spPr>
          <a:xfrm>
            <a:off x="868680" y="5074920"/>
            <a:ext cx="2965704"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Ön yayın</a:t>
            </a:r>
            <a:endParaRPr lang="en-US" sz="1500" dirty="0"/>
          </a:p>
        </p:txBody>
      </p:sp>
      <p:sp>
        <p:nvSpPr>
          <p:cNvPr id="10" name="Text 8"/>
          <p:cNvSpPr txBox="1"/>
          <p:nvPr/>
        </p:nvSpPr>
        <p:spPr>
          <a:xfrm>
            <a:off x="868680" y="5440680"/>
            <a:ext cx="2965704" cy="640080"/>
          </a:xfrm>
          <a:prstGeom prst="rect">
            <a:avLst/>
          </a:prstGeom>
          <a:noFill/>
          <a:ln/>
        </p:spPr>
        <p:txBody>
          <a:bodyPr wrap="square" lIns="0" tIns="0" rIns="0" bIns="0" rtlCol="0" anchor="t"/>
          <a:lstStyle/>
          <a:p>
            <a:pPr marL="0" indent="0">
              <a:lnSpc>
                <a:spcPct val="105000"/>
              </a:lnSpc>
              <a:buNone/>
            </a:pPr>
            <a:r>
              <a:rPr lang="en-US" sz="1350" dirty="0">
                <a:solidFill>
                  <a:srgbClr val="26262E"/>
                </a:solidFill>
                <a:latin typeface="Calibri" pitchFamily="34" charset="0"/>
                <a:ea typeface="Calibri" pitchFamily="34" charset="-122"/>
                <a:cs typeface="Calibri" pitchFamily="34" charset="-120"/>
              </a:rPr>
              <a:t>Integration of Contrastive Predictive Coding and Spiking Neural Networks — arXiv:2506.09194 (2025)</a:t>
            </a:r>
            <a:endParaRPr lang="en-US" sz="1350" dirty="0"/>
          </a:p>
        </p:txBody>
      </p:sp>
      <p:sp>
        <p:nvSpPr>
          <p:cNvPr id="11" name="Shape 9"/>
          <p:cNvSpPr/>
          <p:nvPr/>
        </p:nvSpPr>
        <p:spPr>
          <a:xfrm>
            <a:off x="4383024" y="4937760"/>
            <a:ext cx="3422904" cy="1234440"/>
          </a:xfrm>
          <a:prstGeom prst="roundRect">
            <a:avLst>
              <a:gd name="adj" fmla="val 4444"/>
            </a:avLst>
          </a:prstGeom>
          <a:solidFill>
            <a:srgbClr val="F5F7FA"/>
          </a:solidFill>
          <a:ln/>
        </p:spPr>
        <p:txBody>
          <a:bodyPr/>
          <a:lstStyle/>
          <a:p>
            <a:endParaRPr lang="tr-TR"/>
          </a:p>
        </p:txBody>
      </p:sp>
      <p:sp>
        <p:nvSpPr>
          <p:cNvPr id="12" name="Text 10"/>
          <p:cNvSpPr txBox="1"/>
          <p:nvPr/>
        </p:nvSpPr>
        <p:spPr>
          <a:xfrm>
            <a:off x="4611624" y="5074920"/>
            <a:ext cx="2965704"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Açık kaynak</a:t>
            </a:r>
            <a:endParaRPr lang="en-US" sz="1500" dirty="0"/>
          </a:p>
        </p:txBody>
      </p:sp>
      <p:sp>
        <p:nvSpPr>
          <p:cNvPr id="13" name="Text 11"/>
          <p:cNvSpPr txBox="1"/>
          <p:nvPr/>
        </p:nvSpPr>
        <p:spPr>
          <a:xfrm>
            <a:off x="4611624" y="5440680"/>
            <a:ext cx="2965704" cy="640080"/>
          </a:xfrm>
          <a:prstGeom prst="rect">
            <a:avLst/>
          </a:prstGeom>
          <a:noFill/>
          <a:ln/>
        </p:spPr>
        <p:txBody>
          <a:bodyPr wrap="square" lIns="0" tIns="0" rIns="0" bIns="0" rtlCol="0" anchor="t"/>
          <a:lstStyle/>
          <a:p>
            <a:pPr marL="0" indent="0">
              <a:lnSpc>
                <a:spcPct val="105000"/>
              </a:lnSpc>
              <a:buNone/>
            </a:pPr>
            <a:r>
              <a:rPr lang="en-US" sz="1350" dirty="0">
                <a:solidFill>
                  <a:srgbClr val="26262E"/>
                </a:solidFill>
                <a:latin typeface="Calibri" pitchFamily="34" charset="0"/>
                <a:ea typeface="Calibri" pitchFamily="34" charset="-122"/>
                <a:cs typeface="Calibri" pitchFamily="34" charset="-120"/>
              </a:rPr>
              <a:t>Tüm kodlar: github.com/vnd-ogrenme · Proje sitesi: vnd-ogrenme.github.io</a:t>
            </a:r>
            <a:endParaRPr lang="en-US" sz="1350" dirty="0"/>
          </a:p>
        </p:txBody>
      </p:sp>
      <p:sp>
        <p:nvSpPr>
          <p:cNvPr id="14" name="Shape 12"/>
          <p:cNvSpPr/>
          <p:nvPr/>
        </p:nvSpPr>
        <p:spPr>
          <a:xfrm>
            <a:off x="8125968" y="4937760"/>
            <a:ext cx="3422904" cy="1234440"/>
          </a:xfrm>
          <a:prstGeom prst="roundRect">
            <a:avLst>
              <a:gd name="adj" fmla="val 4444"/>
            </a:avLst>
          </a:prstGeom>
          <a:solidFill>
            <a:srgbClr val="F5F7FA"/>
          </a:solidFill>
          <a:ln/>
        </p:spPr>
        <p:txBody>
          <a:bodyPr/>
          <a:lstStyle/>
          <a:p>
            <a:endParaRPr lang="tr-TR"/>
          </a:p>
        </p:txBody>
      </p:sp>
      <p:sp>
        <p:nvSpPr>
          <p:cNvPr id="15" name="Text 13"/>
          <p:cNvSpPr txBox="1"/>
          <p:nvPr/>
        </p:nvSpPr>
        <p:spPr>
          <a:xfrm>
            <a:off x="8354568" y="5074920"/>
            <a:ext cx="2965704"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Diğer</a:t>
            </a:r>
            <a:endParaRPr lang="en-US" sz="1500" dirty="0"/>
          </a:p>
        </p:txBody>
      </p:sp>
      <p:sp>
        <p:nvSpPr>
          <p:cNvPr id="16" name="Text 14"/>
          <p:cNvSpPr txBox="1"/>
          <p:nvPr/>
        </p:nvSpPr>
        <p:spPr>
          <a:xfrm>
            <a:off x="8354568" y="5440680"/>
            <a:ext cx="2965704" cy="640080"/>
          </a:xfrm>
          <a:prstGeom prst="rect">
            <a:avLst/>
          </a:prstGeom>
          <a:noFill/>
          <a:ln/>
        </p:spPr>
        <p:txBody>
          <a:bodyPr wrap="square" lIns="0" tIns="0" rIns="0" bIns="0" rtlCol="0" anchor="t"/>
          <a:lstStyle/>
          <a:p>
            <a:pPr marL="0" indent="0">
              <a:lnSpc>
                <a:spcPct val="105000"/>
              </a:lnSpc>
              <a:buNone/>
            </a:pPr>
            <a:r>
              <a:rPr lang="en-US" sz="1350" dirty="0">
                <a:solidFill>
                  <a:srgbClr val="26262E"/>
                </a:solidFill>
                <a:latin typeface="Calibri" pitchFamily="34" charset="0"/>
                <a:ea typeface="Calibri" pitchFamily="34" charset="-122"/>
                <a:cs typeface="Calibri" pitchFamily="34" charset="-120"/>
              </a:rPr>
              <a:t>ISBCS 2024'te proje tanıtım posteri · Bu çalıştay (OKÜ, Eylül 2026)</a:t>
            </a:r>
            <a:endParaRPr lang="en-US" sz="1350" dirty="0"/>
          </a:p>
        </p:txBody>
      </p:sp>
      <p:sp>
        <p:nvSpPr>
          <p:cNvPr id="17" name="Text 15"/>
          <p:cNvSpPr txBox="1"/>
          <p:nvPr/>
        </p:nvSpPr>
        <p:spPr>
          <a:xfrm>
            <a:off x="640080" y="6419088"/>
            <a:ext cx="64008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TÜBİTAK 1001 · 123E674 — Proje Çalıştayı, 24 Eylül 2026</a:t>
            </a:r>
            <a:endParaRPr lang="en-US" sz="1000" dirty="0"/>
          </a:p>
        </p:txBody>
      </p:sp>
      <p:sp>
        <p:nvSpPr>
          <p:cNvPr id="18" name="Text 16"/>
          <p:cNvSpPr txBox="1"/>
          <p:nvPr/>
        </p:nvSpPr>
        <p:spPr>
          <a:xfrm>
            <a:off x="11503152" y="6419088"/>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908792" cy="27432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ÖZET</a:t>
            </a:r>
            <a:endParaRPr lang="en-US" sz="1200" dirty="0"/>
          </a:p>
        </p:txBody>
      </p:sp>
      <p:sp>
        <p:nvSpPr>
          <p:cNvPr id="3" name="Text 1"/>
          <p:cNvSpPr txBox="1"/>
          <p:nvPr/>
        </p:nvSpPr>
        <p:spPr>
          <a:xfrm>
            <a:off x="640080" y="777240"/>
            <a:ext cx="10908792"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Bugüne Kadar Elde Edilenler</a:t>
            </a:r>
            <a:endParaRPr lang="en-US" sz="3000" dirty="0"/>
          </a:p>
        </p:txBody>
      </p:sp>
      <p:sp>
        <p:nvSpPr>
          <p:cNvPr id="4" name="Shape 2"/>
          <p:cNvSpPr/>
          <p:nvPr/>
        </p:nvSpPr>
        <p:spPr>
          <a:xfrm>
            <a:off x="640080" y="1737360"/>
            <a:ext cx="2521458" cy="2514600"/>
          </a:xfrm>
          <a:prstGeom prst="roundRect">
            <a:avLst>
              <a:gd name="adj" fmla="val 2182"/>
            </a:avLst>
          </a:prstGeom>
          <a:solidFill>
            <a:srgbClr val="2E3E7E"/>
          </a:solidFill>
          <a:ln/>
        </p:spPr>
        <p:txBody>
          <a:bodyPr/>
          <a:lstStyle/>
          <a:p>
            <a:endParaRPr lang="tr-TR"/>
          </a:p>
        </p:txBody>
      </p:sp>
      <p:sp>
        <p:nvSpPr>
          <p:cNvPr id="5" name="Text 3"/>
          <p:cNvSpPr txBox="1"/>
          <p:nvPr/>
        </p:nvSpPr>
        <p:spPr>
          <a:xfrm>
            <a:off x="868680" y="2011680"/>
            <a:ext cx="2064258" cy="7772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4 + 1</a:t>
            </a:r>
            <a:endParaRPr lang="en-US" sz="3200" dirty="0"/>
          </a:p>
        </p:txBody>
      </p:sp>
      <p:sp>
        <p:nvSpPr>
          <p:cNvPr id="6" name="Text 4"/>
          <p:cNvSpPr txBox="1"/>
          <p:nvPr/>
        </p:nvSpPr>
        <p:spPr>
          <a:xfrm>
            <a:off x="868680" y="2926080"/>
            <a:ext cx="2064258" cy="1188720"/>
          </a:xfrm>
          <a:prstGeom prst="rect">
            <a:avLst/>
          </a:prstGeom>
          <a:noFill/>
          <a:ln/>
        </p:spPr>
        <p:txBody>
          <a:bodyPr wrap="square" lIns="0" tIns="0" rIns="0" bIns="0" rtlCol="0" anchor="t"/>
          <a:lstStyle/>
          <a:p>
            <a:pPr marL="0" indent="0">
              <a:lnSpc>
                <a:spcPct val="105000"/>
              </a:lnSpc>
              <a:buNone/>
            </a:pPr>
            <a:r>
              <a:rPr lang="en-US" sz="1500" dirty="0">
                <a:solidFill>
                  <a:srgbClr val="CADCFC"/>
                </a:solidFill>
                <a:latin typeface="Calibri" pitchFamily="34" charset="0"/>
                <a:ea typeface="Calibri" pitchFamily="34" charset="-122"/>
                <a:cs typeface="Calibri" pitchFamily="34" charset="-120"/>
              </a:rPr>
              <a:t>hakemli bildiri (SİU ve ASYU 2025) ve bir arXiv ön yayını</a:t>
            </a:r>
            <a:endParaRPr lang="en-US" sz="1500" dirty="0"/>
          </a:p>
        </p:txBody>
      </p:sp>
      <p:sp>
        <p:nvSpPr>
          <p:cNvPr id="7" name="Shape 5"/>
          <p:cNvSpPr/>
          <p:nvPr/>
        </p:nvSpPr>
        <p:spPr>
          <a:xfrm>
            <a:off x="3435858" y="1737360"/>
            <a:ext cx="2521458" cy="2514600"/>
          </a:xfrm>
          <a:prstGeom prst="roundRect">
            <a:avLst>
              <a:gd name="adj" fmla="val 2182"/>
            </a:avLst>
          </a:prstGeom>
          <a:solidFill>
            <a:srgbClr val="2E3E7E"/>
          </a:solidFill>
          <a:ln/>
        </p:spPr>
        <p:txBody>
          <a:bodyPr/>
          <a:lstStyle/>
          <a:p>
            <a:endParaRPr lang="tr-TR"/>
          </a:p>
        </p:txBody>
      </p:sp>
      <p:sp>
        <p:nvSpPr>
          <p:cNvPr id="8" name="Text 6"/>
          <p:cNvSpPr txBox="1"/>
          <p:nvPr/>
        </p:nvSpPr>
        <p:spPr>
          <a:xfrm>
            <a:off x="3664458" y="2011680"/>
            <a:ext cx="2064258" cy="7772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%88,2</a:t>
            </a:r>
            <a:endParaRPr lang="en-US" sz="3200" dirty="0"/>
          </a:p>
        </p:txBody>
      </p:sp>
      <p:sp>
        <p:nvSpPr>
          <p:cNvPr id="9" name="Text 7"/>
          <p:cNvSpPr txBox="1"/>
          <p:nvPr/>
        </p:nvSpPr>
        <p:spPr>
          <a:xfrm>
            <a:off x="3664458" y="2926080"/>
            <a:ext cx="2064258" cy="1188720"/>
          </a:xfrm>
          <a:prstGeom prst="rect">
            <a:avLst/>
          </a:prstGeom>
          <a:noFill/>
          <a:ln/>
        </p:spPr>
        <p:txBody>
          <a:bodyPr wrap="square" lIns="0" tIns="0" rIns="0" bIns="0" rtlCol="0" anchor="t"/>
          <a:lstStyle/>
          <a:p>
            <a:pPr marL="0" indent="0">
              <a:lnSpc>
                <a:spcPct val="105000"/>
              </a:lnSpc>
              <a:buNone/>
            </a:pPr>
            <a:r>
              <a:rPr lang="en-US" sz="1500" dirty="0">
                <a:solidFill>
                  <a:srgbClr val="CADCFC"/>
                </a:solidFill>
                <a:latin typeface="Calibri" pitchFamily="34" charset="0"/>
                <a:ea typeface="Calibri" pitchFamily="34" charset="-122"/>
                <a:cs typeface="Calibri" pitchFamily="34" charset="-120"/>
              </a:rPr>
              <a:t>VND ile MNIST sınıflandırma doğruluğu (LIF modeli)</a:t>
            </a:r>
            <a:endParaRPr lang="en-US" sz="1500" dirty="0"/>
          </a:p>
        </p:txBody>
      </p:sp>
      <p:sp>
        <p:nvSpPr>
          <p:cNvPr id="10" name="Shape 8"/>
          <p:cNvSpPr/>
          <p:nvPr/>
        </p:nvSpPr>
        <p:spPr>
          <a:xfrm>
            <a:off x="6231636" y="1737360"/>
            <a:ext cx="2521458" cy="2514600"/>
          </a:xfrm>
          <a:prstGeom prst="roundRect">
            <a:avLst>
              <a:gd name="adj" fmla="val 2182"/>
            </a:avLst>
          </a:prstGeom>
          <a:solidFill>
            <a:srgbClr val="2E3E7E"/>
          </a:solidFill>
          <a:ln/>
        </p:spPr>
        <p:txBody>
          <a:bodyPr/>
          <a:lstStyle/>
          <a:p>
            <a:endParaRPr lang="tr-TR"/>
          </a:p>
        </p:txBody>
      </p:sp>
      <p:sp>
        <p:nvSpPr>
          <p:cNvPr id="11" name="Text 9"/>
          <p:cNvSpPr txBox="1"/>
          <p:nvPr/>
        </p:nvSpPr>
        <p:spPr>
          <a:xfrm>
            <a:off x="6460236" y="2011680"/>
            <a:ext cx="2064258" cy="7772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CPC + VND</a:t>
            </a:r>
            <a:endParaRPr lang="en-US" sz="3200" dirty="0"/>
          </a:p>
        </p:txBody>
      </p:sp>
      <p:sp>
        <p:nvSpPr>
          <p:cNvPr id="12" name="Text 10"/>
          <p:cNvSpPr txBox="1"/>
          <p:nvPr/>
        </p:nvSpPr>
        <p:spPr>
          <a:xfrm>
            <a:off x="6460236" y="2926080"/>
            <a:ext cx="2064258" cy="1188720"/>
          </a:xfrm>
          <a:prstGeom prst="rect">
            <a:avLst/>
          </a:prstGeom>
          <a:noFill/>
          <a:ln/>
        </p:spPr>
        <p:txBody>
          <a:bodyPr wrap="square" lIns="0" tIns="0" rIns="0" bIns="0" rtlCol="0" anchor="t"/>
          <a:lstStyle/>
          <a:p>
            <a:pPr marL="0" indent="0">
              <a:lnSpc>
                <a:spcPct val="105000"/>
              </a:lnSpc>
              <a:buNone/>
            </a:pPr>
            <a:r>
              <a:rPr lang="en-US" sz="1500" dirty="0">
                <a:solidFill>
                  <a:srgbClr val="CADCFC"/>
                </a:solidFill>
                <a:latin typeface="Calibri" pitchFamily="34" charset="0"/>
                <a:ea typeface="Calibri" pitchFamily="34" charset="-122"/>
                <a:cs typeface="Calibri" pitchFamily="34" charset="-120"/>
              </a:rPr>
              <a:t>Kontrastlı öngörüsel kodlama ile VND'nin entegrasyonu</a:t>
            </a:r>
            <a:endParaRPr lang="en-US" sz="1500" dirty="0"/>
          </a:p>
        </p:txBody>
      </p:sp>
      <p:sp>
        <p:nvSpPr>
          <p:cNvPr id="13" name="Shape 11"/>
          <p:cNvSpPr/>
          <p:nvPr/>
        </p:nvSpPr>
        <p:spPr>
          <a:xfrm>
            <a:off x="9027414" y="1737360"/>
            <a:ext cx="2521458" cy="2514600"/>
          </a:xfrm>
          <a:prstGeom prst="roundRect">
            <a:avLst>
              <a:gd name="adj" fmla="val 2182"/>
            </a:avLst>
          </a:prstGeom>
          <a:solidFill>
            <a:srgbClr val="2E3E7E"/>
          </a:solidFill>
          <a:ln/>
        </p:spPr>
        <p:txBody>
          <a:bodyPr/>
          <a:lstStyle/>
          <a:p>
            <a:endParaRPr lang="tr-TR"/>
          </a:p>
        </p:txBody>
      </p:sp>
      <p:sp>
        <p:nvSpPr>
          <p:cNvPr id="14" name="Text 12"/>
          <p:cNvSpPr txBox="1"/>
          <p:nvPr/>
        </p:nvSpPr>
        <p:spPr>
          <a:xfrm>
            <a:off x="9256014" y="2011680"/>
            <a:ext cx="2064258" cy="7772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ROS2</a:t>
            </a:r>
            <a:endParaRPr lang="en-US" sz="3200" dirty="0"/>
          </a:p>
        </p:txBody>
      </p:sp>
      <p:sp>
        <p:nvSpPr>
          <p:cNvPr id="15" name="Text 13"/>
          <p:cNvSpPr txBox="1"/>
          <p:nvPr/>
        </p:nvSpPr>
        <p:spPr>
          <a:xfrm>
            <a:off x="9256014" y="2926080"/>
            <a:ext cx="2064258" cy="1188720"/>
          </a:xfrm>
          <a:prstGeom prst="rect">
            <a:avLst/>
          </a:prstGeom>
          <a:noFill/>
          <a:ln/>
        </p:spPr>
        <p:txBody>
          <a:bodyPr wrap="square" lIns="0" tIns="0" rIns="0" bIns="0" rtlCol="0" anchor="t"/>
          <a:lstStyle/>
          <a:p>
            <a:pPr marL="0" indent="0">
              <a:lnSpc>
                <a:spcPct val="105000"/>
              </a:lnSpc>
              <a:buNone/>
            </a:pPr>
            <a:r>
              <a:rPr lang="en-US" sz="1500" dirty="0">
                <a:solidFill>
                  <a:srgbClr val="CADCFC"/>
                </a:solidFill>
                <a:latin typeface="Calibri" pitchFamily="34" charset="0"/>
                <a:ea typeface="Calibri" pitchFamily="34" charset="-122"/>
                <a:cs typeface="Calibri" pitchFamily="34" charset="-120"/>
              </a:rPr>
              <a:t>Robot, ROS ortamında VND ile MNIST rakamlarını tanıyor</a:t>
            </a:r>
            <a:endParaRPr lang="en-US" sz="1500" dirty="0"/>
          </a:p>
        </p:txBody>
      </p:sp>
      <p:sp>
        <p:nvSpPr>
          <p:cNvPr id="16" name="Text 14"/>
          <p:cNvSpPr txBox="1"/>
          <p:nvPr/>
        </p:nvSpPr>
        <p:spPr>
          <a:xfrm>
            <a:off x="640080" y="4754880"/>
            <a:ext cx="10908792"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Teşekkürler.</a:t>
            </a:r>
            <a:endParaRPr lang="en-US" sz="2800" dirty="0"/>
          </a:p>
        </p:txBody>
      </p:sp>
      <p:sp>
        <p:nvSpPr>
          <p:cNvPr id="17" name="Text 15"/>
          <p:cNvSpPr txBox="1"/>
          <p:nvPr/>
        </p:nvSpPr>
        <p:spPr>
          <a:xfrm>
            <a:off x="640080" y="5394960"/>
            <a:ext cx="10908792" cy="777240"/>
          </a:xfrm>
          <a:prstGeom prst="rect">
            <a:avLst/>
          </a:prstGeom>
          <a:noFill/>
          <a:ln/>
        </p:spPr>
        <p:txBody>
          <a:bodyPr wrap="square" lIns="0" tIns="0" rIns="0" bIns="0" rtlCol="0" anchor="t"/>
          <a:lstStyle/>
          <a:p>
            <a:pPr marL="0" indent="0">
              <a:spcAft>
                <a:spcPts val="600"/>
              </a:spcAft>
              <a:buNone/>
            </a:pPr>
            <a:r>
              <a:rPr lang="en-US" sz="1500" dirty="0">
                <a:solidFill>
                  <a:srgbClr val="CADCFC"/>
                </a:solidFill>
                <a:latin typeface="Calibri" pitchFamily="34" charset="0"/>
                <a:ea typeface="Calibri" pitchFamily="34" charset="-122"/>
                <a:cs typeface="Calibri" pitchFamily="34" charset="-120"/>
              </a:rPr>
              <a:t>Bu çalışma 123E674 numaralı TÜBİTAK 1001 projesi ile desteklenmektedir.</a:t>
            </a:r>
            <a:endParaRPr lang="en-US" sz="1500" dirty="0"/>
          </a:p>
          <a:p>
            <a:pPr marL="0" indent="0">
              <a:buNone/>
            </a:pPr>
            <a:r>
              <a:rPr lang="en-US" sz="1500" dirty="0">
                <a:solidFill>
                  <a:srgbClr val="CADCFC"/>
                </a:solidFill>
                <a:latin typeface="Calibri" pitchFamily="34" charset="0"/>
                <a:ea typeface="Calibri" pitchFamily="34" charset="-122"/>
                <a:cs typeface="Calibri" pitchFamily="34" charset="-120"/>
              </a:rPr>
              <a:t>vnd-ogrenme.github.io   ·   github.com/vnd-ogrenme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493</TotalTime>
  <Words>2652</Words>
  <Application>Microsoft Office PowerPoint</Application>
  <PresentationFormat>Geniş ekran</PresentationFormat>
  <Paragraphs>222</Paragraphs>
  <Slides>16</Slides>
  <Notes>16</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16</vt:i4>
      </vt:variant>
    </vt:vector>
  </HeadingPairs>
  <TitlesOfParts>
    <vt:vector size="20" baseType="lpstr">
      <vt:lpstr>Arial</vt:lpstr>
      <vt:lpstr>Calibri</vt:lpstr>
      <vt:lpstr>Cambria</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Yavuz Selim İşler</cp:lastModifiedBy>
  <cp:revision>4</cp:revision>
  <dcterms:created xsi:type="dcterms:W3CDTF">2026-09-23T22:00:07Z</dcterms:created>
  <dcterms:modified xsi:type="dcterms:W3CDTF">2026-09-24T06:23:18Z</dcterms:modified>
</cp:coreProperties>
</file>