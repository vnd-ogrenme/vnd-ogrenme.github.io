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60" r:id="rId4"/>
    <p:sldId id="261" r:id="rId5"/>
    <p:sldId id="262" r:id="rId6"/>
    <p:sldId id="276" r:id="rId7"/>
    <p:sldId id="277" r:id="rId8"/>
    <p:sldId id="278" r:id="rId9"/>
    <p:sldId id="279" r:id="rId10"/>
    <p:sldId id="280" r:id="rId11"/>
    <p:sldId id="281" r:id="rId12"/>
    <p:sldId id="263" r:id="rId13"/>
    <p:sldId id="264" r:id="rId14"/>
    <p:sldId id="265" r:id="rId15"/>
    <p:sldId id="258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618" y="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123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tek cümlesi: robot kapıyı bir karar kuralıyla değil, spike ağının ateşleme zamanlarıyla seçiyor. Mavi ve amber çizgiler sunu boyunca iki sinyali temsil ediyor: mavi bellek ve tahmin, amber kapı ve kanıt.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zarı sabit sayıyoruz; bu, türetimin kolay yarısı. Sonuç öngörü hatası çarpı zar potansiyeli. Ama zar potansiyeli de ağırlıklarla hesaplandığı için bu, gradyanın yalnızca bir kısmı.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 iki yeni büyüklük doğuyor. Global sinyal, kaybın zara göre türevi: bütün hataların ağırlıklı toplamı. Uygunluk izi, zarın ağırlığa göre türevi: zar denklemiyle aynı biçimde, sızıntılı bir toplam olarak güncelleniyor.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büyüklüğün hepsi yerel: öngörü hatası ve uygunluk izi sinapsta, Global sinyal nöronda. Tek nöron figüründe (CL_fig1.py) güncelleme ağırlıkla çarpılmış biçimde kullanılıyor; Brian ağımız türetimdeki toplamalı biçimi kullanıyor.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Brian2 notlarımdaki ayrım: E nöronda tanımlı ama sinapslarda hesaplanıyor, çünkü parçaları olan ε ve w sinapslarda. Her NumPy toplamı Brian2de nörona toplanan bir değişkene dönüşüyor.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78DC1-482B-ADFE-0B19-ED13CC83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05BF5-1953-5F17-414F-C0306B192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E76EA-A68D-F573-B17E-1806A2E6A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Brian2 notlarımdaki ayrım: E nöronda tanımlı ama sinapslarda hesaplanıyor, çünkü parçaları olan ε ve w sinapslarda. Her NumPy toplamı Brian2de nörona toplanan bir değişkene dönüşüyor.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030E7-EC9D-7A1A-F315-93B2250C8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2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B5F4-5CA4-598A-C670-4214C357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A32E8-2267-B392-E9D0-A8440C08A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F970F-E9EE-A1B5-5D2B-D04B7424A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Brian2 notlarımdaki ayrım: E nöronda tanımlı ama sinapslarda hesaplanıyor, çünkü parçaları olan ε ve w sinapslarda. Her NumPy toplamı Brian2de nörona toplanan bir değişkene dönüşüyor.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8C0DC-1F1B-5E42-4903-35C6120076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68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BA92D-C3C0-22A8-41CA-7454BDDF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C6314-B4D4-61E8-5C64-1E5F1A11A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6E94A-72EA-30F4-9331-300E77272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Brian2 notlarımdaki ayrım: E nöronda tanımlı ama sinapslarda hesaplanıyor, çünkü parçaları olan ε ve w sinapslarda. Her NumPy toplamı Brian2de nörona toplanan bir değişkene dönüşüyor.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4BA73-5D4E-BC12-DF71-2CCCB88FD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93F6E-E791-ACB7-A608-95AF45B3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9510C-373D-A9CA-E38F-2618F19ED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E7BCC-1D22-05DB-44A3-10646B944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Brian2 notlarımdaki ayrım: E nöronda tanımlı ama sinapslarda hesaplanıyor, çünkü parçaları olan ε ve w sinapslarda. Her NumPy toplamı Brian2de nörona toplanan bir değişkene dönüşüyor.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1AEDD-A293-74C3-0DD8-7CDD43EF75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63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6C16-3EB2-2577-41E5-44DECBAE0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CD53B-D65A-0AD3-9BE3-D82A5FB6D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8C6B6-69C9-D91B-EE2F-443FDE2CF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Brian2 notlarımdaki ayrım: E nöronda tanımlı ama sinapslarda hesaplanıyor, çünkü parçaları olan ε ve w sinapslarda. Her NumPy toplamı Brian2de nörona toplanan bir değişkene dönüşüyor.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146D2-E21F-6A44-99BF-7CF9C766A3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50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8B55C-E70B-84ED-6BDB-93135A5C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B4749-4CE4-057F-91AC-2759A5A42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46DF1-C1EC-8ED5-A66A-5ACCAF121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Brian2 notlarımdaki ayrım: E nöronda tanımlı ama sinapslarda hesaplanıyor, çünkü parçaları olan ε ve w sinapslarda. Her NumPy toplamı Brian2de nörona toplanan bir değişkene dönüşüyor.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06A0E-479D-7073-2219-1820AD5A8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Yayının Şekil 1 sonucu. Aynı parametrelerle yeniden çalıştırıldı; sonuç önceki figürlerimizle aynı: w1 0.094, w2 0.016.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Katkı yöntemsel: kuralın bütünü sürekli zamanda, sinaps-yerel değişkenlerle kuruldu. Bir sınırlama: n_of adım boyuna bağlı, model Δt = 0.05 ms için yayının filtresini birebir üretiyor.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Afferentler yalnızca eğitimde bilgi taşıdı; kullanımda sadece gürültü taşıyor. İki ipucu yolu, öğrenmeden sonra eklenen sabit, öğrenmeyen bağlantılar.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geri kalanında izleyeceğimiz örnek. Robot kapıları sırayla okuyabilir; her kapı için ağa ayrı bir soru sorulur ve karar üç ateşleme zamanının en küçüğünden çıkar.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öngörücü kodlamanın imzası: tahmin edilebilen girdi dinlenmiyor. Pratik sonucu da var: nöron 1–9 artık kendi girdisiyle uyarılamıyor, bu yüzden doğrudan ipucu yolunu ekledik.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Sıkıştırılmış geri çağırma ve kendiliğinden tekrar, yayının Şekil 3 sonuçları; sürekli zamanlı uygulamamız ikisini de üretiyor. Tekrarın nöron 1 den başlaması, afferent ağırlığını koruyan nöronlardan biri olmasıyla açıklanıyor.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Formül, öğrenilmiş ağırlıklardan gecikmeyi simülasyonsuz veriyor ve simülasyonla yüzde birler düzeyinde örtüşüyor. 0→1 bağının zayıflığı sonraki slaytlardaki tasarım kararlarını belirledi.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bölümün ana fikri. Robotun yaptığı tek işlem, üç ateşleme zamanının en küçüğünü almak; bu biyolojide yanal inhibisyonla kazanan-hepsini-alır rekabetine karşılık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Kapı 3 nöronu ön avansa rağmen nöron 2 ateşleyene kadar bekliyor; kapı 7 kaskat oraya varınca ateşliyor. Robot bu üç sayıyı karşılaştırmıyor, en küçüğünü 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Kapı ipucu bir nöronu öne alamaz, yalnız sırası geldiğinde hızlandırır. Bu yüzden ardıl kapı ile iki adım ötesi arasında en az 1.3 ms fark kalıyor.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Satır 0 özel: nöron 1 desteksiz ateşleyemediği için kanıt yoksa kaskat hiç başlamıyor. Bu, doğru kapıyı yine tek başına öne çıkarıyor.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Entegrasyon için gereken her şey hazır: tek dosya, iki ağırlık dosyası ve kısa açıklama. Sonraki adımlar ekibin önceliklerine göre sıralanabilir.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urtleBot3 robotu, MNIST rakamlı tabelaları olan ahşap kavşağın önünde"/>
          <p:cNvPicPr>
            <a:picLocks noChangeAspect="1"/>
          </p:cNvPicPr>
          <p:nvPr/>
        </p:nvPicPr>
        <p:blipFill>
          <a:blip r:embed="rId3"/>
          <a:srcRect l="26020" r="26020"/>
          <a:stretch/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1496146"/>
            <a:ext cx="762000" cy="63500"/>
          </a:xfrm>
          <a:prstGeom prst="rect">
            <a:avLst/>
          </a:prstGeom>
          <a:solidFill>
            <a:srgbClr val="2E62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1"/>
          <p:cNvSpPr/>
          <p:nvPr/>
        </p:nvSpPr>
        <p:spPr>
          <a:xfrm>
            <a:off x="1651000" y="1496146"/>
            <a:ext cx="762000" cy="63500"/>
          </a:xfrm>
          <a:prstGeom prst="rect">
            <a:avLst/>
          </a:prstGeom>
          <a:solidFill>
            <a:srgbClr val="E09A1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812800" y="1813646"/>
            <a:ext cx="5232400" cy="226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EEF2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Spike zamanıyla karar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12800" y="4307753"/>
            <a:ext cx="5232400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EF2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Öngörücü öğrenme kuralıyla eğitilmiş bir spike ağı, robotun kontrol noktasında doğru kapıyı seçiyor.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5130655"/>
            <a:ext cx="5232400" cy="256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8C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 ekibi sunumu, Eylül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Önce zar sabit sayılır: </a:t>
            </a:r>
            <a:r>
              <a:rPr lang="en-US" sz="3000" b="1" dirty="0" err="1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doğrudan</a:t>
            </a: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3000" b="1" dirty="0" err="1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gradyan</a:t>
            </a:r>
            <a:r>
              <a:rPr lang="tr-TR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hesaplanır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85900"/>
            <a:ext cx="3924300" cy="878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Zar potansiyeli bir sonraki girdiyi tahmin eder: </a:t>
            </a:r>
            <a:r>
              <a:rPr lang="en-US" sz="1600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tahmin v·w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Kayıp, </a:t>
            </a:r>
            <a:r>
              <a:rPr lang="en-US" sz="1600" dirty="0" err="1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tahmin</a:t>
            </a:r>
            <a:r>
              <a:rPr lang="tr-TR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ile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8F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girdiler</a:t>
            </a:r>
            <a:r>
              <a:rPr lang="tr-TR" sz="1600" dirty="0">
                <a:solidFill>
                  <a:srgbClr val="8F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</a:t>
            </a:r>
            <a:r>
              <a:rPr lang="tr-TR" sz="16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farkının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karesel sapması.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517054"/>
            <a:ext cx="3924300" cy="878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Önceki adımın zar potansiyeli sabit sayılırsa i. ağırlığa yalnız kendi terimi bağlıdır.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548207"/>
            <a:ext cx="3924300" cy="878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tr-TR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İlk p</a:t>
            </a:r>
            <a:r>
              <a:rPr lang="en-US" sz="1600" dirty="0" err="1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arantezdeki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fark öngörü hatasıdır; doğrudan gradyan, hata çarpı zar potansiyeli.</a:t>
            </a:r>
            <a:endParaRPr lang="en-US" sz="1600" dirty="0"/>
          </a:p>
        </p:txBody>
      </p:sp>
      <p:pic>
        <p:nvPicPr>
          <p:cNvPr id="7" name="Image 0" descr="Kayıp fonksiyonu, doğrudan gradyan ve öngörü hatası denklemleri"/>
          <p:cNvPicPr>
            <a:picLocks noChangeAspect="1"/>
          </p:cNvPicPr>
          <p:nvPr/>
        </p:nvPicPr>
        <p:blipFill>
          <a:blip r:embed="rId3"/>
          <a:srcRect t="-38" b="-38"/>
          <a:stretch/>
        </p:blipFill>
        <p:spPr>
          <a:xfrm>
            <a:off x="5029200" y="1485899"/>
            <a:ext cx="6701900" cy="36450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800" y="6238297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Türetim: Saponati ve Vinck (2023) Methods, Denklem 9–17; el yazısı notlardan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93399" y="6238297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Zar da ağırlıklara bağlı: dolaylı gradyan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00423" y="1485900"/>
            <a:ext cx="6867525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Önceki adımın zar potansiyeli de ağırlıklarla hesaplanır; sabit sayılamaz.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0423" y="2219902"/>
            <a:ext cx="6867525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Zincir kuralı: toplam gradyan, doğrudan terim ile zar üzerinden gelen dolaylı terimin toplamı.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0423" y="2973170"/>
            <a:ext cx="6867525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Zara göre türev, bütün sinapsların hatalarını ağırlıklarıyla toplar: Global sinyal.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0423" y="3667053"/>
            <a:ext cx="6867525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Zarın ağırlığa göre türevi zar denkleminden gelir. Spike sıfırlaması türevlenemediği için ihmal edilir; yayının uygulaması da böyle.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0423" y="4402371"/>
            <a:ext cx="6867525" cy="30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Bu türev, sızıntılı bir iz gibi adım adım güncellenir: uygunluk izi.</a:t>
            </a:r>
            <a:endParaRPr lang="en-US" sz="1600" dirty="0"/>
          </a:p>
        </p:txBody>
      </p:sp>
      <p:pic>
        <p:nvPicPr>
          <p:cNvPr id="8" name="Image 0" descr="Dolaylı gradyan: zar denklemi, zincir kuralı, Global sinyal ve uygunluk izi"/>
          <p:cNvPicPr>
            <a:picLocks noChangeAspect="1"/>
          </p:cNvPicPr>
          <p:nvPr/>
        </p:nvPicPr>
        <p:blipFill>
          <a:blip r:embed="rId3"/>
          <a:srcRect l="-18" r="-18"/>
          <a:stretch/>
        </p:blipFill>
        <p:spPr>
          <a:xfrm>
            <a:off x="7171766" y="836127"/>
            <a:ext cx="4715434" cy="51833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2800" y="6238295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Uygunluk izi, gradyanı geriye yayılım olmadan, ileri yönde taşır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93399" y="6238295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Öğrenme kuralı üç yerel büyüklükten oluşuyor</a:t>
            </a:r>
            <a:endParaRPr lang="en-US" sz="3000" dirty="0"/>
          </a:p>
        </p:txBody>
      </p:sp>
      <p:pic>
        <p:nvPicPr>
          <p:cNvPr id="3" name="Image 0" descr="Toplam gradyan ve öğrenme kuralı: öngörü hatası, Global sinyal, uygunluk izi"/>
          <p:cNvPicPr>
            <a:picLocks noChangeAspect="1"/>
          </p:cNvPicPr>
          <p:nvPr/>
        </p:nvPicPr>
        <p:blipFill>
          <a:blip r:embed="rId3"/>
          <a:srcRect t="-54" b="-54"/>
          <a:stretch/>
        </p:blipFill>
        <p:spPr>
          <a:xfrm>
            <a:off x="812800" y="1485900"/>
            <a:ext cx="6985000" cy="3003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743450"/>
            <a:ext cx="5232400" cy="878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Gradyan inişi eksi işaretini kaldırır: ağırlık, hatayı azaltan yönde değişir. Her parça sinapsın ve nöronun o anki bilgisinden hesaplanır.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98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Saponati ve Vinck, Nature Communications 14:4985 (2023)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Hata sinapsta, Global sinyal nöronda</a:t>
            </a:r>
            <a:endParaRPr lang="en-US" sz="3000" dirty="0"/>
          </a:p>
        </p:txBody>
      </p:sp>
      <p:pic>
        <p:nvPicPr>
          <p:cNvPr id="3" name="Image 0" descr="Animasyon: girdi izleri, zarın tahmini, öngörü hataları, Global sinyalin toplanıp geri dönmesi ve ağırlık güncellemesi"/>
          <p:cNvPicPr>
            <a:picLocks noChangeAspect="1"/>
          </p:cNvPicPr>
          <p:nvPr/>
        </p:nvPicPr>
        <p:blipFill>
          <a:blip r:embed="rId3"/>
          <a:srcRect l="-37" r="-37"/>
          <a:stretch/>
        </p:blipFill>
        <p:spPr>
          <a:xfrm>
            <a:off x="53973" y="1485898"/>
            <a:ext cx="7790145" cy="4559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95128" y="1325276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Öngörü hatası, sinapsta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95128" y="1674903"/>
            <a:ext cx="3854825" cy="655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</a:t>
            </a:r>
            <a:r>
              <a:rPr lang="tr-TR" sz="14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iş</a:t>
            </a:r>
            <a:r>
              <a:rPr lang="en-US" sz="14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ile zarın o sinapstaki tahmini (v·w) arasındaki fark. Her sinapsın kendi hatası var.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95128" y="2447209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sinyal, nöronda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5128" y="2752006"/>
            <a:ext cx="3715004" cy="74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Bütün sinapsların hatası ağırlıklarıyla toplanır. Nöron tek bir sayı tutar ve her sinapsa geri gönderir.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5127" y="3659040"/>
            <a:ext cx="37150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Uygunluk izi, sinapsta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95128" y="3965358"/>
            <a:ext cx="3715004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Ağırlığın zara geçmişteki katkısının hafızası; zar zaman sabitiyle (26 ms) söner.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98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Brian2'de: ε ve p sinaps </a:t>
            </a:r>
            <a:r>
              <a:rPr lang="en-US" sz="1200" dirty="0" err="1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nesnesinde</a:t>
            </a: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tr-TR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bulunur</a:t>
            </a: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 sinapslarda hesaplanıp nörona toplanır (summed)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09EF2-94FB-0969-8709-DB65857A0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F7D377-C08A-99F5-26D0-4BE022FB5834}"/>
              </a:ext>
            </a:extLst>
          </p:cNvPr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Hata sinapsta, Global sinyal nöronda</a:t>
            </a:r>
            <a:endParaRPr lang="en-US" sz="3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F10F17A-8CEE-FD45-A434-6525F83F5E44}"/>
              </a:ext>
            </a:extLst>
          </p:cNvPr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292F94BF-E204-2530-5B74-BA59D1A9B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57"/>
            <a:ext cx="12192000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05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5B25E-5634-8072-2B64-92720048B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1B2D0E-B05C-4BC3-7A68-CBA937511FA8}"/>
              </a:ext>
            </a:extLst>
          </p:cNvPr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Hata sinapsta, Global sinyal nöronda</a:t>
            </a:r>
            <a:endParaRPr lang="en-US" sz="3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68E1248-98D1-0BE7-1A4A-AF50E49873B6}"/>
              </a:ext>
            </a:extLst>
          </p:cNvPr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43B600C-3B0D-E8F9-27DA-1AC0CC50C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57"/>
            <a:ext cx="12192000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32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97DA3-8BEE-8D31-E8E7-A4E02115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4D0A1C-810D-6B53-8D80-246F13B0B855}"/>
              </a:ext>
            </a:extLst>
          </p:cNvPr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Hata sinapsta, Global sinyal nöronda</a:t>
            </a:r>
            <a:endParaRPr lang="en-US" sz="3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48C6FAC-E950-1230-16AC-EDC95895968F}"/>
              </a:ext>
            </a:extLst>
          </p:cNvPr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233DBA9-5E29-FB87-E248-588E86DC9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57"/>
            <a:ext cx="12192000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16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CC9FD-DC70-A6D8-6B5D-C7C5935F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6ED982-367A-C4D3-E881-8F85CB6DC068}"/>
              </a:ext>
            </a:extLst>
          </p:cNvPr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Hata sinapsta, Global sinyal nöronda</a:t>
            </a:r>
            <a:endParaRPr lang="en-US" sz="3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5250B06-2EE3-291E-94CB-BA44875F392C}"/>
              </a:ext>
            </a:extLst>
          </p:cNvPr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5AAF309-547F-D01B-3EC7-1C6B10996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57"/>
            <a:ext cx="12192000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27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3A313-A49C-CB7E-ACF0-BD7718CC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CDA7E9-E41C-C493-A6AF-BC6C60181294}"/>
              </a:ext>
            </a:extLst>
          </p:cNvPr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Hata sinapsta, Global sinyal nöronda</a:t>
            </a:r>
            <a:endParaRPr lang="en-US" sz="3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CC867C0-2FEA-9DEF-C2EE-9950F22A7CCE}"/>
              </a:ext>
            </a:extLst>
          </p:cNvPr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DF7E784-8F52-D5C1-B2DF-A78642AFC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57"/>
            <a:ext cx="12192000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25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A50B93-F5F0-2D86-D96A-05510F1C9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C1B8B9-A05A-3D68-8149-0BDF7168BECE}"/>
              </a:ext>
            </a:extLst>
          </p:cNvPr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Hata sinapsta, Global sinyal nöronda</a:t>
            </a:r>
            <a:endParaRPr lang="en-US" sz="3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A1E2D0B-1A30-80AE-4BFE-B5B853B679A5}"/>
              </a:ext>
            </a:extLst>
          </p:cNvPr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D26314B-A34E-109E-78EE-5D58D57FB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57"/>
            <a:ext cx="12192000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96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Öğrenmeyle spike ikinci girdiden önceye kayıyor</a:t>
            </a:r>
            <a:endParaRPr lang="en-US" sz="3000" dirty="0"/>
          </a:p>
        </p:txBody>
      </p:sp>
      <p:pic>
        <p:nvPicPr>
          <p:cNvPr id="3" name="Image 0" descr="Öğrenme öncesi ve sonrası zar potansiyeli; ağırlıkların epoch boyunca değişimi"/>
          <p:cNvPicPr>
            <a:picLocks noChangeAspect="1"/>
          </p:cNvPicPr>
          <p:nvPr/>
        </p:nvPicPr>
        <p:blipFill>
          <a:blip r:embed="rId3"/>
          <a:srcRect l="-41" r="-41"/>
          <a:stretch/>
        </p:blipFill>
        <p:spPr>
          <a:xfrm>
            <a:off x="812800" y="1485900"/>
            <a:ext cx="9905999" cy="3473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213353"/>
            <a:ext cx="10883391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 nöron, iki girdi (2 ve 6 ms). 300 epoch sonra nöron 6.3 yerine 3.7 ms'de ateşliyor: ikinci girdiyi önceden haber veren birinci girdiye bağlandı.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95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NumPy, ayrık filtre; CL_fig1.py yeniden çalıştırıldı (τm = 10 ms, eşik 2)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93399" y="6238295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1101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Kural artık sürekli zamanda tanımlı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12800" y="5294492"/>
            <a:ext cx="10883391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n_of = τm/Δt = 520 çarpanı sayesinde bir spike iki modelde de zara aynı toplam </a:t>
            </a:r>
            <a:r>
              <a:rPr lang="en-US" sz="1600" dirty="0" err="1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yükü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bırakır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Brian denkleminin bir Euler adımı, Saponati'nin satırını birebir geri verir.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5999590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Yayın öğrenme kuralını yalnız ayrık zamanda veriyor; burada v, x, p ve w diferansiyel denklem, ε ve E anlık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93399" y="6238292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ADCF50E6-CF91-025A-AA9C-91C1E96AB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29" y="812799"/>
            <a:ext cx="10905251" cy="4207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Zincir, iki ipucu yolundan sorgulanıyor</a:t>
            </a:r>
            <a:endParaRPr lang="en-US" sz="3000" dirty="0"/>
          </a:p>
        </p:txBody>
      </p:sp>
      <p:pic>
        <p:nvPicPr>
          <p:cNvPr id="3" name="Image 0" descr="Ağ şeması: 80 afferent hat, 10 LIF nöronu, ileri ve geri bağlar, bellek ve kapı ipucu yolları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427643" y="1257300"/>
            <a:ext cx="7729559" cy="4587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599" y="1775001"/>
            <a:ext cx="3244088" cy="26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Eğitim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599" y="2178840"/>
            <a:ext cx="3244088" cy="743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0→9 dizisi afferentlerden 5000 epoch verildi; bütün ağırlıklar yerel kuralla öğrendi.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599" y="3202373"/>
            <a:ext cx="3244088" cy="26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Öğrenme sonrası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599" y="3606212"/>
            <a:ext cx="3244088" cy="777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İleri bağlar büyüdü, geri bağlar negatife döndü, afferentlerin çoğu sustu.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599" y="4451069"/>
            <a:ext cx="3244088" cy="26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Kullanım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599" y="4720295"/>
            <a:ext cx="3244088" cy="6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Öğrenme kapalı. </a:t>
            </a:r>
            <a:r>
              <a:rPr lang="en-US" sz="1400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Bellek ipucu</a:t>
            </a:r>
            <a:r>
              <a:rPr lang="en-US" sz="14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(+4.5) ve </a:t>
            </a:r>
            <a:r>
              <a:rPr lang="en-US" sz="1400" dirty="0">
                <a:solidFill>
                  <a:srgbClr val="8F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kapı ipucu</a:t>
            </a:r>
            <a:r>
              <a:rPr lang="en-US" sz="14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(+1.8) zara doğrudan eklenir.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98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Afferent çizgilerin koyuluğu öğrenilmiş ağırlığı gösterir (epoch 3750)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Bir kontrol noktası: bellek 1, kapılar 2, 3 ve 7</a:t>
            </a:r>
            <a:endParaRPr lang="en-US" sz="3000" dirty="0"/>
          </a:p>
        </p:txBody>
      </p:sp>
      <p:pic>
        <p:nvPicPr>
          <p:cNvPr id="3" name="Image 0" descr="Temsili çizim: robot arkadan görünüyor, bellekte 1, önünde 2, 3 ve 7 tabelalı üç kapı"/>
          <p:cNvPicPr>
            <a:picLocks noChangeAspect="1"/>
          </p:cNvPicPr>
          <p:nvPr/>
        </p:nvPicPr>
        <p:blipFill>
          <a:blip r:embed="rId3"/>
          <a:srcRect t="-24" b="-24"/>
          <a:stretch/>
        </p:blipFill>
        <p:spPr>
          <a:xfrm>
            <a:off x="812800" y="1485898"/>
            <a:ext cx="7112000" cy="4000500"/>
          </a:xfrm>
          <a:prstGeom prst="roundRect">
            <a:avLst>
              <a:gd name="adj" fmla="val 1905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280399" y="1485898"/>
            <a:ext cx="3191764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Robot 1 rakamlı kapıdan geldi: </a:t>
            </a:r>
            <a:r>
              <a:rPr lang="en-US" sz="1600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bellekte 1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80399" y="2258002"/>
            <a:ext cx="3191764" cy="30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Önünde üç tabela: 2, 3 ve 7.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80399" y="2745653"/>
            <a:ext cx="3191764" cy="154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Doğru kapı 2; </a:t>
            </a:r>
            <a:r>
              <a:rPr lang="tr-TR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 noktada bellekteki bilgi «1» olduğundan 1. nöronu temsil ediyor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r>
              <a:rPr lang="tr-TR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Ve kameradan gelen bilgilere göre eşleştirme yapıyor. 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6238297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Temsili çizim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93399" y="6238297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Öğrenme bilgiyi girdilerden zincire taşıdı</a:t>
            </a:r>
            <a:endParaRPr lang="en-US" sz="3000" dirty="0"/>
          </a:p>
        </p:txBody>
      </p:sp>
      <p:pic>
        <p:nvPicPr>
          <p:cNvPr id="3" name="Image 0" descr="İleri ve geri bağ ağırlıkları; afferent ağırlık ısı haritası"/>
          <p:cNvPicPr>
            <a:picLocks noChangeAspect="1"/>
          </p:cNvPicPr>
          <p:nvPr/>
        </p:nvPicPr>
        <p:blipFill>
          <a:blip r:embed="rId3"/>
          <a:srcRect l="-48" r="-48"/>
          <a:stretch/>
        </p:blipFill>
        <p:spPr>
          <a:xfrm>
            <a:off x="812800" y="1485900"/>
            <a:ext cx="9524999" cy="3473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213350"/>
            <a:ext cx="10883391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İleri bağlar 0.001'den 0.07–0.13'e büyüdü, geri bağlar negatife döndü. Nöron 3–9 afferentlerini neredeyse bıraktı: girdileri artık bir önceki nörondan tahmin ediliyor.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98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Brian2, epoch 3750; başlangıç: komşu bağlar 0.001, afferentler 0.025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Tek başlangıç tüm diziyi çağırıyor</a:t>
            </a:r>
            <a:endParaRPr lang="en-US" sz="3000" dirty="0"/>
          </a:p>
        </p:txBody>
      </p:sp>
      <p:pic>
        <p:nvPicPr>
          <p:cNvPr id="3" name="Image 0" descr="Geri çağırma raster grafiği ve kendiliğinden tekrar"/>
          <p:cNvPicPr>
            <a:picLocks noChangeAspect="1"/>
          </p:cNvPicPr>
          <p:nvPr/>
        </p:nvPicPr>
        <p:blipFill>
          <a:blip r:embed="rId3"/>
          <a:srcRect l="-105" r="-105"/>
          <a:stretch/>
        </p:blipFill>
        <p:spPr>
          <a:xfrm>
            <a:off x="812800" y="1485900"/>
            <a:ext cx="9524999" cy="3460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200650"/>
            <a:ext cx="10883391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Solda yalnız nöron 0 uyarıldı; 1–9 kendi kendine 19 ms'de ateşledi (eğitim girdisi ~50 ms). Sağda ipucu yokken gürültüden gelen tek spike, 2–9'u başlattı.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98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Brian2, epoch 3750; sağ panel nöron 8 sorgusu sırasında kaydedilen gerçek koşu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Ağ ardılı söylüyor; gecikme formülden çıkıyor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85900"/>
            <a:ext cx="3139440" cy="807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450/450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2318978"/>
            <a:ext cx="3139440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doğru ardıl: 9 rakam, her biri 50 gürültülü deneme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3102483"/>
            <a:ext cx="3139440" cy="807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≈ 2 ms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12800" y="3935561"/>
            <a:ext cx="3139440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orta bağlarda ardılın gecikmesi, sapma 0.05 ms altında</a:t>
            </a:r>
            <a:endParaRPr lang="en-US" sz="1300" dirty="0"/>
          </a:p>
        </p:txBody>
      </p:sp>
      <p:pic>
        <p:nvPicPr>
          <p:cNvPr id="7" name="Image 0" descr="Her bağ için kapalı çözüm ve simülasyon gecikmesi"/>
          <p:cNvPicPr>
            <a:picLocks noChangeAspect="1"/>
          </p:cNvPicPr>
          <p:nvPr/>
        </p:nvPicPr>
        <p:blipFill>
          <a:blip r:embed="rId3"/>
          <a:srcRect l="-25" r="-25"/>
          <a:stretch/>
        </p:blipFill>
        <p:spPr>
          <a:xfrm>
            <a:off x="3908470" y="1485900"/>
            <a:ext cx="7470730" cy="30785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67200" y="5615791"/>
            <a:ext cx="7325360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0→1 bağında tek spike'ın tepesi 2.25 &lt; 3: bu bağ tek başına ateşletemiyor, ikinci bir ipucuya ya da kanıta ihtiyaç duyuyor.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800" y="6238298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Doğrudan ipucu: nöron k, 20/40/60 ms; okuma: ipucudan sonra ilk ateşleyen nöron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A57B1BE4-1C78-C498-0E38-3EE5DC9DC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117" y="4564424"/>
            <a:ext cx="6645907" cy="9329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139373"/>
            <a:ext cx="762000" cy="63500"/>
          </a:xfrm>
          <a:prstGeom prst="rect">
            <a:avLst/>
          </a:prstGeom>
          <a:solidFill>
            <a:srgbClr val="2E62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651000" y="2139373"/>
            <a:ext cx="762000" cy="63500"/>
          </a:xfrm>
          <a:prstGeom prst="rect">
            <a:avLst/>
          </a:prstGeom>
          <a:solidFill>
            <a:srgbClr val="E09A1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12800" y="2456873"/>
            <a:ext cx="10883391" cy="772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EEF2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Karar kuralı yazılmadı.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3457575"/>
            <a:ext cx="10883391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dirty="0">
                <a:solidFill>
                  <a:srgbClr val="EEF2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Kapıyı, en erken ateşleyen kapı nöronu seçiyor.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4149725"/>
            <a:ext cx="9156699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8C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Rakam karşılaştırması ve if/else yok: bellekten gelen tahmin ile kapıdan gelen kanıt aynı nöronda buluşunca spike erken gelir.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Bellek 1: kapı 2 en erken ateşliyor</a:t>
            </a:r>
            <a:endParaRPr lang="en-US" sz="3000" dirty="0"/>
          </a:p>
        </p:txBody>
      </p:sp>
      <p:pic>
        <p:nvPicPr>
          <p:cNvPr id="3" name="Image 0" descr="Bellek 1 için kapı 2, 3 ve 7 sorgularında zar potansiyeli izleri"/>
          <p:cNvPicPr>
            <a:picLocks noChangeAspect="1"/>
          </p:cNvPicPr>
          <p:nvPr/>
        </p:nvPicPr>
        <p:blipFill>
          <a:blip r:embed="rId3"/>
          <a:srcRect l="-85" r="-85"/>
          <a:stretch/>
        </p:blipFill>
        <p:spPr>
          <a:xfrm>
            <a:off x="812800" y="1485900"/>
            <a:ext cx="9524999" cy="3498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238750"/>
            <a:ext cx="10883391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 kapı ayrı bir 60 ms'lik sorgu. Seçim, üç gecikmenin en küçüğü: kapı 2 için 0.85 ms, kapı 3 için 4.35 ms, kapı 7 için 12.70 ms.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98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Brian2, epoch 3750 ağırlıkları, gürültüsüz; bellek +4.5, kapı +1.8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Tahmin ve kanıt buluşunca spike erken gelir</a:t>
            </a:r>
            <a:endParaRPr lang="en-US" sz="3000" dirty="0"/>
          </a:p>
        </p:txBody>
      </p:sp>
      <p:pic>
        <p:nvPicPr>
          <p:cNvPr id="3" name="Image 0" descr="Eşleşme durumunda tahmin ve kanıt aynı nöronda; k+2 durumunda kanıtlı nöron sırasını bekliyor"/>
          <p:cNvPicPr>
            <a:picLocks noChangeAspect="1"/>
          </p:cNvPicPr>
          <p:nvPr/>
        </p:nvPicPr>
        <p:blipFill>
          <a:blip r:embed="rId3"/>
          <a:srcRect l="-105" r="-105"/>
          <a:stretch/>
        </p:blipFill>
        <p:spPr>
          <a:xfrm>
            <a:off x="812800" y="1485906"/>
            <a:ext cx="9207499" cy="3194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933956"/>
            <a:ext cx="5232400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2E62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Bellek ipucu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nöron k'yı ateşletir; öğrenilmiş bağ k+1'e tahmin akımı taşır.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99200" y="4933956"/>
            <a:ext cx="5232400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8F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Kapı ipucu</a:t>
            </a:r>
            <a:r>
              <a:rPr lang="en-US" sz="16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tek başına eşiği aşamaz. Tahminle çakışırsa k+1 erken ateşler; k+2 sırasını bekler.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98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Bellek ipucu +4.5 (eşik 3 üstü), kapı ipucu +1.8 (eşik altı), ikisi de aynı anda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693399" y="6238298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Her </a:t>
            </a:r>
            <a:r>
              <a:rPr lang="tr-TR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kapı bilgisi hafızaya atıldıktan sonra doğru kapı bulma başarısı</a:t>
            </a:r>
            <a:endParaRPr lang="en-US" sz="3000" dirty="0"/>
          </a:p>
        </p:txBody>
      </p:sp>
      <p:pic>
        <p:nvPicPr>
          <p:cNvPr id="3" name="Image 0" descr="Bellek ve kapı çiftleri için kapı nöronu gecikme matrisi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812800" y="1485900"/>
            <a:ext cx="4737100" cy="431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7100" y="1485900"/>
            <a:ext cx="5494020" cy="807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0.65–1.35 ms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6007100" y="2318965"/>
            <a:ext cx="5494020" cy="26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doğru kapı, amber köşegen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07100" y="2812318"/>
            <a:ext cx="5494020" cy="807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≥ 2.65 ms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007100" y="3645396"/>
            <a:ext cx="5494020" cy="26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erken yanlış kapı (k+2)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07100" y="4138749"/>
            <a:ext cx="5533263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Çizgi: kapı nöronu hiç ateşlemedi. Bellekten küçük kapılar ateşlemiyor, çünkü geri bağlar negatif.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2800" y="6238292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Brian2, gürültüsüz; gürültü altında da doğru 0.65–1.45 ms, yanlış ≥ 2.65 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93399" y="6238292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Robotta karar üç çift sorgusuyla veriliyor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325" y="1495425"/>
            <a:ext cx="1687801" cy="1042699"/>
          </a:xfrm>
          <a:prstGeom prst="roundRect">
            <a:avLst>
              <a:gd name="adj" fmla="val 6394"/>
            </a:avLst>
          </a:prstGeom>
          <a:solidFill>
            <a:srgbClr val="FBFCFD"/>
          </a:solidFill>
          <a:ln w="19050">
            <a:solidFill>
              <a:srgbClr val="5E6A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958273" y="1631379"/>
            <a:ext cx="14667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Kamera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8273" y="1923479"/>
            <a:ext cx="1466706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üç tabelanın görüntüsü</a:t>
            </a:r>
            <a:endParaRPr lang="en-US" sz="13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21251" y="1940582"/>
            <a:ext cx="304800" cy="152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37176" y="1495425"/>
            <a:ext cx="1687873" cy="1042699"/>
          </a:xfrm>
          <a:prstGeom prst="roundRect">
            <a:avLst>
              <a:gd name="adj" fmla="val 6394"/>
            </a:avLst>
          </a:prstGeom>
          <a:solidFill>
            <a:srgbClr val="FBFCFD"/>
          </a:solidFill>
          <a:ln w="19050">
            <a:solidFill>
              <a:srgbClr val="E09A1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3173124" y="1631379"/>
            <a:ext cx="146677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Diehl &amp; Cook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73124" y="1923479"/>
            <a:ext cx="1466778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kapı rakamları d₁, d₂, d₃</a:t>
            </a:r>
            <a:endParaRPr lang="en-US" sz="13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36174" y="1940582"/>
            <a:ext cx="304800" cy="152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252099" y="1495425"/>
            <a:ext cx="1687801" cy="1042699"/>
          </a:xfrm>
          <a:prstGeom prst="roundRect">
            <a:avLst>
              <a:gd name="adj" fmla="val 6394"/>
            </a:avLst>
          </a:prstGeom>
          <a:solidFill>
            <a:srgbClr val="FBFCFD"/>
          </a:solidFill>
          <a:ln w="19050">
            <a:solidFill>
              <a:srgbClr val="2E62C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8"/>
          <p:cNvSpPr/>
          <p:nvPr/>
        </p:nvSpPr>
        <p:spPr>
          <a:xfrm>
            <a:off x="5388047" y="1631379"/>
            <a:ext cx="14667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Bellek 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88047" y="1923479"/>
            <a:ext cx="1466706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 geçilen kapı, robotta saklanır</a:t>
            </a:r>
            <a:endParaRPr lang="en-US" sz="1300" dirty="0"/>
          </a:p>
        </p:txBody>
      </p:sp>
      <p:pic>
        <p:nvPicPr>
          <p:cNvPr id="14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51025" y="1940582"/>
            <a:ext cx="304800" cy="1524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466950" y="1495425"/>
            <a:ext cx="1687873" cy="1042699"/>
          </a:xfrm>
          <a:prstGeom prst="roundRect">
            <a:avLst>
              <a:gd name="adj" fmla="val 6394"/>
            </a:avLst>
          </a:prstGeom>
          <a:solidFill>
            <a:srgbClr val="FBFCFD"/>
          </a:solidFill>
          <a:ln w="19050">
            <a:solidFill>
              <a:srgbClr val="1D2A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1"/>
          <p:cNvSpPr/>
          <p:nvPr/>
        </p:nvSpPr>
        <p:spPr>
          <a:xfrm>
            <a:off x="7602898" y="1631379"/>
            <a:ext cx="146677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Çift sorgusu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602898" y="1923479"/>
            <a:ext cx="1466778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 kapı için bellek k ve kapı d, 60 ms</a:t>
            </a:r>
            <a:endParaRPr lang="en-US" sz="1300" dirty="0"/>
          </a:p>
        </p:txBody>
      </p:sp>
      <p:pic>
        <p:nvPicPr>
          <p:cNvPr id="18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5948" y="1940582"/>
            <a:ext cx="304800" cy="1524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681873" y="1495425"/>
            <a:ext cx="1687801" cy="1042699"/>
          </a:xfrm>
          <a:prstGeom prst="roundRect">
            <a:avLst>
              <a:gd name="adj" fmla="val 6394"/>
            </a:avLst>
          </a:prstGeom>
          <a:solidFill>
            <a:srgbClr val="FBFCFD"/>
          </a:solidFill>
          <a:ln w="19050">
            <a:solidFill>
              <a:srgbClr val="1D2A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4"/>
          <p:cNvSpPr/>
          <p:nvPr/>
        </p:nvSpPr>
        <p:spPr>
          <a:xfrm>
            <a:off x="9817821" y="1631379"/>
            <a:ext cx="14667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erken spike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817821" y="1923479"/>
            <a:ext cx="1466706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kapıdan geçilir, bellek güncellenir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12800" y="2801652"/>
            <a:ext cx="10883391" cy="26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Arayüz tek çağrı: choose_door(k, kapılar). Ağ durumsuz; bir sorgu bilgisayarda saniyenin altında.</a:t>
            </a:r>
            <a:endParaRPr lang="en-US" sz="1300" dirty="0"/>
          </a:p>
        </p:txBody>
      </p:sp>
      <p:pic>
        <p:nvPicPr>
          <p:cNvPr id="23" name="Image 4" descr="line"/>
          <p:cNvPicPr>
            <a:picLocks noChangeAspect="1"/>
          </p:cNvPicPr>
          <p:nvPr/>
        </p:nvPicPr>
        <p:blipFill>
          <a:blip r:embed="rId4"/>
          <a:srcRect l="-1562" r="-1562"/>
          <a:stretch/>
        </p:blipFill>
        <p:spPr>
          <a:xfrm>
            <a:off x="812800" y="3295005"/>
            <a:ext cx="10566399" cy="184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2800" y="3567485"/>
            <a:ext cx="33835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ROS entegrasyonu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12800" y="3859585"/>
            <a:ext cx="3383594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Tahmin ayrı bir düğümde çalışacak; Diehl ağı ile aynı süreçte çalıştırılmamalı.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453443" y="3567485"/>
            <a:ext cx="338366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Okumayı nörona taşımak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453443" y="3859585"/>
            <a:ext cx="3383668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Kapılar arası en küçük gecikmeyi yanal inhibisyonlu bir okuma katmanı seçebilir.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094157" y="3567485"/>
            <a:ext cx="33835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Yeni sıralar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094157" y="3859585"/>
            <a:ext cx="3383594" cy="50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Robot kendi rotasını sıkıştırılmış tekrarla öğrenebilir; yayın için literatür taraması.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12800" y="6238304"/>
            <a:ext cx="967993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Kod: Bri2_pair_predictor.py ve iki ağırlık dosyası robot ekibinde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693399" y="6238304"/>
            <a:ext cx="685800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1842</Words>
  <Application>Microsoft Office PowerPoint</Application>
  <PresentationFormat>Geniş ekran</PresentationFormat>
  <Paragraphs>167</Paragraphs>
  <Slides>23</Slides>
  <Notes>23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7" baseType="lpstr">
      <vt:lpstr>Arial</vt:lpstr>
      <vt:lpstr>IBM Plex Sans</vt:lpstr>
      <vt:lpstr>Source Serif 4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Spike Zamanıyla Karar: Öngörücü Kodlama ile Kapı Seçimi</dc:title>
  <dc:subject>PptxGenJS Presentation</dc:subject>
  <dc:creator>PptxGenJS</dc:creator>
  <cp:lastModifiedBy>Yavuz Selim İşler</cp:lastModifiedBy>
  <cp:revision>12</cp:revision>
  <dcterms:created xsi:type="dcterms:W3CDTF">2026-09-24T19:52:28Z</dcterms:created>
  <dcterms:modified xsi:type="dcterms:W3CDTF">2026-09-25T08:53:38Z</dcterms:modified>
</cp:coreProperties>
</file>