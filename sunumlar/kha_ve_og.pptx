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2" r:id="rId13"/>
    <p:sldId id="293" r:id="rId14"/>
    <p:sldId id="301" r:id="rId15"/>
    <p:sldId id="302" r:id="rId16"/>
    <p:sldId id="304" r:id="rId17"/>
    <p:sldId id="305" r:id="rId18"/>
    <p:sldId id="306" r:id="rId19"/>
    <p:sldId id="307" r:id="rId20"/>
    <p:sldId id="308" r:id="rId21"/>
    <p:sldId id="30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5669" autoAdjust="0"/>
  </p:normalViewPr>
  <p:slideViewPr>
    <p:cSldViewPr snapToGrid="0">
      <p:cViewPr varScale="1">
        <p:scale>
          <a:sx n="56" d="100"/>
          <a:sy n="56" d="100"/>
        </p:scale>
        <p:origin x="10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360" units="cm"/>
          <inkml:channel name="Y" type="integer" max="1872" units="cm"/>
          <inkml:channel name="T" type="integer" max="2.14748E9" units="dev"/>
        </inkml:traceFormat>
        <inkml:channelProperties>
          <inkml:channelProperty channel="X" name="resolution" value="114.28571" units="1/cm"/>
          <inkml:channelProperty channel="Y" name="resolution" value="112.77109" units="1/cm"/>
          <inkml:channelProperty channel="T" name="resolution" value="1" units="1/dev"/>
        </inkml:channelProperties>
      </inkml:inkSource>
      <inkml:timestamp xml:id="ts0" timeString="2026-09-24T01:26:04.11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9565 9026 0,'0'0'15,"0"0"-15,0 11 16,0-11-16,0 0 15,0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360" units="cm"/>
          <inkml:channel name="Y" type="integer" max="1872" units="cm"/>
          <inkml:channel name="T" type="integer" max="2.14748E9" units="dev"/>
        </inkml:traceFormat>
        <inkml:channelProperties>
          <inkml:channelProperty channel="X" name="resolution" value="114.28571" units="1/cm"/>
          <inkml:channelProperty channel="Y" name="resolution" value="112.77109" units="1/cm"/>
          <inkml:channelProperty channel="T" name="resolution" value="1" units="1/dev"/>
        </inkml:channelProperties>
      </inkml:inkSource>
      <inkml:timestamp xml:id="ts0" timeString="2026-09-24T01:28:08.16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22578 16140 0,'0'0'0,"0"0"15,0 0-15,0 0 16,0 0-16,0 0 16</inkml:trace>
  <inkml:trace contextRef="#ctx0" brushRef="#br0" timeOffset="1">13164 14491 0,'0'0'15,"0"0"-15,0 0 16,0 0-16,10-10 16,0 0-1,-10 10-15</inkml:trace>
  <inkml:trace contextRef="#ctx0" brushRef="#br0" timeOffset="2">23404 13514 0,'0'0'16,"0"0"0,0 0-16,0 0 15,0 0-15,0 0 16,0 0-1,0 0-15,0 0 16,0 0 0,0 0-16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A0B490-ED00-4AC3-9C55-BE58E4A7F5E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25E031-C540-4CCE-8732-C894AE19A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73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ositive_feedback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.wikipedia.org/wiki/Entropy" TargetMode="External"/><Relationship Id="rId4" Type="http://schemas.openxmlformats.org/officeDocument/2006/relationships/hyperlink" Target="https://en.wikipedia.org/wiki/Negative_feedback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Self-organization relies on four basic ingredients: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strong dynamical non-linearity, often (though not necessarily) involving 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Positive feedback"/>
              </a:rPr>
              <a:t>positive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Negative feedback"/>
              </a:rPr>
              <a:t>negative feedback</a:t>
            </a:r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balance of exploitation and exploration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multiple interactions among components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availability of energy (to overcome the natural tendency toward 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 tooltip="Entropy"/>
              </a:rPr>
              <a:t>entropy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or loss of free energy)</a:t>
            </a:r>
          </a:p>
          <a:p>
            <a:endParaRPr lang="en-US" dirty="0"/>
          </a:p>
          <a:p>
            <a:r>
              <a:rPr lang="en-US" dirty="0" err="1"/>
              <a:t>Asby</a:t>
            </a:r>
            <a:r>
              <a:rPr lang="en-US" dirty="0"/>
              <a:t> </a:t>
            </a:r>
            <a:r>
              <a:rPr lang="en-US" dirty="0" err="1"/>
              <a:t>psikiyatrist</a:t>
            </a:r>
            <a:r>
              <a:rPr lang="en-US" dirty="0"/>
              <a:t>, </a:t>
            </a:r>
            <a:r>
              <a:rPr lang="en-US" dirty="0" err="1"/>
              <a:t>sibernetik</a:t>
            </a:r>
            <a:r>
              <a:rPr lang="en-US" dirty="0"/>
              <a:t> 1949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5E031-C540-4CCE-8732-C894AE19A3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76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075C513-5094-B8FF-43DD-68CE902C2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B350FCA-E493-E06D-AFDB-D59E75ADE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C289E4C-52AF-374F-F7FD-BE72413F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9D7CE-D12C-4C7B-AC31-0D675D4254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E28A907-F29D-904F-D785-74EE3A743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9004D24-7B9D-B085-E4C5-0C100471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728-4C71-436B-AD19-2616D1B4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973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06DC19-8BD0-783A-DDC7-BF223760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91EF6DA-097A-DA5F-312C-4216F827C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BB41B4A-5AEC-044E-E2B4-30FB5DBF9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9D7CE-D12C-4C7B-AC31-0D675D4254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BEE4B4B-147A-128C-DABC-8477B0919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4AA7740-D60D-32F6-7A08-ED775F0B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728-4C71-436B-AD19-2616D1B4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4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F3AEAB-35F8-E2CC-99DB-A4E08376F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F6C4A20-41ED-A5AB-C3D8-5FD7CBDF6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0D3F103-76D9-6539-5378-383556760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9D7CE-D12C-4C7B-AC31-0D675D4254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B46A6C6-F4AE-E718-C7D6-0012E380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EF662B9-9403-8D3D-8615-9268C0A8D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728-4C71-436B-AD19-2616D1B4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3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2B06E21-B7E8-3F3A-89BA-46A6D964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4277D54-E58D-2C5F-E6A6-F086C67D76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11CEA54-E66C-0293-C79A-0C0E72DF6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3411B43-3A39-CDDD-F8A6-938F36A29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9D7CE-D12C-4C7B-AC31-0D675D4254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B5FB287-DDC7-2672-D9AE-664D1E45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B431BBB-3541-B7D4-A761-E22C13A94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728-4C71-436B-AD19-2616D1B4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0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264E08-1108-E3B0-2CB0-B1C8EF43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AD41A08-4F3D-B7AA-57AE-4E7D27C00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A872AE3-7E4B-6FC2-813A-3B0439D10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ADFFA60F-C9F4-A3E9-A0EA-206EBC76D5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62C87AC-5F8F-2445-305F-53C07FCCE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662F6E60-3156-A1EB-4213-211159B1F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9D7CE-D12C-4C7B-AC31-0D675D4254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00A491E-63FB-F7A9-66E6-FBC1A557E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98F46EC4-ED9C-DDAA-45EB-8B54D55A6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728-4C71-436B-AD19-2616D1B4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7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5B564A5-88C8-BA32-47A7-141C76F56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E9E013FE-76F3-340D-CF64-8F7EE41BB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9D7CE-D12C-4C7B-AC31-0D675D4254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9EC441A-925B-26E8-9468-3578D0A8B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080467F-8122-9021-A838-DF896ECD6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728-4C71-436B-AD19-2616D1B4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90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B609509B-EC79-4E8F-87F2-0F940DC66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9D7CE-D12C-4C7B-AC31-0D675D4254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7CD9CD6C-9A57-E905-A1B3-F307B70D9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59D487E-9569-2F64-27D6-AD7E575E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728-4C71-436B-AD19-2616D1B4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930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FD813D7-E99D-9F1B-9008-E0FE90F5C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D436B29-FF61-AAF1-61E0-8280C87CE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7D38AF9-FE9E-ACA9-EBDE-A33E9E47B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15DC897-6C22-2219-A92C-6794A88AF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9D7CE-D12C-4C7B-AC31-0D675D4254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AA717F4-254C-0DB6-058E-EE399ABE2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C8C869E-B570-C752-0B15-E8347E414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728-4C71-436B-AD19-2616D1B4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08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9FF1EA-6946-E8A2-2EAF-9DCE266A0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7367698-D816-F3B5-1591-45963D88D3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58F2740-AA44-BE1E-473F-19150F57C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0243081-99BC-D851-3738-F261735D9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9D7CE-D12C-4C7B-AC31-0D675D4254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1FD7B94-4A2A-A018-B213-DF6D5A3E7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99091C7-DF32-B976-3688-24FD20AC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728-4C71-436B-AD19-2616D1B4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91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E83ABF1-E784-C4F8-8CDD-8A012D9AE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A845CB7-45FA-D354-F9B0-0E1E7CC9F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3C0101E-A669-7773-F557-5709D4840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9D7CE-D12C-4C7B-AC31-0D675D4254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57D9379-8373-9C6B-17B6-6D07F6476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C5AA070-BC94-0A13-FBE5-8D2AEA934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728-4C71-436B-AD19-2616D1B4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01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444B1876-7ECD-8D5F-9CD6-97C99490F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ECBE4D2-B0C6-8270-5E3E-A23D87042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32104B3-A4EC-6B25-BDB4-0D9DB34F2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9D7CE-D12C-4C7B-AC31-0D675D4254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E551706-0F18-DC17-C4AA-28A7A81C9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D6EFB0A-E481-CC13-3AAC-064F0A55C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728-4C71-436B-AD19-2616D1B4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0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4BAF5290-DF23-6427-1D6B-3BC10C74D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51DE0F8-6ADC-9187-F6D3-221440886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06805E3-18E6-FE5E-EE1A-F7B217A0F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79D7CE-D12C-4C7B-AC31-0D675D4254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4E42C84-F472-B89E-CB50-CB0F8B037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8C96D99-A264-0376-8EF0-38AB790DF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93728-4C71-436B-AD19-2616D1B4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31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referencework/9780128216361/encyclopedia-of-behavioral-neuroscience-2nd-edition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gif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25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9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7.bin"/><Relationship Id="rId25" Type="http://schemas.openxmlformats.org/officeDocument/2006/relationships/image" Target="../media/image28.wmf"/><Relationship Id="rId2" Type="http://schemas.openxmlformats.org/officeDocument/2006/relationships/image" Target="../media/image1.jpg"/><Relationship Id="rId16" Type="http://schemas.openxmlformats.org/officeDocument/2006/relationships/image" Target="../media/image24.png"/><Relationship Id="rId20" Type="http://schemas.openxmlformats.org/officeDocument/2006/relationships/image" Target="../media/image2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1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23.png"/><Relationship Id="rId23" Type="http://schemas.openxmlformats.org/officeDocument/2006/relationships/image" Target="../media/image27.wmf"/><Relationship Id="rId10" Type="http://schemas.openxmlformats.org/officeDocument/2006/relationships/image" Target="../media/image20.wmf"/><Relationship Id="rId19" Type="http://schemas.openxmlformats.org/officeDocument/2006/relationships/oleObject" Target="../embeddings/oleObject8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22.wmf"/><Relationship Id="rId22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33.png"/><Relationship Id="rId3" Type="http://schemas.openxmlformats.org/officeDocument/2006/relationships/oleObject" Target="../embeddings/oleObject12.bin"/><Relationship Id="rId21" Type="http://schemas.openxmlformats.org/officeDocument/2006/relationships/image" Target="../media/image36.wmf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9.wmf"/><Relationship Id="rId17" Type="http://schemas.openxmlformats.org/officeDocument/2006/relationships/image" Target="../media/image35.wmf"/><Relationship Id="rId2" Type="http://schemas.openxmlformats.org/officeDocument/2006/relationships/image" Target="../media/image1.jpg"/><Relationship Id="rId16" Type="http://schemas.openxmlformats.org/officeDocument/2006/relationships/oleObject" Target="../embeddings/oleObject18.bin"/><Relationship Id="rId20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image" Target="../media/image34.wmf"/><Relationship Id="rId10" Type="http://schemas.openxmlformats.org/officeDocument/2006/relationships/image" Target="../media/image32.wmf"/><Relationship Id="rId19" Type="http://schemas.openxmlformats.org/officeDocument/2006/relationships/image" Target="../media/image36.png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5.bin"/><Relationship Id="rId14" Type="http://schemas.openxmlformats.org/officeDocument/2006/relationships/oleObject" Target="../embeddings/oleObject17.bin"/><Relationship Id="rId22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43.png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4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11" Type="http://schemas.openxmlformats.org/officeDocument/2006/relationships/image" Target="../media/image41.png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2.png"/><Relationship Id="rId7" Type="http://schemas.openxmlformats.org/officeDocument/2006/relationships/customXml" Target="../ink/ink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5.png"/><Relationship Id="rId7" Type="http://schemas.openxmlformats.org/officeDocument/2006/relationships/image" Target="../media/image67.w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66.wmf"/><Relationship Id="rId10" Type="http://schemas.openxmlformats.org/officeDocument/2006/relationships/image" Target="../media/image72.png"/><Relationship Id="rId4" Type="http://schemas.openxmlformats.org/officeDocument/2006/relationships/oleObject" Target="../embeddings/oleObject24.bin"/><Relationship Id="rId9" Type="http://schemas.openxmlformats.org/officeDocument/2006/relationships/customXml" Target="../ink/ink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6.wmf"/><Relationship Id="rId4" Type="http://schemas.openxmlformats.org/officeDocument/2006/relationships/oleObject" Target="../embeddings/oleObject2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oleObject" Target="../embeddings/oleObject26.bin"/><Relationship Id="rId7" Type="http://schemas.openxmlformats.org/officeDocument/2006/relationships/image" Target="../media/image7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73.png"/><Relationship Id="rId10" Type="http://schemas.openxmlformats.org/officeDocument/2006/relationships/image" Target="../media/image77.png"/><Relationship Id="rId4" Type="http://schemas.openxmlformats.org/officeDocument/2006/relationships/image" Target="../media/image66.wmf"/><Relationship Id="rId9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8.png"/><Relationship Id="rId7" Type="http://schemas.openxmlformats.org/officeDocument/2006/relationships/image" Target="../media/image5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10" Type="http://schemas.openxmlformats.org/officeDocument/2006/relationships/image" Target="../media/image76.png"/><Relationship Id="rId4" Type="http://schemas.openxmlformats.org/officeDocument/2006/relationships/image" Target="../media/image61.png"/><Relationship Id="rId9" Type="http://schemas.openxmlformats.org/officeDocument/2006/relationships/image" Target="../media/image8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3A7EB2C4-45EB-299F-82E6-C9803BE7ABC7}"/>
              </a:ext>
            </a:extLst>
          </p:cNvPr>
          <p:cNvSpPr txBox="1"/>
          <p:nvPr/>
        </p:nvSpPr>
        <p:spPr>
          <a:xfrm>
            <a:off x="4516846" y="2885440"/>
            <a:ext cx="3466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u="sng" dirty="0">
                <a:solidFill>
                  <a:srgbClr val="002060"/>
                </a:solidFill>
                <a:latin typeface="Comic Sans MS" panose="030F0702030302020204" pitchFamily="66" charset="0"/>
              </a:rPr>
              <a:t>Neslihan</a:t>
            </a:r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 Serap Şengör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AA708935-8AB7-F5BB-AA84-69592181176A}"/>
              </a:ext>
            </a:extLst>
          </p:cNvPr>
          <p:cNvSpPr txBox="1"/>
          <p:nvPr/>
        </p:nvSpPr>
        <p:spPr>
          <a:xfrm>
            <a:off x="2596606" y="3525520"/>
            <a:ext cx="75248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İTÜ Elektronik ve Haberleşme Mühendisliği Bölümü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C91AD587-2568-F370-4B0D-F579300870D1}"/>
              </a:ext>
            </a:extLst>
          </p:cNvPr>
          <p:cNvSpPr txBox="1"/>
          <p:nvPr/>
        </p:nvSpPr>
        <p:spPr>
          <a:xfrm>
            <a:off x="3226526" y="4449822"/>
            <a:ext cx="5825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TÜBİTAK 1001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Proje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Çıktıları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Çalıştayı</a:t>
            </a:r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,</a:t>
            </a:r>
            <a:endParaRPr lang="en-US" sz="2400" dirty="0">
              <a:solidFill>
                <a:srgbClr val="002060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24</a:t>
            </a:r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Eylül</a:t>
            </a:r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, 202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6</a:t>
            </a:r>
          </a:p>
          <a:p>
            <a:pPr algn="ctr"/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Osmaniye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 Korkut Ata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Üniversitesi</a:t>
            </a:r>
            <a:endParaRPr lang="tr-TR" sz="2400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7" name="Group 16">
            <a:extLst>
              <a:ext uri="{FF2B5EF4-FFF2-40B4-BE49-F238E27FC236}">
                <a16:creationId xmlns:a16="http://schemas.microsoft.com/office/drawing/2014/main" id="{B3CFC44E-A95A-AE4B-58F4-A6AD711BD456}"/>
              </a:ext>
            </a:extLst>
          </p:cNvPr>
          <p:cNvGrpSpPr>
            <a:grpSpLocks/>
          </p:cNvGrpSpPr>
          <p:nvPr/>
        </p:nvGrpSpPr>
        <p:grpSpPr bwMode="auto">
          <a:xfrm>
            <a:off x="87447" y="6217930"/>
            <a:ext cx="12017106" cy="587377"/>
            <a:chOff x="-17" y="3906"/>
            <a:chExt cx="6472" cy="370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437E1C91-B176-C07D-EAC7-559C62090B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6" y="3906"/>
              <a:ext cx="2649" cy="370"/>
              <a:chOff x="5958471" y="6284928"/>
              <a:chExt cx="4200117" cy="594534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12792765-1A30-E51A-FD90-FBF45314BD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</a:blip>
              <a:srcRect/>
              <a:stretch>
                <a:fillRect/>
              </a:stretch>
            </p:blipFill>
            <p:spPr bwMode="auto">
              <a:xfrm>
                <a:off x="9726540" y="6318402"/>
                <a:ext cx="432048" cy="5610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F08D6249-42C3-DE58-0F0C-3A59FB6B16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8471" y="6284928"/>
                <a:ext cx="4200117" cy="4286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r-TR" altLang="tr-TR" sz="1600" dirty="0">
                    <a:solidFill>
                      <a:srgbClr val="002060"/>
                    </a:solidFill>
                    <a:latin typeface="Calibri" panose="020F0502020204030204" pitchFamily="34" charset="0"/>
                  </a:rPr>
                  <a:t>İstanbul Teknik Üniversitesi, </a:t>
                </a:r>
              </a:p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r-TR" altLang="tr-TR" sz="1600" dirty="0">
                    <a:solidFill>
                      <a:srgbClr val="002060"/>
                    </a:solidFill>
                    <a:latin typeface="Calibri" panose="020F0502020204030204" pitchFamily="34" charset="0"/>
                  </a:rPr>
                  <a:t>Elektronik ve Haberleşme Mühendisliği Bölümü</a:t>
                </a:r>
                <a:br>
                  <a:rPr lang="en-GB" altLang="tr-TR" sz="1400" dirty="0">
                    <a:solidFill>
                      <a:srgbClr val="002060"/>
                    </a:solidFill>
                    <a:latin typeface="Calibri" panose="020F0502020204030204" pitchFamily="34" charset="0"/>
                  </a:rPr>
                </a:br>
                <a:r>
                  <a:rPr lang="en-GB" altLang="tr-TR" sz="2000" b="1" dirty="0">
                    <a:solidFill>
                      <a:srgbClr val="002060"/>
                    </a:solidFill>
                    <a:latin typeface="Calibri" panose="020F0502020204030204" pitchFamily="34" charset="0"/>
                  </a:rPr>
                  <a:t> </a:t>
                </a:r>
                <a:endParaRPr lang="en-US" altLang="tr-TR" sz="2000" dirty="0">
                  <a:solidFill>
                    <a:srgbClr val="002060"/>
                  </a:solidFill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9" name="Picture 12">
              <a:extLst>
                <a:ext uri="{FF2B5EF4-FFF2-40B4-BE49-F238E27FC236}">
                  <a16:creationId xmlns:a16="http://schemas.microsoft.com/office/drawing/2014/main" id="{5F442764-C053-818B-6243-1AAB463967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/>
            <a:stretch>
              <a:fillRect/>
            </a:stretch>
          </p:blipFill>
          <p:spPr bwMode="auto">
            <a:xfrm>
              <a:off x="-17" y="3968"/>
              <a:ext cx="939" cy="211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</p:pic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BD62D292-40FA-3A95-2149-51FC30BFB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" y="3909"/>
              <a:ext cx="2677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tr-TR" altLang="tr-TR" sz="1600" dirty="0">
                  <a:solidFill>
                    <a:srgbClr val="002060"/>
                  </a:solidFill>
                  <a:latin typeface="Calibri" panose="020F0502020204030204" pitchFamily="34" charset="0"/>
                </a:rPr>
                <a:t>İstanbul Teknik Üniversitesi, </a:t>
              </a: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tr-TR" altLang="tr-TR" sz="1600" dirty="0">
                  <a:solidFill>
                    <a:srgbClr val="002060"/>
                  </a:solidFill>
                  <a:latin typeface="Calibri" panose="020F0502020204030204" pitchFamily="34" charset="0"/>
                </a:rPr>
                <a:t>Sinirbilim Modelleme ve Araştırma Grubu</a:t>
              </a:r>
              <a:endParaRPr lang="en-US" altLang="tr-TR" sz="1200" dirty="0">
                <a:solidFill>
                  <a:srgbClr val="002060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26740CF3-55D2-BDB3-81B0-5A86A693DABB}"/>
              </a:ext>
            </a:extLst>
          </p:cNvPr>
          <p:cNvSpPr txBox="1"/>
          <p:nvPr/>
        </p:nvSpPr>
        <p:spPr>
          <a:xfrm>
            <a:off x="1164382" y="890524"/>
            <a:ext cx="103632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Beyindeki</a:t>
            </a:r>
            <a:r>
              <a:rPr lang="en-US" sz="3200" dirty="0">
                <a:solidFill>
                  <a:srgbClr val="002060"/>
                </a:solidFill>
                <a:latin typeface="Comic Sans MS" panose="030F0702030302020204" pitchFamily="66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Hesaplama</a:t>
            </a:r>
            <a:r>
              <a:rPr lang="en-US" sz="3200" dirty="0">
                <a:solidFill>
                  <a:srgbClr val="002060"/>
                </a:solidFill>
                <a:latin typeface="Comic Sans MS" panose="030F0702030302020204" pitchFamily="66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mekanizmalarından</a:t>
            </a:r>
            <a:r>
              <a:rPr lang="en-US" sz="3200" dirty="0">
                <a:solidFill>
                  <a:srgbClr val="002060"/>
                </a:solidFill>
                <a:latin typeface="Comic Sans MS" panose="030F0702030302020204" pitchFamily="66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ikisi</a:t>
            </a:r>
            <a:r>
              <a:rPr lang="en-US" sz="3200" dirty="0">
                <a:solidFill>
                  <a:srgbClr val="002060"/>
                </a:solidFill>
                <a:latin typeface="Comic Sans MS" panose="030F0702030302020204" pitchFamily="66" charset="0"/>
              </a:rPr>
              <a:t>:</a:t>
            </a:r>
          </a:p>
          <a:p>
            <a:pPr algn="ctr"/>
            <a:endParaRPr lang="en-US" sz="1200" dirty="0">
              <a:solidFill>
                <a:srgbClr val="002060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US" sz="30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Kazanan</a:t>
            </a:r>
            <a:r>
              <a:rPr lang="en-US" sz="3000" dirty="0">
                <a:solidFill>
                  <a:srgbClr val="002060"/>
                </a:solidFill>
                <a:latin typeface="Comic Sans MS" panose="030F0702030302020204" pitchFamily="66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Hepsini</a:t>
            </a:r>
            <a:r>
              <a:rPr lang="en-US" sz="3000" dirty="0">
                <a:solidFill>
                  <a:srgbClr val="002060"/>
                </a:solidFill>
                <a:latin typeface="Comic Sans MS" panose="030F0702030302020204" pitchFamily="66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Alır</a:t>
            </a:r>
            <a:r>
              <a:rPr lang="en-US" sz="3000" dirty="0">
                <a:solidFill>
                  <a:srgbClr val="002060"/>
                </a:solidFill>
                <a:latin typeface="Comic Sans MS" panose="030F0702030302020204" pitchFamily="66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ve</a:t>
            </a:r>
            <a:r>
              <a:rPr lang="en-US" sz="3000" dirty="0">
                <a:solidFill>
                  <a:srgbClr val="002060"/>
                </a:solidFill>
                <a:latin typeface="Comic Sans MS" panose="030F0702030302020204" pitchFamily="66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Öngörüsel</a:t>
            </a:r>
            <a:r>
              <a:rPr lang="en-US" sz="3000" dirty="0">
                <a:solidFill>
                  <a:srgbClr val="002060"/>
                </a:solidFill>
                <a:latin typeface="Comic Sans MS" panose="030F0702030302020204" pitchFamily="66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Kodlama</a:t>
            </a:r>
            <a:endParaRPr lang="en-US" sz="3000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69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E6CF6C-7490-6721-18FC-884C7F7B1428}"/>
              </a:ext>
            </a:extLst>
          </p:cNvPr>
          <p:cNvSpPr/>
          <p:nvPr/>
        </p:nvSpPr>
        <p:spPr>
          <a:xfrm>
            <a:off x="424085" y="126557"/>
            <a:ext cx="94468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tr-TR" sz="28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Beyin hakkında gözardı edemeyeceğimiz bazı  gerçekler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080130-026E-44F2-0472-F811509541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009" t="24657" r="20883" b="9443"/>
          <a:stretch/>
        </p:blipFill>
        <p:spPr>
          <a:xfrm>
            <a:off x="542653" y="1542730"/>
            <a:ext cx="5206637" cy="49352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3AAD6D-E2DD-9AB0-631E-8FF8EE38DE64}"/>
              </a:ext>
            </a:extLst>
          </p:cNvPr>
          <p:cNvSpPr txBox="1"/>
          <p:nvPr/>
        </p:nvSpPr>
        <p:spPr>
          <a:xfrm flipH="1">
            <a:off x="1951394" y="947227"/>
            <a:ext cx="3525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Dinamik ve Parallel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E853BB-54DA-4B96-C9A2-25D2ECF71AD5}"/>
              </a:ext>
            </a:extLst>
          </p:cNvPr>
          <p:cNvSpPr/>
          <p:nvPr/>
        </p:nvSpPr>
        <p:spPr>
          <a:xfrm>
            <a:off x="-70486" y="6611779"/>
            <a:ext cx="656463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/>
              <a:t>Breakspear</a:t>
            </a:r>
            <a:r>
              <a:rPr lang="en-US" sz="1000" dirty="0"/>
              <a:t>, M. "Dynamic models of large-scale brain activity." </a:t>
            </a:r>
            <a:r>
              <a:rPr lang="en-US" sz="1000" i="1" dirty="0"/>
              <a:t>Nature neuroscience</a:t>
            </a:r>
            <a:r>
              <a:rPr lang="en-US" sz="1000" dirty="0"/>
              <a:t> 20, no. 3 (2017): 340-352.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14D3B6-23C3-C798-BFBA-968918A895CF}"/>
              </a:ext>
            </a:extLst>
          </p:cNvPr>
          <p:cNvSpPr txBox="1"/>
          <p:nvPr/>
        </p:nvSpPr>
        <p:spPr>
          <a:xfrm flipH="1">
            <a:off x="7222561" y="935450"/>
            <a:ext cx="390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Uyarlanabilir ve Çeşitli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F69447-585D-67FB-5BCE-03B3FC33DA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980" t="23333" r="31520" b="23000"/>
          <a:stretch/>
        </p:blipFill>
        <p:spPr>
          <a:xfrm>
            <a:off x="5941108" y="1621278"/>
            <a:ext cx="2993711" cy="154483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5096145-08F4-D4A6-76A9-B635D1F1E1C1}"/>
              </a:ext>
            </a:extLst>
          </p:cNvPr>
          <p:cNvSpPr/>
          <p:nvPr/>
        </p:nvSpPr>
        <p:spPr>
          <a:xfrm>
            <a:off x="5594994" y="6588696"/>
            <a:ext cx="68961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000" dirty="0"/>
              <a:t>Izhikevich, E. M. "Simple model of spiking neurons." </a:t>
            </a:r>
            <a:r>
              <a:rPr lang="tr-TR" sz="1000" i="1" dirty="0"/>
              <a:t>IEEE Transactions on neural networks</a:t>
            </a:r>
            <a:r>
              <a:rPr lang="tr-TR" sz="1000" dirty="0"/>
              <a:t> 14, no. 6 (2003): 1569-1572.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35A5CE-F967-EA6B-4645-D610331952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60" y="3299948"/>
            <a:ext cx="3383946" cy="24567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5509C7E-C23C-478B-34EC-BAD2EF93250C}"/>
              </a:ext>
            </a:extLst>
          </p:cNvPr>
          <p:cNvSpPr/>
          <p:nvPr/>
        </p:nvSpPr>
        <p:spPr>
          <a:xfrm>
            <a:off x="5726799" y="6254803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i="1" dirty="0" err="1"/>
              <a:t>Malenka</a:t>
            </a:r>
            <a:r>
              <a:rPr lang="en-US" sz="1000" i="1" dirty="0"/>
              <a:t>, Robert C.. “REVIEW ■ : LTP and LTD: Dynamic and Interactive Processes of Synaptic Plasticity.” The Neuroscientist 1 (1995): 35 - 42.</a:t>
            </a:r>
            <a:endParaRPr lang="tr-TR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959470-F09B-446B-ED74-C0F9B97D643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426" y="2809104"/>
            <a:ext cx="3584785" cy="29548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D67914-5D00-1BAE-3B9E-35824D61EE01}"/>
              </a:ext>
            </a:extLst>
          </p:cNvPr>
          <p:cNvSpPr/>
          <p:nvPr/>
        </p:nvSpPr>
        <p:spPr>
          <a:xfrm>
            <a:off x="5749290" y="5897827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1000" dirty="0"/>
              <a:t>Edelmann, Elke, and Volkmar Leßmann. "Analyzing synaptic plasticity at the single cell level with STDP." </a:t>
            </a:r>
            <a:r>
              <a:rPr lang="tr-TR" sz="1000" i="1" dirty="0"/>
              <a:t>Neuroforum</a:t>
            </a:r>
            <a:r>
              <a:rPr lang="tr-TR" sz="1000" dirty="0"/>
              <a:t> 24, no. 3 (2018): A143-A150.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4ACA86-DB50-9496-B1AF-CD750455A4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274" y="2814519"/>
            <a:ext cx="2415947" cy="294946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8590DFC-84A2-E84E-1ADF-9F4E267E9590}"/>
              </a:ext>
            </a:extLst>
          </p:cNvPr>
          <p:cNvSpPr/>
          <p:nvPr/>
        </p:nvSpPr>
        <p:spPr>
          <a:xfrm>
            <a:off x="5749290" y="5736491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J. Hawk, T. Abel, in </a:t>
            </a:r>
            <a:r>
              <a:rPr lang="en-US" sz="1000" dirty="0">
                <a:hlinkClick r:id="rId8"/>
              </a:rPr>
              <a:t>Encyclopedia of Behavioral Neuroscience, 2nd edition</a:t>
            </a:r>
            <a:r>
              <a:rPr lang="en-US" sz="1000" dirty="0"/>
              <a:t>, 2017</a:t>
            </a:r>
          </a:p>
        </p:txBody>
      </p:sp>
    </p:spTree>
    <p:extLst>
      <p:ext uri="{BB962C8B-B14F-4D97-AF65-F5344CB8AC3E}">
        <p14:creationId xmlns:p14="http://schemas.microsoft.com/office/powerpoint/2010/main" val="118012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10" grpId="0"/>
      <p:bldP spid="1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3C8800-E0B9-5BF6-EDCC-9F5BF9E4AB96}"/>
              </a:ext>
            </a:extLst>
          </p:cNvPr>
          <p:cNvSpPr txBox="1"/>
          <p:nvPr/>
        </p:nvSpPr>
        <p:spPr>
          <a:xfrm flipH="1">
            <a:off x="3831211" y="91554"/>
            <a:ext cx="4906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Özdüzenlemeli ve Etkileşimli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8A01540-49C3-F425-1E45-18ACF0134DA3}"/>
              </a:ext>
            </a:extLst>
          </p:cNvPr>
          <p:cNvGrpSpPr/>
          <p:nvPr/>
        </p:nvGrpSpPr>
        <p:grpSpPr>
          <a:xfrm>
            <a:off x="-74929" y="751987"/>
            <a:ext cx="6359443" cy="6151356"/>
            <a:chOff x="667028" y="171237"/>
            <a:chExt cx="6359443" cy="615135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AFAD59F-C41D-07ED-EAE3-36B1C56041D4}"/>
                </a:ext>
              </a:extLst>
            </p:cNvPr>
            <p:cNvGrpSpPr/>
            <p:nvPr/>
          </p:nvGrpSpPr>
          <p:grpSpPr>
            <a:xfrm>
              <a:off x="667028" y="1760007"/>
              <a:ext cx="6359443" cy="4562586"/>
              <a:chOff x="3265225" y="2890507"/>
              <a:chExt cx="5135560" cy="3709378"/>
            </a:xfrm>
          </p:grpSpPr>
          <p:pic>
            <p:nvPicPr>
              <p:cNvPr id="6" name="Picture 2">
                <a:extLst>
                  <a:ext uri="{FF2B5EF4-FFF2-40B4-BE49-F238E27FC236}">
                    <a16:creationId xmlns:a16="http://schemas.microsoft.com/office/drawing/2014/main" id="{67312912-0C39-98C6-FA27-6E4F52BCE2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049" t="33420" r="60068" b="27991"/>
              <a:stretch/>
            </p:blipFill>
            <p:spPr bwMode="auto">
              <a:xfrm>
                <a:off x="3605644" y="2890507"/>
                <a:ext cx="4499264" cy="3502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9A9FF7-2BE2-F127-E628-4B6B73FA11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5225" y="6399708"/>
                <a:ext cx="5135560" cy="200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0" lvl="1" eaLnBrk="1" hangingPunct="1">
                  <a:spcBef>
                    <a:spcPct val="0"/>
                  </a:spcBef>
                  <a:buFontTx/>
                  <a:buNone/>
                </a:pPr>
                <a:r>
                  <a:rPr lang="tr-TR" altLang="tr-TR" sz="1000" dirty="0">
                    <a:latin typeface="+mn-lt"/>
                    <a:cs typeface="Arial" charset="0"/>
                  </a:rPr>
                  <a:t>Atasoy v.d.</a:t>
                </a:r>
                <a:r>
                  <a:rPr lang="en-GB" altLang="tr-TR" sz="1000" dirty="0">
                    <a:latin typeface="+mn-lt"/>
                    <a:cs typeface="Arial" charset="0"/>
                  </a:rPr>
                  <a:t>, </a:t>
                </a:r>
                <a:r>
                  <a:rPr lang="en-GB" altLang="en-US" sz="1000" dirty="0">
                    <a:latin typeface="+mn-lt"/>
                    <a:cs typeface="Arial" charset="0"/>
                  </a:rPr>
                  <a:t>“</a:t>
                </a:r>
                <a:r>
                  <a:rPr lang="en-US" altLang="ja-JP" sz="1000" dirty="0">
                    <a:latin typeface="+mn-lt"/>
                    <a:cs typeface="Arial" charset="0"/>
                  </a:rPr>
                  <a:t>Human brain networks function in</a:t>
                </a:r>
                <a:r>
                  <a:rPr lang="tr-TR" altLang="ja-JP" sz="1000" dirty="0">
                    <a:latin typeface="+mn-lt"/>
                    <a:cs typeface="Arial" charset="0"/>
                  </a:rPr>
                  <a:t> </a:t>
                </a:r>
                <a:r>
                  <a:rPr lang="en-US" altLang="ja-JP" sz="1000" dirty="0">
                    <a:latin typeface="+mn-lt"/>
                    <a:cs typeface="Arial" charset="0"/>
                  </a:rPr>
                  <a:t>connectome-specific</a:t>
                </a:r>
                <a:r>
                  <a:rPr lang="tr-TR" altLang="ja-JP" sz="1000" dirty="0">
                    <a:latin typeface="+mn-lt"/>
                    <a:cs typeface="Arial" charset="0"/>
                  </a:rPr>
                  <a:t> </a:t>
                </a:r>
                <a:r>
                  <a:rPr lang="en-US" altLang="ja-JP" sz="1000" dirty="0">
                    <a:latin typeface="+mn-lt"/>
                    <a:cs typeface="Arial" charset="0"/>
                  </a:rPr>
                  <a:t>harmonic waves</a:t>
                </a:r>
                <a:r>
                  <a:rPr lang="en-GB" altLang="en-US" sz="1000" dirty="0">
                    <a:latin typeface="+mn-lt"/>
                    <a:cs typeface="Arial" charset="0"/>
                  </a:rPr>
                  <a:t>”</a:t>
                </a:r>
                <a:r>
                  <a:rPr lang="en-GB" altLang="ja-JP" sz="1000" dirty="0">
                    <a:latin typeface="+mn-lt"/>
                    <a:cs typeface="Arial" charset="0"/>
                  </a:rPr>
                  <a:t>, </a:t>
                </a:r>
                <a:r>
                  <a:rPr lang="tr-TR" altLang="ja-JP" sz="1000" dirty="0">
                    <a:latin typeface="+mn-lt"/>
                    <a:cs typeface="Arial" charset="0"/>
                  </a:rPr>
                  <a:t> Nature Communicatiıon ,2016</a:t>
                </a:r>
                <a:endParaRPr lang="en-GB" altLang="tr-TR" sz="1000" dirty="0">
                  <a:latin typeface="+mn-lt"/>
                  <a:cs typeface="Arial" charset="0"/>
                </a:endParaRP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982A91D-F517-78D8-919B-72A0558E7D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4167" t="54222" r="44833" b="30334"/>
            <a:stretch/>
          </p:blipFill>
          <p:spPr>
            <a:xfrm>
              <a:off x="1082575" y="171237"/>
              <a:ext cx="5577499" cy="1588770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9C2EAD3-BFB3-02CD-F7A1-BCC268D42A2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7156" t="22077" r="9040" b="17633"/>
          <a:stretch/>
        </p:blipFill>
        <p:spPr>
          <a:xfrm>
            <a:off x="6544913" y="1378913"/>
            <a:ext cx="4711149" cy="28316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BB3ABE8-B4EA-CCFE-7EF8-716E6BD0EDEE}"/>
              </a:ext>
            </a:extLst>
          </p:cNvPr>
          <p:cNvSpPr/>
          <p:nvPr/>
        </p:nvSpPr>
        <p:spPr>
          <a:xfrm>
            <a:off x="6079436" y="6657121"/>
            <a:ext cx="671222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Gilbert, Charles D., and Wu Li. "Top-down influences on visual processing." </a:t>
            </a:r>
            <a:r>
              <a:rPr lang="en-US" sz="900" i="1" dirty="0"/>
              <a:t>Nature Reviews Neuroscience</a:t>
            </a:r>
            <a:r>
              <a:rPr lang="en-US" sz="900" dirty="0"/>
              <a:t> 14, no. 5 (2013): 350-363.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F14655-2187-1A25-AFB8-BB9FA655A64C}"/>
              </a:ext>
            </a:extLst>
          </p:cNvPr>
          <p:cNvGrpSpPr/>
          <p:nvPr/>
        </p:nvGrpSpPr>
        <p:grpSpPr>
          <a:xfrm>
            <a:off x="7454344" y="790068"/>
            <a:ext cx="3502551" cy="461665"/>
            <a:chOff x="7454344" y="790068"/>
            <a:chExt cx="3502551" cy="461665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96845E2-F666-5F32-EA25-0CEFB40B2ACC}"/>
                </a:ext>
              </a:extLst>
            </p:cNvPr>
            <p:cNvCxnSpPr/>
            <p:nvPr/>
          </p:nvCxnSpPr>
          <p:spPr>
            <a:xfrm>
              <a:off x="7454344" y="1214756"/>
              <a:ext cx="2773018" cy="2079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447FB2-B2AF-8011-F7D8-699FBA02F653}"/>
                </a:ext>
              </a:extLst>
            </p:cNvPr>
            <p:cNvSpPr txBox="1"/>
            <p:nvPr/>
          </p:nvSpPr>
          <p:spPr>
            <a:xfrm flipH="1">
              <a:off x="7454344" y="790068"/>
              <a:ext cx="35025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dirty="0"/>
                <a:t>                </a:t>
              </a:r>
              <a:r>
                <a:rPr lang="tr-TR" sz="2400" dirty="0">
                  <a:solidFill>
                    <a:srgbClr val="002060"/>
                  </a:solidFill>
                </a:rPr>
                <a:t>top-down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8B991FD-321E-5ADC-DAF6-A2981B70E669}"/>
              </a:ext>
            </a:extLst>
          </p:cNvPr>
          <p:cNvGrpSpPr/>
          <p:nvPr/>
        </p:nvGrpSpPr>
        <p:grpSpPr>
          <a:xfrm>
            <a:off x="7494100" y="4334767"/>
            <a:ext cx="3502551" cy="461665"/>
            <a:chOff x="7494100" y="4334767"/>
            <a:chExt cx="3502551" cy="461665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BA30F15-BCC2-B5A5-DAE3-159AB0FE9BE1}"/>
                </a:ext>
              </a:extLst>
            </p:cNvPr>
            <p:cNvCxnSpPr/>
            <p:nvPr/>
          </p:nvCxnSpPr>
          <p:spPr>
            <a:xfrm flipH="1">
              <a:off x="7550427" y="4740965"/>
              <a:ext cx="2915477" cy="98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28F8CEF-FA8B-4E5B-67D1-69F3B9520E95}"/>
                </a:ext>
              </a:extLst>
            </p:cNvPr>
            <p:cNvSpPr txBox="1"/>
            <p:nvPr/>
          </p:nvSpPr>
          <p:spPr>
            <a:xfrm flipH="1">
              <a:off x="7494100" y="4334767"/>
              <a:ext cx="35025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dirty="0"/>
                <a:t>                  </a:t>
              </a:r>
              <a:r>
                <a:rPr lang="tr-TR" sz="2400" dirty="0">
                  <a:solidFill>
                    <a:srgbClr val="002060"/>
                  </a:solidFill>
                </a:rPr>
                <a:t>bottom-up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888FDF1-6DD1-CCE1-5DC0-287A0E903B7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1035" t="17508" r="18334" b="13813"/>
          <a:stretch/>
        </p:blipFill>
        <p:spPr>
          <a:xfrm>
            <a:off x="5918117" y="751987"/>
            <a:ext cx="6273883" cy="47869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07065ED-027C-53F2-B6F2-F9B110AA534F}"/>
              </a:ext>
            </a:extLst>
          </p:cNvPr>
          <p:cNvSpPr/>
          <p:nvPr/>
        </p:nvSpPr>
        <p:spPr>
          <a:xfrm>
            <a:off x="6079436" y="6312549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 err="1"/>
              <a:t>Grossberg</a:t>
            </a:r>
            <a:r>
              <a:rPr lang="en-US" sz="1000" dirty="0"/>
              <a:t>, Stephen. "Adaptive Resonance Theory: How a brain learns to consciously attend, learn, and recognize a changing world." </a:t>
            </a:r>
            <a:r>
              <a:rPr lang="en-US" sz="1000" i="1" dirty="0"/>
              <a:t>Neural networks</a:t>
            </a:r>
            <a:r>
              <a:rPr lang="en-US" sz="1000" dirty="0"/>
              <a:t> 37 (2013): 1-47.</a:t>
            </a:r>
          </a:p>
        </p:txBody>
      </p:sp>
    </p:spTree>
    <p:extLst>
      <p:ext uri="{BB962C8B-B14F-4D97-AF65-F5344CB8AC3E}">
        <p14:creationId xmlns:p14="http://schemas.microsoft.com/office/powerpoint/2010/main" val="370627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92438A-7CE4-7A78-C129-8D2FCCA6945D}"/>
              </a:ext>
            </a:extLst>
          </p:cNvPr>
          <p:cNvSpPr/>
          <p:nvPr/>
        </p:nvSpPr>
        <p:spPr>
          <a:xfrm>
            <a:off x="360058" y="208935"/>
            <a:ext cx="53735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tr-TR" sz="28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Önce özdüzenlemeye bakalım 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9DDC7F-1104-5F37-3321-E2964629AA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409" t="18258" r="33784" b="43423"/>
          <a:stretch/>
        </p:blipFill>
        <p:spPr>
          <a:xfrm>
            <a:off x="360058" y="808113"/>
            <a:ext cx="3896053" cy="284403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E50E189-3287-0E0C-0330-E8304B2478A0}"/>
              </a:ext>
            </a:extLst>
          </p:cNvPr>
          <p:cNvGrpSpPr/>
          <p:nvPr/>
        </p:nvGrpSpPr>
        <p:grpSpPr>
          <a:xfrm>
            <a:off x="10086993" y="208935"/>
            <a:ext cx="1794938" cy="2496351"/>
            <a:chOff x="10086993" y="208935"/>
            <a:chExt cx="1794938" cy="249635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48F70FE-EA4A-E3A1-36ED-C4CFE7EF6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86993" y="208935"/>
              <a:ext cx="1758574" cy="18500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3BF24F-EEDA-F31F-0187-41E0A219A870}"/>
                </a:ext>
              </a:extLst>
            </p:cNvPr>
            <p:cNvSpPr txBox="1"/>
            <p:nvPr/>
          </p:nvSpPr>
          <p:spPr>
            <a:xfrm>
              <a:off x="10197491" y="2058955"/>
              <a:ext cx="168444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tr-TR" sz="18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W.R. Ashby</a:t>
              </a:r>
            </a:p>
            <a:p>
              <a:pPr algn="ctr"/>
              <a:r>
                <a:rPr lang="tr-TR" sz="18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1903-1972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046BECB-73FC-A1D2-EC0F-8E4DF56640F9}"/>
              </a:ext>
            </a:extLst>
          </p:cNvPr>
          <p:cNvSpPr/>
          <p:nvPr/>
        </p:nvSpPr>
        <p:spPr>
          <a:xfrm>
            <a:off x="4520877" y="826621"/>
            <a:ext cx="45352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tr-TR" sz="2000" u="sng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Özdüzenlemenin dört temel bileşeni: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35FF9F-2CAD-E4D6-13D0-72CE907ACD2F}"/>
              </a:ext>
            </a:extLst>
          </p:cNvPr>
          <p:cNvSpPr/>
          <p:nvPr/>
        </p:nvSpPr>
        <p:spPr>
          <a:xfrm>
            <a:off x="4520885" y="1236451"/>
            <a:ext cx="51908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sz="20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Pozitif, negatif geribeslemeleri de içeren </a:t>
            </a:r>
          </a:p>
          <a:p>
            <a:pPr>
              <a:defRPr/>
            </a:pPr>
            <a:r>
              <a:rPr lang="tr-TR" sz="20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doğrusal olmayan dinamik yapı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68096A-3327-6DD3-192E-84A1E517D98F}"/>
              </a:ext>
            </a:extLst>
          </p:cNvPr>
          <p:cNvSpPr/>
          <p:nvPr/>
        </p:nvSpPr>
        <p:spPr>
          <a:xfrm>
            <a:off x="4520885" y="2086110"/>
            <a:ext cx="34419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sz="20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Fayda ve araştırma dengesi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B2BFA1-D6DD-2E8F-5B11-C3FFBBDED0A1}"/>
              </a:ext>
            </a:extLst>
          </p:cNvPr>
          <p:cNvSpPr/>
          <p:nvPr/>
        </p:nvSpPr>
        <p:spPr>
          <a:xfrm>
            <a:off x="4520885" y="2627993"/>
            <a:ext cx="47804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sz="20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Sistemin bileşenleri arasında etkileşim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BFAB46-3993-F08C-E80B-771FF5FA7108}"/>
              </a:ext>
            </a:extLst>
          </p:cNvPr>
          <p:cNvSpPr/>
          <p:nvPr/>
        </p:nvSpPr>
        <p:spPr>
          <a:xfrm>
            <a:off x="4520885" y="3150794"/>
            <a:ext cx="24400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Kullanılabilir</a:t>
            </a:r>
            <a:r>
              <a:rPr lang="en-US" sz="20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e</a:t>
            </a:r>
            <a:r>
              <a:rPr lang="tr-TR" sz="20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nerji</a:t>
            </a:r>
            <a:endParaRPr lang="tr-TR" sz="2000" dirty="0">
              <a:solidFill>
                <a:srgbClr val="00206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4EEB94-FED1-DD20-DC83-1EAD8BB5C245}"/>
              </a:ext>
            </a:extLst>
          </p:cNvPr>
          <p:cNvSpPr/>
          <p:nvPr/>
        </p:nvSpPr>
        <p:spPr>
          <a:xfrm>
            <a:off x="111135" y="3791659"/>
            <a:ext cx="84112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tr-TR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Özdüzenleme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Yapay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Sinir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Ağlarında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Nasıl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Gerçekleniyor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? </a:t>
            </a:r>
            <a:endParaRPr lang="tr-TR" sz="2400" dirty="0">
              <a:solidFill>
                <a:srgbClr val="00206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pic>
        <p:nvPicPr>
          <p:cNvPr id="16" name="Picture 5" descr="http://www.sis.pitt.edu/~ssyn/som/kohonen1.gif">
            <a:extLst>
              <a:ext uri="{FF2B5EF4-FFF2-40B4-BE49-F238E27FC236}">
                <a16:creationId xmlns:a16="http://schemas.microsoft.com/office/drawing/2014/main" id="{4CBA91D9-94A6-346E-9276-5F8C11184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4246821"/>
            <a:ext cx="3256946" cy="2341899"/>
          </a:xfrm>
          <a:prstGeom prst="rect">
            <a:avLst/>
          </a:prstGeom>
          <a:noFill/>
        </p:spPr>
      </p:pic>
      <p:sp>
        <p:nvSpPr>
          <p:cNvPr id="17" name="Rectangle 8">
            <a:extLst>
              <a:ext uri="{FF2B5EF4-FFF2-40B4-BE49-F238E27FC236}">
                <a16:creationId xmlns:a16="http://schemas.microsoft.com/office/drawing/2014/main" id="{329CAA97-3542-A6A6-5B5F-C0A4BF6FCCFB}"/>
              </a:ext>
            </a:extLst>
          </p:cNvPr>
          <p:cNvSpPr/>
          <p:nvPr/>
        </p:nvSpPr>
        <p:spPr>
          <a:xfrm>
            <a:off x="36672" y="6588720"/>
            <a:ext cx="294516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http://www.sis.pitt.edu/~ssyn/som/kohonen1.gif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047EF0CA-88C9-C215-FF1A-B620966800FC}"/>
              </a:ext>
            </a:extLst>
          </p:cNvPr>
          <p:cNvSpPr txBox="1"/>
          <p:nvPr/>
        </p:nvSpPr>
        <p:spPr>
          <a:xfrm>
            <a:off x="3467543" y="4384247"/>
            <a:ext cx="21066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u="sng" dirty="0">
                <a:solidFill>
                  <a:srgbClr val="002060"/>
                </a:solidFill>
                <a:latin typeface="Comic Sans MS" pitchFamily="66" charset="0"/>
              </a:rPr>
              <a:t>Öğrenme Kuralı: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85F098CA-4CEB-FA00-213B-33E0969563A0}"/>
              </a:ext>
            </a:extLst>
          </p:cNvPr>
          <p:cNvSpPr txBox="1"/>
          <p:nvPr/>
        </p:nvSpPr>
        <p:spPr>
          <a:xfrm>
            <a:off x="3845623" y="4784357"/>
            <a:ext cx="41653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tr-TR" sz="2000" u="sng" dirty="0">
                <a:solidFill>
                  <a:srgbClr val="002060"/>
                </a:solidFill>
                <a:latin typeface="Comic Sans MS" pitchFamily="66" charset="0"/>
              </a:rPr>
              <a:t>1. Yarışma:</a:t>
            </a:r>
            <a:r>
              <a:rPr lang="tr-TR" sz="2000" dirty="0">
                <a:solidFill>
                  <a:srgbClr val="002060"/>
                </a:solidFill>
                <a:latin typeface="Comic Sans MS" pitchFamily="66" charset="0"/>
              </a:rPr>
              <a:t> </a:t>
            </a:r>
          </a:p>
          <a:p>
            <a:pPr marL="457200" indent="-457200"/>
            <a:r>
              <a:rPr lang="tr-TR" sz="2000" dirty="0">
                <a:solidFill>
                  <a:srgbClr val="002060"/>
                </a:solidFill>
                <a:latin typeface="Comic Sans MS" pitchFamily="66" charset="0"/>
              </a:rPr>
              <a:t>Her örüntü için ağdaki nöronlar</a:t>
            </a:r>
            <a:r>
              <a:rPr lang="en-US" sz="2000" dirty="0">
                <a:solidFill>
                  <a:srgbClr val="002060"/>
                </a:solidFill>
                <a:latin typeface="Comic Sans MS" pitchFamily="66" charset="0"/>
              </a:rPr>
              <a:t> </a:t>
            </a:r>
            <a:r>
              <a:rPr lang="tr-TR" sz="2000" dirty="0">
                <a:solidFill>
                  <a:srgbClr val="002060"/>
                </a:solidFill>
                <a:latin typeface="Comic Sans MS" pitchFamily="66" charset="0"/>
              </a:rPr>
              <a:t>aralarında yarışıyorlar 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AE9A2726-FFE3-F80A-71CE-1B84BB2ACB3E}"/>
              </a:ext>
            </a:extLst>
          </p:cNvPr>
          <p:cNvSpPr txBox="1"/>
          <p:nvPr/>
        </p:nvSpPr>
        <p:spPr>
          <a:xfrm>
            <a:off x="3795278" y="5704159"/>
            <a:ext cx="3929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tr-TR" sz="2000" u="sng" dirty="0">
                <a:solidFill>
                  <a:srgbClr val="002060"/>
                </a:solidFill>
                <a:latin typeface="Comic Sans MS" pitchFamily="66" charset="0"/>
              </a:rPr>
              <a:t>2. İşbirliği:</a:t>
            </a:r>
            <a:r>
              <a:rPr lang="tr-TR" sz="2000" dirty="0">
                <a:solidFill>
                  <a:srgbClr val="002060"/>
                </a:solidFill>
                <a:latin typeface="Comic Sans MS" pitchFamily="66" charset="0"/>
              </a:rPr>
              <a:t> </a:t>
            </a:r>
          </a:p>
          <a:p>
            <a:pPr marL="457200" indent="-457200"/>
            <a:r>
              <a:rPr lang="tr-TR" sz="2000" dirty="0">
                <a:solidFill>
                  <a:srgbClr val="002060"/>
                </a:solidFill>
                <a:latin typeface="Comic Sans MS" pitchFamily="66" charset="0"/>
              </a:rPr>
              <a:t>Kazanan nöron komşu nöronlarla </a:t>
            </a:r>
          </a:p>
          <a:p>
            <a:pPr marL="457200" indent="-457200"/>
            <a:r>
              <a:rPr lang="tr-TR" sz="2000" dirty="0">
                <a:solidFill>
                  <a:srgbClr val="002060"/>
                </a:solidFill>
                <a:latin typeface="Comic Sans MS" pitchFamily="66" charset="0"/>
              </a:rPr>
              <a:t>işbirliği yapıyor.</a:t>
            </a:r>
            <a:endParaRPr lang="en-GB" dirty="0">
              <a:solidFill>
                <a:srgbClr val="002060"/>
              </a:solidFill>
            </a:endParaRPr>
          </a:p>
        </p:txBody>
      </p: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7B0508E1-EEF0-ED49-B9C3-9DDAD90DFF6E}"/>
              </a:ext>
            </a:extLst>
          </p:cNvPr>
          <p:cNvCxnSpPr>
            <a:cxnSpLocks/>
          </p:cNvCxnSpPr>
          <p:nvPr/>
        </p:nvCxnSpPr>
        <p:spPr>
          <a:xfrm>
            <a:off x="2553206" y="5076940"/>
            <a:ext cx="428628" cy="613769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13">
            <a:extLst>
              <a:ext uri="{FF2B5EF4-FFF2-40B4-BE49-F238E27FC236}">
                <a16:creationId xmlns:a16="http://schemas.microsoft.com/office/drawing/2014/main" id="{D20C1210-DD47-D97F-FD2C-49A81742F5CD}"/>
              </a:ext>
            </a:extLst>
          </p:cNvPr>
          <p:cNvSpPr txBox="1"/>
          <p:nvPr/>
        </p:nvSpPr>
        <p:spPr>
          <a:xfrm>
            <a:off x="2295080" y="5639364"/>
            <a:ext cx="150019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tr-TR" dirty="0">
                <a:solidFill>
                  <a:srgbClr val="C00000"/>
                </a:solidFill>
                <a:latin typeface="Comic Sans MS" pitchFamily="66" charset="0"/>
              </a:rPr>
              <a:t> </a:t>
            </a:r>
            <a:r>
              <a:rPr lang="tr-TR" sz="1600" dirty="0">
                <a:solidFill>
                  <a:srgbClr val="C00000"/>
                </a:solidFill>
                <a:latin typeface="Comic Sans MS" pitchFamily="66" charset="0"/>
              </a:rPr>
              <a:t>nöronların </a:t>
            </a:r>
          </a:p>
          <a:p>
            <a:pPr marL="342900" indent="-342900" algn="ctr"/>
            <a:r>
              <a:rPr lang="tr-TR" sz="1600" dirty="0">
                <a:solidFill>
                  <a:srgbClr val="C00000"/>
                </a:solidFill>
                <a:latin typeface="Comic Sans MS" pitchFamily="66" charset="0"/>
              </a:rPr>
              <a:t>konumları</a:t>
            </a:r>
          </a:p>
          <a:p>
            <a:pPr marL="342900" indent="-342900" algn="ctr"/>
            <a:r>
              <a:rPr lang="tr-TR" sz="1600" dirty="0">
                <a:solidFill>
                  <a:srgbClr val="C00000"/>
                </a:solidFill>
                <a:latin typeface="Comic Sans MS" pitchFamily="66" charset="0"/>
              </a:rPr>
              <a:t>önemli  </a:t>
            </a:r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13DA36DA-9E53-CCDD-4BC5-7C78BB4894F3}"/>
              </a:ext>
            </a:extLst>
          </p:cNvPr>
          <p:cNvGrpSpPr/>
          <p:nvPr/>
        </p:nvGrpSpPr>
        <p:grpSpPr>
          <a:xfrm>
            <a:off x="10086993" y="3698179"/>
            <a:ext cx="1758574" cy="2496351"/>
            <a:chOff x="10086993" y="3698179"/>
            <a:chExt cx="1758574" cy="2496351"/>
          </a:xfrm>
        </p:grpSpPr>
        <p:pic>
          <p:nvPicPr>
            <p:cNvPr id="6" name="Resim 5">
              <a:extLst>
                <a:ext uri="{FF2B5EF4-FFF2-40B4-BE49-F238E27FC236}">
                  <a16:creationId xmlns:a16="http://schemas.microsoft.com/office/drawing/2014/main" id="{07383AAD-C72B-5F29-E8D7-585C27AF2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5975"/>
            <a:stretch/>
          </p:blipFill>
          <p:spPr>
            <a:xfrm>
              <a:off x="10086993" y="3698179"/>
              <a:ext cx="1758574" cy="1850020"/>
            </a:xfrm>
            <a:prstGeom prst="rect">
              <a:avLst/>
            </a:prstGeom>
          </p:spPr>
        </p:pic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EAA51A57-984B-9EB5-ECFE-8C9BDD5D954A}"/>
                </a:ext>
              </a:extLst>
            </p:cNvPr>
            <p:cNvSpPr txBox="1"/>
            <p:nvPr/>
          </p:nvSpPr>
          <p:spPr>
            <a:xfrm>
              <a:off x="10161127" y="5548199"/>
              <a:ext cx="168444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T. </a:t>
              </a:r>
              <a:r>
                <a:rPr lang="en-US" sz="1800" dirty="0" err="1">
                  <a:solidFill>
                    <a:srgbClr val="002060"/>
                  </a:solidFill>
                  <a:latin typeface="Comic Sans MS" panose="030F0702030302020204" pitchFamily="66" charset="0"/>
                </a:rPr>
                <a:t>Kohonen</a:t>
              </a:r>
              <a:endParaRPr lang="tr-TR" sz="1800" dirty="0">
                <a:solidFill>
                  <a:srgbClr val="002060"/>
                </a:solidFill>
                <a:latin typeface="Comic Sans MS" panose="030F0702030302020204" pitchFamily="66" charset="0"/>
              </a:endParaRPr>
            </a:p>
            <a:p>
              <a:pPr algn="ctr"/>
              <a:r>
                <a:rPr lang="tr-TR" sz="18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19</a:t>
              </a:r>
              <a:r>
                <a:rPr lang="en-US" sz="18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34</a:t>
              </a:r>
              <a:r>
                <a:rPr lang="tr-TR" sz="18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-</a:t>
              </a:r>
              <a:r>
                <a:rPr lang="en-US" sz="18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2021</a:t>
              </a:r>
              <a:endParaRPr lang="tr-TR" sz="1800" dirty="0">
                <a:solidFill>
                  <a:srgbClr val="002060"/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276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3" grpId="0"/>
      <p:bldP spid="17" grpId="0"/>
      <p:bldP spid="18" grpId="0" autoUpdateAnimBg="0"/>
      <p:bldP spid="19" grpId="0" autoUpdateAnimBg="0"/>
      <p:bldP spid="20" grpId="0" autoUpdateAnimBg="0"/>
      <p:bldP spid="2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B5AB956-37F7-D79F-1CEB-0CFA07E73A85}"/>
              </a:ext>
            </a:extLst>
          </p:cNvPr>
          <p:cNvGrpSpPr/>
          <p:nvPr/>
        </p:nvGrpSpPr>
        <p:grpSpPr>
          <a:xfrm>
            <a:off x="2952729" y="49200"/>
            <a:ext cx="941387" cy="1665288"/>
            <a:chOff x="518078" y="2522551"/>
            <a:chExt cx="941387" cy="1665288"/>
          </a:xfrm>
        </p:grpSpPr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4BBE9B9D-9099-50E7-62E4-275892F420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8078" y="2522551"/>
            <a:ext cx="941387" cy="1665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545760" imgH="965160" progId="Equation.3">
                    <p:embed/>
                  </p:oleObj>
                </mc:Choice>
                <mc:Fallback>
                  <p:oleObj name="Equation" r:id="rId3" imgW="545760" imgH="965160" progId="Equation.3">
                    <p:embed/>
                    <p:pic>
                      <p:nvPicPr>
                        <p:cNvPr id="3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078" y="2522551"/>
                          <a:ext cx="941387" cy="1665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1DFBE99-19B5-AA69-1011-D49CD265DE6B}"/>
                </a:ext>
              </a:extLst>
            </p:cNvPr>
            <p:cNvCxnSpPr/>
            <p:nvPr/>
          </p:nvCxnSpPr>
          <p:spPr>
            <a:xfrm rot="5400000">
              <a:off x="957790" y="3535363"/>
              <a:ext cx="357190" cy="1588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66F2E3F-D48A-6C4C-8EA8-EEEE950D6793}"/>
              </a:ext>
            </a:extLst>
          </p:cNvPr>
          <p:cNvSpPr txBox="1"/>
          <p:nvPr/>
        </p:nvSpPr>
        <p:spPr>
          <a:xfrm>
            <a:off x="1809721" y="142852"/>
            <a:ext cx="3929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000" b="0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1. Yarışma:</a:t>
            </a:r>
            <a:r>
              <a:rPr kumimoji="0" lang="tr-TR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36B8E06-0BE8-2A36-C258-13E7F2F4F1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821467"/>
              </p:ext>
            </p:extLst>
          </p:nvPr>
        </p:nvGraphicFramePr>
        <p:xfrm>
          <a:off x="3871918" y="71415"/>
          <a:ext cx="2938463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01720" imgH="939600" progId="Equation.3">
                  <p:embed/>
                </p:oleObj>
              </mc:Choice>
              <mc:Fallback>
                <p:oleObj name="Equation" r:id="rId5" imgW="1701720" imgH="9396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1918" y="71415"/>
                        <a:ext cx="2938463" cy="162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C1C06B-4D3A-4869-D6BD-30CF112E7AB2}"/>
              </a:ext>
            </a:extLst>
          </p:cNvPr>
          <p:cNvCxnSpPr/>
          <p:nvPr/>
        </p:nvCxnSpPr>
        <p:spPr>
          <a:xfrm rot="5400000">
            <a:off x="4559289" y="1035033"/>
            <a:ext cx="357190" cy="1588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8A38A39-100F-4FDA-1C59-F3C54AA4424D}"/>
              </a:ext>
            </a:extLst>
          </p:cNvPr>
          <p:cNvCxnSpPr/>
          <p:nvPr/>
        </p:nvCxnSpPr>
        <p:spPr>
          <a:xfrm>
            <a:off x="6881818" y="928670"/>
            <a:ext cx="571504" cy="1588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9">
            <a:extLst>
              <a:ext uri="{FF2B5EF4-FFF2-40B4-BE49-F238E27FC236}">
                <a16:creationId xmlns:a16="http://schemas.microsoft.com/office/drawing/2014/main" id="{1A085A75-56F2-43DD-6612-CE724ECB3883}"/>
              </a:ext>
            </a:extLst>
          </p:cNvPr>
          <p:cNvSpPr txBox="1"/>
          <p:nvPr/>
        </p:nvSpPr>
        <p:spPr>
          <a:xfrm>
            <a:off x="7310446" y="642919"/>
            <a:ext cx="1785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Toplam nöron sayısı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ED57B773-F299-72C8-DE5D-7F7E8F0DDF91}"/>
              </a:ext>
            </a:extLst>
          </p:cNvPr>
          <p:cNvSpPr txBox="1"/>
          <p:nvPr/>
        </p:nvSpPr>
        <p:spPr>
          <a:xfrm>
            <a:off x="1695298" y="2100196"/>
            <a:ext cx="3757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En büyüğü bulmak neye denk?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7">
            <a:extLst>
              <a:ext uri="{FF2B5EF4-FFF2-40B4-BE49-F238E27FC236}">
                <a16:creationId xmlns:a16="http://schemas.microsoft.com/office/drawing/2014/main" id="{8111952E-A3A9-D771-BF77-C22175B115B4}"/>
              </a:ext>
            </a:extLst>
          </p:cNvPr>
          <p:cNvGrpSpPr/>
          <p:nvPr/>
        </p:nvGrpSpPr>
        <p:grpSpPr>
          <a:xfrm>
            <a:off x="1809720" y="1641468"/>
            <a:ext cx="7314052" cy="573087"/>
            <a:chOff x="285720" y="2214554"/>
            <a:chExt cx="7314052" cy="573087"/>
          </a:xfrm>
        </p:grpSpPr>
        <p:grpSp>
          <p:nvGrpSpPr>
            <p:cNvPr id="12" name="Group 14">
              <a:extLst>
                <a:ext uri="{FF2B5EF4-FFF2-40B4-BE49-F238E27FC236}">
                  <a16:creationId xmlns:a16="http://schemas.microsoft.com/office/drawing/2014/main" id="{801E8FE3-1F33-56DA-FDE8-CE951CB16493}"/>
                </a:ext>
              </a:extLst>
            </p:cNvPr>
            <p:cNvGrpSpPr/>
            <p:nvPr/>
          </p:nvGrpSpPr>
          <p:grpSpPr>
            <a:xfrm>
              <a:off x="285720" y="2214554"/>
              <a:ext cx="7314052" cy="573087"/>
              <a:chOff x="285720" y="2214554"/>
              <a:chExt cx="7314052" cy="573087"/>
            </a:xfrm>
          </p:grpSpPr>
          <p:grpSp>
            <p:nvGrpSpPr>
              <p:cNvPr id="14" name="Group 12">
                <a:extLst>
                  <a:ext uri="{FF2B5EF4-FFF2-40B4-BE49-F238E27FC236}">
                    <a16:creationId xmlns:a16="http://schemas.microsoft.com/office/drawing/2014/main" id="{0F7A5BB7-7B26-066E-32B1-578D4419F5B5}"/>
                  </a:ext>
                </a:extLst>
              </p:cNvPr>
              <p:cNvGrpSpPr/>
              <p:nvPr/>
            </p:nvGrpSpPr>
            <p:grpSpPr>
              <a:xfrm>
                <a:off x="285720" y="2314510"/>
                <a:ext cx="7314052" cy="400110"/>
                <a:chOff x="638175" y="2314510"/>
                <a:chExt cx="7314052" cy="400110"/>
              </a:xfrm>
            </p:grpSpPr>
            <p:sp>
              <p:nvSpPr>
                <p:cNvPr id="16" name="TextBox 10">
                  <a:extLst>
                    <a:ext uri="{FF2B5EF4-FFF2-40B4-BE49-F238E27FC236}">
                      <a16:creationId xmlns:a16="http://schemas.microsoft.com/office/drawing/2014/main" id="{F8C25E60-96AB-8CD2-D904-366CE7081583}"/>
                    </a:ext>
                  </a:extLst>
                </p:cNvPr>
                <p:cNvSpPr txBox="1"/>
                <p:nvPr/>
              </p:nvSpPr>
              <p:spPr>
                <a:xfrm>
                  <a:off x="714348" y="2314510"/>
                  <a:ext cx="723787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tr-TR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Comic Sans MS" pitchFamily="66" charset="0"/>
                      <a:ea typeface="+mn-ea"/>
                      <a:cs typeface="+mn-cs"/>
                    </a:rPr>
                    <a:t> ‘e en uygunu bulmak için           ‘lere bak en büyüğünü seç    </a:t>
                  </a: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aphicFrame>
              <p:nvGraphicFramePr>
                <p:cNvPr id="17" name="Object 4">
                  <a:extLst>
                    <a:ext uri="{FF2B5EF4-FFF2-40B4-BE49-F238E27FC236}">
                      <a16:creationId xmlns:a16="http://schemas.microsoft.com/office/drawing/2014/main" id="{5AA9CFF5-45C2-C9A8-48F4-7C42E8A764E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38175" y="2381250"/>
                <a:ext cx="260350" cy="2873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7" imgW="126720" imgH="139680" progId="Equation.3">
                        <p:embed/>
                      </p:oleObj>
                    </mc:Choice>
                    <mc:Fallback>
                      <p:oleObj name="Equation" r:id="rId7" imgW="126720" imgH="139680" progId="Equation.3">
                        <p:embed/>
                        <p:pic>
                          <p:nvPicPr>
                            <p:cNvPr id="59396" name="Object 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38175" y="2381250"/>
                              <a:ext cx="260350" cy="28733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5" name="Object 5">
                <a:extLst>
                  <a:ext uri="{FF2B5EF4-FFF2-40B4-BE49-F238E27FC236}">
                    <a16:creationId xmlns:a16="http://schemas.microsoft.com/office/drawing/2014/main" id="{C68AC320-56FB-E3FC-8BF4-A3E0CC5BA2C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30585" y="2214554"/>
              <a:ext cx="784225" cy="5730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380880" imgH="279360" progId="Equation.3">
                      <p:embed/>
                    </p:oleObj>
                  </mc:Choice>
                  <mc:Fallback>
                    <p:oleObj name="Equation" r:id="rId9" imgW="380880" imgH="279360" progId="Equation.3">
                      <p:embed/>
                      <p:pic>
                        <p:nvPicPr>
                          <p:cNvPr id="59397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30585" y="2214554"/>
                            <a:ext cx="784225" cy="57308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3" name="Object 5">
              <a:extLst>
                <a:ext uri="{FF2B5EF4-FFF2-40B4-BE49-F238E27FC236}">
                  <a16:creationId xmlns:a16="http://schemas.microsoft.com/office/drawing/2014/main" id="{1228304A-51FC-0BE4-00A7-A286AB3E05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80284" y="2214554"/>
            <a:ext cx="392112" cy="442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90440" imgH="215640" progId="Equation.3">
                    <p:embed/>
                  </p:oleObj>
                </mc:Choice>
                <mc:Fallback>
                  <p:oleObj name="Equation" r:id="rId11" imgW="190440" imgH="215640" progId="Equation.3">
                    <p:embed/>
                    <p:pic>
                      <p:nvPicPr>
                        <p:cNvPr id="1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80284" y="2214554"/>
                          <a:ext cx="392112" cy="4429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7">
            <a:extLst>
              <a:ext uri="{FF2B5EF4-FFF2-40B4-BE49-F238E27FC236}">
                <a16:creationId xmlns:a16="http://schemas.microsoft.com/office/drawing/2014/main" id="{56E5CADF-AACC-CE59-D5E6-AF6C616CA9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010478"/>
              </p:ext>
            </p:extLst>
          </p:nvPr>
        </p:nvGraphicFramePr>
        <p:xfrm>
          <a:off x="3805239" y="2428869"/>
          <a:ext cx="404018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68480" imgH="266400" progId="Equation.3">
                  <p:embed/>
                </p:oleObj>
              </mc:Choice>
              <mc:Fallback>
                <p:oleObj name="Equation" r:id="rId13" imgW="1968480" imgH="266400" progId="Equation.3">
                  <p:embed/>
                  <p:pic>
                    <p:nvPicPr>
                      <p:cNvPr id="593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5239" y="2428869"/>
                        <a:ext cx="4040187" cy="54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Straight Arrow Connector 21">
            <a:extLst>
              <a:ext uri="{FF2B5EF4-FFF2-40B4-BE49-F238E27FC236}">
                <a16:creationId xmlns:a16="http://schemas.microsoft.com/office/drawing/2014/main" id="{40F8A191-2969-B8DE-9541-4AA73731D85D}"/>
              </a:ext>
            </a:extLst>
          </p:cNvPr>
          <p:cNvCxnSpPr/>
          <p:nvPr/>
        </p:nvCxnSpPr>
        <p:spPr>
          <a:xfrm>
            <a:off x="6667504" y="3143248"/>
            <a:ext cx="571504" cy="1588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24">
            <a:extLst>
              <a:ext uri="{FF2B5EF4-FFF2-40B4-BE49-F238E27FC236}">
                <a16:creationId xmlns:a16="http://schemas.microsoft.com/office/drawing/2014/main" id="{C94CB339-A024-82BB-9157-B426714DDEED}"/>
              </a:ext>
            </a:extLst>
          </p:cNvPr>
          <p:cNvSpPr txBox="1"/>
          <p:nvPr/>
        </p:nvSpPr>
        <p:spPr>
          <a:xfrm>
            <a:off x="7167570" y="2786059"/>
            <a:ext cx="4143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Nöronun konumunu belirlemek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için önemli </a:t>
            </a:r>
          </a:p>
        </p:txBody>
      </p:sp>
      <p:sp>
        <p:nvSpPr>
          <p:cNvPr id="21" name="TextBox 27">
            <a:extLst>
              <a:ext uri="{FF2B5EF4-FFF2-40B4-BE49-F238E27FC236}">
                <a16:creationId xmlns:a16="http://schemas.microsoft.com/office/drawing/2014/main" id="{8150A7D2-CE76-0443-C3BA-36224601D558}"/>
              </a:ext>
            </a:extLst>
          </p:cNvPr>
          <p:cNvSpPr txBox="1"/>
          <p:nvPr/>
        </p:nvSpPr>
        <p:spPr>
          <a:xfrm>
            <a:off x="1595406" y="3286124"/>
            <a:ext cx="89297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000" b="0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2. İşbirliği:</a:t>
            </a:r>
            <a:r>
              <a:rPr kumimoji="0" lang="tr-TR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 Kazanan nöron işbirliği yapacağı nöronları komşularından  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                   belirleyecek  </a:t>
            </a:r>
          </a:p>
        </p:txBody>
      </p:sp>
      <p:pic>
        <p:nvPicPr>
          <p:cNvPr id="22" name="Picture 28">
            <a:extLst>
              <a:ext uri="{FF2B5EF4-FFF2-40B4-BE49-F238E27FC236}">
                <a16:creationId xmlns:a16="http://schemas.microsoft.com/office/drawing/2014/main" id="{C9EB3169-190F-DEF8-AE66-A073029C6561}"/>
              </a:ext>
            </a:extLst>
          </p:cNvPr>
          <p:cNvPicPr/>
          <p:nvPr/>
        </p:nvPicPr>
        <p:blipFill>
          <a:blip r:embed="rId15" cstate="print"/>
          <a:srcRect l="13960" t="36954" r="28351" b="13032"/>
          <a:stretch>
            <a:fillRect/>
          </a:stretch>
        </p:blipFill>
        <p:spPr bwMode="auto">
          <a:xfrm>
            <a:off x="1595406" y="3929066"/>
            <a:ext cx="5143536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31">
            <a:extLst>
              <a:ext uri="{FF2B5EF4-FFF2-40B4-BE49-F238E27FC236}">
                <a16:creationId xmlns:a16="http://schemas.microsoft.com/office/drawing/2014/main" id="{D54EEBC0-E492-3957-00C5-15C4129003EB}"/>
              </a:ext>
            </a:extLst>
          </p:cNvPr>
          <p:cNvPicPr/>
          <p:nvPr/>
        </p:nvPicPr>
        <p:blipFill>
          <a:blip r:embed="rId16" cstate="print"/>
          <a:srcRect l="19610" t="40426" r="53279" b="24202"/>
          <a:stretch>
            <a:fillRect/>
          </a:stretch>
        </p:blipFill>
        <p:spPr bwMode="auto">
          <a:xfrm>
            <a:off x="6810380" y="3643314"/>
            <a:ext cx="2643206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4" name="Object 32">
            <a:extLst>
              <a:ext uri="{FF2B5EF4-FFF2-40B4-BE49-F238E27FC236}">
                <a16:creationId xmlns:a16="http://schemas.microsoft.com/office/drawing/2014/main" id="{1DCC0E40-92AF-F8AB-D73D-42DD33BB94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238532"/>
              </p:ext>
            </p:extLst>
          </p:nvPr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4120" imgH="215640" progId="Equation.3">
                  <p:embed/>
                </p:oleObj>
              </mc:Choice>
              <mc:Fallback>
                <p:oleObj name="Equation" r:id="rId17" imgW="114120" imgH="215640" progId="Equation.3">
                  <p:embed/>
                  <p:pic>
                    <p:nvPicPr>
                      <p:cNvPr id="33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0">
            <a:extLst>
              <a:ext uri="{FF2B5EF4-FFF2-40B4-BE49-F238E27FC236}">
                <a16:creationId xmlns:a16="http://schemas.microsoft.com/office/drawing/2014/main" id="{472F890B-C5D6-D310-7905-C5682E8963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316832"/>
              </p:ext>
            </p:extLst>
          </p:nvPr>
        </p:nvGraphicFramePr>
        <p:xfrm>
          <a:off x="7053263" y="5199063"/>
          <a:ext cx="2474912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06360" imgH="444240" progId="Equation.3">
                  <p:embed/>
                </p:oleObj>
              </mc:Choice>
              <mc:Fallback>
                <p:oleObj name="Equation" r:id="rId19" imgW="1206360" imgH="444240" progId="Equation.3">
                  <p:embed/>
                  <p:pic>
                    <p:nvPicPr>
                      <p:cNvPr id="594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3263" y="5199063"/>
                        <a:ext cx="2474912" cy="912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34">
            <a:extLst>
              <a:ext uri="{FF2B5EF4-FFF2-40B4-BE49-F238E27FC236}">
                <a16:creationId xmlns:a16="http://schemas.microsoft.com/office/drawing/2014/main" id="{FF4BF293-3975-9E25-E44D-AD0E0C772BE6}"/>
              </a:ext>
            </a:extLst>
          </p:cNvPr>
          <p:cNvGrpSpPr/>
          <p:nvPr/>
        </p:nvGrpSpPr>
        <p:grpSpPr>
          <a:xfrm>
            <a:off x="1595407" y="2928934"/>
            <a:ext cx="5215721" cy="428628"/>
            <a:chOff x="71406" y="2857496"/>
            <a:chExt cx="5215721" cy="428628"/>
          </a:xfrm>
        </p:grpSpPr>
        <p:grpSp>
          <p:nvGrpSpPr>
            <p:cNvPr id="27" name="Group 12">
              <a:extLst>
                <a:ext uri="{FF2B5EF4-FFF2-40B4-BE49-F238E27FC236}">
                  <a16:creationId xmlns:a16="http://schemas.microsoft.com/office/drawing/2014/main" id="{C1509E7E-FE24-D05D-421D-38549DB827F6}"/>
                </a:ext>
              </a:extLst>
            </p:cNvPr>
            <p:cNvGrpSpPr/>
            <p:nvPr/>
          </p:nvGrpSpPr>
          <p:grpSpPr>
            <a:xfrm>
              <a:off x="71406" y="2857496"/>
              <a:ext cx="5215721" cy="400110"/>
              <a:chOff x="638175" y="2314510"/>
              <a:chExt cx="5215721" cy="400110"/>
            </a:xfrm>
          </p:grpSpPr>
          <p:sp>
            <p:nvSpPr>
              <p:cNvPr id="29" name="TextBox 25">
                <a:extLst>
                  <a:ext uri="{FF2B5EF4-FFF2-40B4-BE49-F238E27FC236}">
                    <a16:creationId xmlns:a16="http://schemas.microsoft.com/office/drawing/2014/main" id="{05D18C18-EBA3-858C-A9B6-AC9265862AFD}"/>
                  </a:ext>
                </a:extLst>
              </p:cNvPr>
              <p:cNvSpPr txBox="1"/>
              <p:nvPr/>
            </p:nvSpPr>
            <p:spPr>
              <a:xfrm>
                <a:off x="714348" y="2314510"/>
                <a:ext cx="513954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tr-T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omic Sans MS" pitchFamily="66" charset="0"/>
                    <a:ea typeface="+mn-ea"/>
                    <a:cs typeface="+mn-cs"/>
                  </a:rPr>
                  <a:t> ‘e en uygunu nöronun indisini        belirle </a:t>
                </a: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aphicFrame>
            <p:nvGraphicFramePr>
              <p:cNvPr id="30" name="Object 4">
                <a:extLst>
                  <a:ext uri="{FF2B5EF4-FFF2-40B4-BE49-F238E27FC236}">
                    <a16:creationId xmlns:a16="http://schemas.microsoft.com/office/drawing/2014/main" id="{7EC7D13E-A97F-F2EE-FB91-D0F7DA73EBE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38175" y="2381250"/>
              <a:ext cx="260350" cy="2873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126720" imgH="139680" progId="Equation.3">
                      <p:embed/>
                    </p:oleObj>
                  </mc:Choice>
                  <mc:Fallback>
                    <p:oleObj name="Equation" r:id="rId21" imgW="126720" imgH="139680" progId="Equation.3">
                      <p:embed/>
                      <p:pic>
                        <p:nvPicPr>
                          <p:cNvPr id="27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8175" y="2381250"/>
                            <a:ext cx="260350" cy="28733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8" name="Object 33">
              <a:extLst>
                <a:ext uri="{FF2B5EF4-FFF2-40B4-BE49-F238E27FC236}">
                  <a16:creationId xmlns:a16="http://schemas.microsoft.com/office/drawing/2014/main" id="{A80C09D0-A412-164A-6630-1F558920C4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3306" y="2857496"/>
            <a:ext cx="589363" cy="428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79360" imgH="203040" progId="Equation.3">
                    <p:embed/>
                  </p:oleObj>
                </mc:Choice>
                <mc:Fallback>
                  <p:oleObj name="Equation" r:id="rId22" imgW="279360" imgH="203040" progId="Equation.3">
                    <p:embed/>
                    <p:pic>
                      <p:nvPicPr>
                        <p:cNvPr id="34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3306" y="2857496"/>
                          <a:ext cx="589363" cy="4286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1" name="Straight Arrow Connector 35">
            <a:extLst>
              <a:ext uri="{FF2B5EF4-FFF2-40B4-BE49-F238E27FC236}">
                <a16:creationId xmlns:a16="http://schemas.microsoft.com/office/drawing/2014/main" id="{BA609A2F-7294-55AB-FF53-F316A631D2BE}"/>
              </a:ext>
            </a:extLst>
          </p:cNvPr>
          <p:cNvCxnSpPr/>
          <p:nvPr/>
        </p:nvCxnSpPr>
        <p:spPr>
          <a:xfrm rot="10800000">
            <a:off x="6810381" y="5430851"/>
            <a:ext cx="223838" cy="212726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7">
            <a:extLst>
              <a:ext uri="{FF2B5EF4-FFF2-40B4-BE49-F238E27FC236}">
                <a16:creationId xmlns:a16="http://schemas.microsoft.com/office/drawing/2014/main" id="{F14E40CB-26E7-D01C-70A4-765AD0B0D3ED}"/>
              </a:ext>
            </a:extLst>
          </p:cNvPr>
          <p:cNvSpPr txBox="1"/>
          <p:nvPr/>
        </p:nvSpPr>
        <p:spPr>
          <a:xfrm>
            <a:off x="5738810" y="4915928"/>
            <a:ext cx="1571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i. nöronun komşuluğu</a:t>
            </a:r>
          </a:p>
        </p:txBody>
      </p:sp>
      <p:cxnSp>
        <p:nvCxnSpPr>
          <p:cNvPr id="33" name="Straight Arrow Connector 38">
            <a:extLst>
              <a:ext uri="{FF2B5EF4-FFF2-40B4-BE49-F238E27FC236}">
                <a16:creationId xmlns:a16="http://schemas.microsoft.com/office/drawing/2014/main" id="{1F8FCE1C-7634-1C70-6842-4CDF52F9B41E}"/>
              </a:ext>
            </a:extLst>
          </p:cNvPr>
          <p:cNvCxnSpPr/>
          <p:nvPr/>
        </p:nvCxnSpPr>
        <p:spPr>
          <a:xfrm flipV="1">
            <a:off x="8953520" y="5143513"/>
            <a:ext cx="357190" cy="214313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40">
            <a:extLst>
              <a:ext uri="{FF2B5EF4-FFF2-40B4-BE49-F238E27FC236}">
                <a16:creationId xmlns:a16="http://schemas.microsoft.com/office/drawing/2014/main" id="{9BCCF22E-A928-4BBE-16FF-A0E3E790892B}"/>
              </a:ext>
            </a:extLst>
          </p:cNvPr>
          <p:cNvSpPr txBox="1"/>
          <p:nvPr/>
        </p:nvSpPr>
        <p:spPr>
          <a:xfrm>
            <a:off x="8239140" y="4500571"/>
            <a:ext cx="2357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i. nöron ile j. nöron arasındaki mesafe </a:t>
            </a:r>
          </a:p>
        </p:txBody>
      </p:sp>
      <p:cxnSp>
        <p:nvCxnSpPr>
          <p:cNvPr id="35" name="Straight Arrow Connector 41">
            <a:extLst>
              <a:ext uri="{FF2B5EF4-FFF2-40B4-BE49-F238E27FC236}">
                <a16:creationId xmlns:a16="http://schemas.microsoft.com/office/drawing/2014/main" id="{E542B3D4-BCB5-AA8E-0C8B-1C24F64D9BBC}"/>
              </a:ext>
            </a:extLst>
          </p:cNvPr>
          <p:cNvCxnSpPr/>
          <p:nvPr/>
        </p:nvCxnSpPr>
        <p:spPr>
          <a:xfrm rot="10800000" flipV="1">
            <a:off x="6953256" y="6000768"/>
            <a:ext cx="2081226" cy="142876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Object 44">
            <a:extLst>
              <a:ext uri="{FF2B5EF4-FFF2-40B4-BE49-F238E27FC236}">
                <a16:creationId xmlns:a16="http://schemas.microsoft.com/office/drawing/2014/main" id="{9D910839-84AE-2766-69C1-3F2F406301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749965"/>
              </p:ext>
            </p:extLst>
          </p:nvPr>
        </p:nvGraphicFramePr>
        <p:xfrm>
          <a:off x="6596066" y="6072230"/>
          <a:ext cx="4083916" cy="714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968480" imgH="431640" progId="Equation.3">
                  <p:embed/>
                </p:oleObj>
              </mc:Choice>
              <mc:Fallback>
                <p:oleObj name="Equation" r:id="rId24" imgW="1968480" imgH="431640" progId="Equation.3">
                  <p:embed/>
                  <p:pic>
                    <p:nvPicPr>
                      <p:cNvPr id="45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6066" y="6072230"/>
                        <a:ext cx="4083916" cy="7143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0">
            <a:extLst>
              <a:ext uri="{FF2B5EF4-FFF2-40B4-BE49-F238E27FC236}">
                <a16:creationId xmlns:a16="http://schemas.microsoft.com/office/drawing/2014/main" id="{B21A188C-98EB-581E-1570-F7BC648C8AD3}"/>
              </a:ext>
            </a:extLst>
          </p:cNvPr>
          <p:cNvSpPr txBox="1"/>
          <p:nvPr/>
        </p:nvSpPr>
        <p:spPr>
          <a:xfrm>
            <a:off x="1523968" y="6589778"/>
            <a:ext cx="91440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S.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Haykin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, “Neural Networks- A Comprehensive Foundation”, 2</a:t>
            </a:r>
            <a:r>
              <a:rPr kumimoji="0" lang="en-GB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nd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Edition, Prentice Hall, 1999, New Jersey.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34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9" grpId="0" autoUpdateAnimBg="0"/>
      <p:bldP spid="10" grpId="0"/>
      <p:bldP spid="20" grpId="0" autoUpdateAnimBg="0"/>
      <p:bldP spid="21" grpId="0" autoUpdateAnimBg="0"/>
      <p:bldP spid="32" grpId="0" autoUpdateAnimBg="0"/>
      <p:bldP spid="34" grpId="0" autoUpdateAnimBg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943F6B10-4A22-6CED-44FC-D155002ADCE4}"/>
              </a:ext>
            </a:extLst>
          </p:cNvPr>
          <p:cNvGrpSpPr/>
          <p:nvPr/>
        </p:nvGrpSpPr>
        <p:grpSpPr>
          <a:xfrm>
            <a:off x="1719264" y="247650"/>
            <a:ext cx="2947977" cy="496888"/>
            <a:chOff x="548465" y="2276432"/>
            <a:chExt cx="2947977" cy="496888"/>
          </a:xfrm>
        </p:grpSpPr>
        <p:sp>
          <p:nvSpPr>
            <p:cNvPr id="3" name="TextBox 4">
              <a:extLst>
                <a:ext uri="{FF2B5EF4-FFF2-40B4-BE49-F238E27FC236}">
                  <a16:creationId xmlns:a16="http://schemas.microsoft.com/office/drawing/2014/main" id="{241CC3B1-C0E7-F930-F0CD-FB92FA0A71C3}"/>
                </a:ext>
              </a:extLst>
            </p:cNvPr>
            <p:cNvSpPr txBox="1"/>
            <p:nvPr/>
          </p:nvSpPr>
          <p:spPr>
            <a:xfrm>
              <a:off x="783840" y="2314510"/>
              <a:ext cx="27126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mic Sans MS" pitchFamily="66" charset="0"/>
                  <a:ea typeface="+mn-ea"/>
                  <a:cs typeface="+mn-cs"/>
                </a:rPr>
                <a:t>  nasıl hesaplanacak? 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aphicFrame>
          <p:nvGraphicFramePr>
            <p:cNvPr id="4" name="Object 4">
              <a:extLst>
                <a:ext uri="{FF2B5EF4-FFF2-40B4-BE49-F238E27FC236}">
                  <a16:creationId xmlns:a16="http://schemas.microsoft.com/office/drawing/2014/main" id="{163E3E9E-2D0D-56E5-E95B-1BDFD8B7F5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465" y="2276432"/>
            <a:ext cx="442912" cy="496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15640" imgH="241200" progId="Equation.3">
                    <p:embed/>
                  </p:oleObj>
                </mc:Choice>
                <mc:Fallback>
                  <p:oleObj name="Equation" r:id="rId3" imgW="215640" imgH="241200" progId="Equation.3">
                    <p:embed/>
                    <p:pic>
                      <p:nvPicPr>
                        <p:cNvPr id="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465" y="2276432"/>
                          <a:ext cx="442912" cy="4968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68C1321-0199-0E1F-EDD6-30925B3531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6560" y="857233"/>
          <a:ext cx="3960813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30320" imgH="507960" progId="Equation.3">
                  <p:embed/>
                </p:oleObj>
              </mc:Choice>
              <mc:Fallback>
                <p:oleObj name="Equation" r:id="rId5" imgW="1930320" imgH="507960" progId="Equation.3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0" y="857233"/>
                        <a:ext cx="3960813" cy="1046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Arrow Connector 7">
            <a:extLst>
              <a:ext uri="{FF2B5EF4-FFF2-40B4-BE49-F238E27FC236}">
                <a16:creationId xmlns:a16="http://schemas.microsoft.com/office/drawing/2014/main" id="{0BF1C596-C9E0-F55B-07F4-4C2631F313A3}"/>
              </a:ext>
            </a:extLst>
          </p:cNvPr>
          <p:cNvCxnSpPr/>
          <p:nvPr/>
        </p:nvCxnSpPr>
        <p:spPr>
          <a:xfrm>
            <a:off x="3238480" y="1785926"/>
            <a:ext cx="357190" cy="214314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0">
            <a:extLst>
              <a:ext uri="{FF2B5EF4-FFF2-40B4-BE49-F238E27FC236}">
                <a16:creationId xmlns:a16="http://schemas.microsoft.com/office/drawing/2014/main" id="{50C36461-D978-1C39-515E-FB3253C4ED13}"/>
              </a:ext>
            </a:extLst>
          </p:cNvPr>
          <p:cNvSpPr txBox="1"/>
          <p:nvPr/>
        </p:nvSpPr>
        <p:spPr>
          <a:xfrm>
            <a:off x="3524232" y="1857364"/>
            <a:ext cx="2928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2- boyutlu düzlemde kazanan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nöronun konumu</a:t>
            </a:r>
          </a:p>
        </p:txBody>
      </p:sp>
      <p:cxnSp>
        <p:nvCxnSpPr>
          <p:cNvPr id="8" name="Straight Arrow Connector 12">
            <a:extLst>
              <a:ext uri="{FF2B5EF4-FFF2-40B4-BE49-F238E27FC236}">
                <a16:creationId xmlns:a16="http://schemas.microsoft.com/office/drawing/2014/main" id="{ED1E9E02-D7A1-48F5-AAF7-8222EB85D562}"/>
              </a:ext>
            </a:extLst>
          </p:cNvPr>
          <p:cNvCxnSpPr/>
          <p:nvPr/>
        </p:nvCxnSpPr>
        <p:spPr>
          <a:xfrm rot="10800000" flipV="1">
            <a:off x="2381224" y="1857364"/>
            <a:ext cx="428628" cy="142876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5">
            <a:extLst>
              <a:ext uri="{FF2B5EF4-FFF2-40B4-BE49-F238E27FC236}">
                <a16:creationId xmlns:a16="http://schemas.microsoft.com/office/drawing/2014/main" id="{3ADD4233-DB6B-AD8C-0EF2-AE4444961928}"/>
              </a:ext>
            </a:extLst>
          </p:cNvPr>
          <p:cNvSpPr txBox="1"/>
          <p:nvPr/>
        </p:nvSpPr>
        <p:spPr>
          <a:xfrm>
            <a:off x="1666844" y="2000240"/>
            <a:ext cx="1428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Komşu nöronun konumu</a:t>
            </a: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8575A92B-136B-D7DB-449D-1EE992634C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6066" y="1774825"/>
          <a:ext cx="1303338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34680" imgH="241200" progId="Equation.3">
                  <p:embed/>
                </p:oleObj>
              </mc:Choice>
              <mc:Fallback>
                <p:oleObj name="Equation" r:id="rId7" imgW="634680" imgH="241200" progId="Equation.3">
                  <p:embed/>
                  <p:pic>
                    <p:nvPicPr>
                      <p:cNvPr id="809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6066" y="1774825"/>
                        <a:ext cx="1303338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7">
            <a:extLst>
              <a:ext uri="{FF2B5EF4-FFF2-40B4-BE49-F238E27FC236}">
                <a16:creationId xmlns:a16="http://schemas.microsoft.com/office/drawing/2014/main" id="{382A9B9A-1693-2F74-A352-F009B01E248D}"/>
              </a:ext>
            </a:extLst>
          </p:cNvPr>
          <p:cNvSpPr txBox="1"/>
          <p:nvPr/>
        </p:nvSpPr>
        <p:spPr>
          <a:xfrm>
            <a:off x="1809720" y="2600262"/>
            <a:ext cx="28729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000" b="0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Ağırlıkları Güncelleme: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21">
            <a:extLst>
              <a:ext uri="{FF2B5EF4-FFF2-40B4-BE49-F238E27FC236}">
                <a16:creationId xmlns:a16="http://schemas.microsoft.com/office/drawing/2014/main" id="{FEAA1921-475D-DD86-EC4B-535F7115C92B}"/>
              </a:ext>
            </a:extLst>
          </p:cNvPr>
          <p:cNvGrpSpPr/>
          <p:nvPr/>
        </p:nvGrpSpPr>
        <p:grpSpPr>
          <a:xfrm>
            <a:off x="2154238" y="3084514"/>
            <a:ext cx="5220194" cy="496887"/>
            <a:chOff x="630238" y="3084513"/>
            <a:chExt cx="5220194" cy="496887"/>
          </a:xfrm>
        </p:grpSpPr>
        <p:graphicFrame>
          <p:nvGraphicFramePr>
            <p:cNvPr id="13" name="Object 6">
              <a:extLst>
                <a:ext uri="{FF2B5EF4-FFF2-40B4-BE49-F238E27FC236}">
                  <a16:creationId xmlns:a16="http://schemas.microsoft.com/office/drawing/2014/main" id="{C9787FB4-DC33-65D2-D970-AA404C29DC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0238" y="3084513"/>
            <a:ext cx="417512" cy="496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03040" imgH="241200" progId="Equation.3">
                    <p:embed/>
                  </p:oleObj>
                </mc:Choice>
                <mc:Fallback>
                  <p:oleObj name="Equation" r:id="rId9" imgW="203040" imgH="241200" progId="Equation.3">
                    <p:embed/>
                    <p:pic>
                      <p:nvPicPr>
                        <p:cNvPr id="8090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238" y="3084513"/>
                          <a:ext cx="417512" cy="4968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9">
              <a:extLst>
                <a:ext uri="{FF2B5EF4-FFF2-40B4-BE49-F238E27FC236}">
                  <a16:creationId xmlns:a16="http://schemas.microsoft.com/office/drawing/2014/main" id="{F4643893-9B88-537A-1A3D-4E70A3B12ECB}"/>
                </a:ext>
              </a:extLst>
            </p:cNvPr>
            <p:cNvSpPr txBox="1"/>
            <p:nvPr/>
          </p:nvSpPr>
          <p:spPr>
            <a:xfrm>
              <a:off x="787828" y="3100328"/>
              <a:ext cx="50626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mic Sans MS" pitchFamily="66" charset="0"/>
                  <a:ea typeface="+mn-ea"/>
                  <a:cs typeface="+mn-cs"/>
                </a:rPr>
                <a:t>  ‘nin değeri     örüntüsü ile değiştirilecek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aphicFrame>
          <p:nvGraphicFramePr>
            <p:cNvPr id="15" name="Object 4">
              <a:extLst>
                <a:ext uri="{FF2B5EF4-FFF2-40B4-BE49-F238E27FC236}">
                  <a16:creationId xmlns:a16="http://schemas.microsoft.com/office/drawing/2014/main" id="{36D85CBF-CA01-296F-1112-F4F1B849C7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5984" y="3143248"/>
            <a:ext cx="260350" cy="287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26720" imgH="139680" progId="Equation.3">
                    <p:embed/>
                  </p:oleObj>
                </mc:Choice>
                <mc:Fallback>
                  <p:oleObj name="Equation" r:id="rId11" imgW="126720" imgH="139680" progId="Equation.3">
                    <p:embed/>
                    <p:pic>
                      <p:nvPicPr>
                        <p:cNvPr id="21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5984" y="3143248"/>
                          <a:ext cx="260350" cy="2873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24">
            <a:extLst>
              <a:ext uri="{FF2B5EF4-FFF2-40B4-BE49-F238E27FC236}">
                <a16:creationId xmlns:a16="http://schemas.microsoft.com/office/drawing/2014/main" id="{FBACF683-1FE1-5E15-833F-E9FF16202C36}"/>
              </a:ext>
            </a:extLst>
          </p:cNvPr>
          <p:cNvGrpSpPr/>
          <p:nvPr/>
        </p:nvGrpSpPr>
        <p:grpSpPr>
          <a:xfrm>
            <a:off x="1952596" y="3575050"/>
            <a:ext cx="5680103" cy="496888"/>
            <a:chOff x="428596" y="3575050"/>
            <a:chExt cx="5680103" cy="496888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85C5113A-1B7D-01CA-F689-3D6E3659F069}"/>
                </a:ext>
              </a:extLst>
            </p:cNvPr>
            <p:cNvSpPr txBox="1"/>
            <p:nvPr/>
          </p:nvSpPr>
          <p:spPr>
            <a:xfrm>
              <a:off x="428596" y="3600394"/>
              <a:ext cx="29674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mic Sans MS" pitchFamily="66" charset="0"/>
                  <a:ea typeface="+mn-ea"/>
                  <a:cs typeface="+mn-cs"/>
                </a:rPr>
                <a:t>  Hebb öğrenme kuralı: 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Object 8">
                  <a:extLst>
                    <a:ext uri="{FF2B5EF4-FFF2-40B4-BE49-F238E27FC236}">
                      <a16:creationId xmlns:a16="http://schemas.microsoft.com/office/drawing/2014/main" id="{E35231B1-6ED8-1A33-2F24-E74589FD4115}"/>
                    </a:ext>
                  </a:extLst>
                </p:cNvPr>
                <p:cNvSpPr txBox="1"/>
                <p:nvPr/>
              </p:nvSpPr>
              <p:spPr bwMode="auto">
                <a:xfrm>
                  <a:off x="3273424" y="3575050"/>
                  <a:ext cx="2835275" cy="496888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+1)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8" name="Object 8">
                  <a:extLst>
                    <a:ext uri="{FF2B5EF4-FFF2-40B4-BE49-F238E27FC236}">
                      <a16:creationId xmlns:a16="http://schemas.microsoft.com/office/drawing/2014/main" id="{E35231B1-6ED8-1A33-2F24-E74589FD4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73424" y="3575050"/>
                  <a:ext cx="2835275" cy="49688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Smiley Face 25">
            <a:extLst>
              <a:ext uri="{FF2B5EF4-FFF2-40B4-BE49-F238E27FC236}">
                <a16:creationId xmlns:a16="http://schemas.microsoft.com/office/drawing/2014/main" id="{15A776AE-1EE0-E28B-4252-5C48FD2BC280}"/>
              </a:ext>
            </a:extLst>
          </p:cNvPr>
          <p:cNvSpPr/>
          <p:nvPr/>
        </p:nvSpPr>
        <p:spPr>
          <a:xfrm>
            <a:off x="3024166" y="4071942"/>
            <a:ext cx="500066" cy="428628"/>
          </a:xfrm>
          <a:prstGeom prst="smileyFac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3E18349-3108-BFC6-6F42-4A3D3DD781D1}"/>
              </a:ext>
            </a:extLst>
          </p:cNvPr>
          <p:cNvSpPr txBox="1"/>
          <p:nvPr/>
        </p:nvSpPr>
        <p:spPr>
          <a:xfrm>
            <a:off x="3454837" y="4071942"/>
            <a:ext cx="3817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 eğiticisiz öğrenme için uygun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miley Face 27">
            <a:extLst>
              <a:ext uri="{FF2B5EF4-FFF2-40B4-BE49-F238E27FC236}">
                <a16:creationId xmlns:a16="http://schemas.microsoft.com/office/drawing/2014/main" id="{A3C9FC57-7B59-D226-B6E9-C2C1D307A67E}"/>
              </a:ext>
            </a:extLst>
          </p:cNvPr>
          <p:cNvSpPr/>
          <p:nvPr/>
        </p:nvSpPr>
        <p:spPr>
          <a:xfrm>
            <a:off x="3024166" y="4643446"/>
            <a:ext cx="500066" cy="428628"/>
          </a:xfrm>
          <a:prstGeom prst="smileyFace">
            <a:avLst>
              <a:gd name="adj" fmla="val -4653"/>
            </a:avLst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8">
            <a:extLst>
              <a:ext uri="{FF2B5EF4-FFF2-40B4-BE49-F238E27FC236}">
                <a16:creationId xmlns:a16="http://schemas.microsoft.com/office/drawing/2014/main" id="{3E497C71-6A22-5EFD-FC51-353F8D7626AE}"/>
              </a:ext>
            </a:extLst>
          </p:cNvPr>
          <p:cNvSpPr txBox="1"/>
          <p:nvPr/>
        </p:nvSpPr>
        <p:spPr>
          <a:xfrm>
            <a:off x="3452795" y="4743402"/>
            <a:ext cx="4184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 hep artan veya azalan etkisi var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3" name="Group 29">
            <a:extLst>
              <a:ext uri="{FF2B5EF4-FFF2-40B4-BE49-F238E27FC236}">
                <a16:creationId xmlns:a16="http://schemas.microsoft.com/office/drawing/2014/main" id="{2ADD8917-E3DB-6598-AF68-FB3C3C10CF53}"/>
              </a:ext>
            </a:extLst>
          </p:cNvPr>
          <p:cNvGrpSpPr/>
          <p:nvPr/>
        </p:nvGrpSpPr>
        <p:grpSpPr>
          <a:xfrm>
            <a:off x="1952596" y="5218114"/>
            <a:ext cx="3330604" cy="496887"/>
            <a:chOff x="428596" y="3575035"/>
            <a:chExt cx="3330604" cy="496887"/>
          </a:xfrm>
        </p:grpSpPr>
        <p:sp>
          <p:nvSpPr>
            <p:cNvPr id="24" name="TextBox 30">
              <a:extLst>
                <a:ext uri="{FF2B5EF4-FFF2-40B4-BE49-F238E27FC236}">
                  <a16:creationId xmlns:a16="http://schemas.microsoft.com/office/drawing/2014/main" id="{9CC24C29-7819-F2E3-82CC-83AE0898B4B4}"/>
                </a:ext>
              </a:extLst>
            </p:cNvPr>
            <p:cNvSpPr txBox="1"/>
            <p:nvPr/>
          </p:nvSpPr>
          <p:spPr>
            <a:xfrm>
              <a:off x="428596" y="3600394"/>
              <a:ext cx="22044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mic Sans MS" pitchFamily="66" charset="0"/>
                  <a:ea typeface="+mn-ea"/>
                  <a:cs typeface="+mn-cs"/>
                </a:rPr>
                <a:t>  Unutma terimi: 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aphicFrame>
          <p:nvGraphicFramePr>
            <p:cNvPr id="25" name="Object 8">
              <a:extLst>
                <a:ext uri="{FF2B5EF4-FFF2-40B4-BE49-F238E27FC236}">
                  <a16:creationId xmlns:a16="http://schemas.microsoft.com/office/drawing/2014/main" id="{B3F62DF4-9D87-C51F-440C-3244ECD644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11438" y="3575035"/>
            <a:ext cx="1147762" cy="496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58720" imgH="241200" progId="Equation.3">
                    <p:embed/>
                  </p:oleObj>
                </mc:Choice>
                <mc:Fallback>
                  <p:oleObj name="Equation" r:id="rId14" imgW="558720" imgH="241200" progId="Equation.3">
                    <p:embed/>
                    <p:pic>
                      <p:nvPicPr>
                        <p:cNvPr id="3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1438" y="3575035"/>
                          <a:ext cx="1147762" cy="4968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Object 8">
            <a:extLst>
              <a:ext uri="{FF2B5EF4-FFF2-40B4-BE49-F238E27FC236}">
                <a16:creationId xmlns:a16="http://schemas.microsoft.com/office/drawing/2014/main" id="{01CD6626-58C0-1339-5D0B-5AEFBB013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6426" y="5218114"/>
          <a:ext cx="253047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31560" imgH="241200" progId="Equation.3">
                  <p:embed/>
                </p:oleObj>
              </mc:Choice>
              <mc:Fallback>
                <p:oleObj name="Equation" r:id="rId16" imgW="1231560" imgH="241200" progId="Equation.3">
                  <p:embed/>
                  <p:pic>
                    <p:nvPicPr>
                      <p:cNvPr id="3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6426" y="5218114"/>
                        <a:ext cx="2530475" cy="496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8">
                <a:extLst>
                  <a:ext uri="{FF2B5EF4-FFF2-40B4-BE49-F238E27FC236}">
                    <a16:creationId xmlns:a16="http://schemas.microsoft.com/office/drawing/2014/main" id="{0109D1D3-6901-6ADC-A599-4234C47774FA}"/>
                  </a:ext>
                </a:extLst>
              </p:cNvPr>
              <p:cNvSpPr txBox="1"/>
              <p:nvPr/>
            </p:nvSpPr>
            <p:spPr bwMode="auto">
              <a:xfrm>
                <a:off x="3238480" y="5715000"/>
                <a:ext cx="3948130" cy="4968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Object 8">
                <a:extLst>
                  <a:ext uri="{FF2B5EF4-FFF2-40B4-BE49-F238E27FC236}">
                    <a16:creationId xmlns:a16="http://schemas.microsoft.com/office/drawing/2014/main" id="{0109D1D3-6901-6ADC-A599-4234C4777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8480" y="5715000"/>
                <a:ext cx="3948130" cy="4968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Object 12">
            <a:extLst>
              <a:ext uri="{FF2B5EF4-FFF2-40B4-BE49-F238E27FC236}">
                <a16:creationId xmlns:a16="http://schemas.microsoft.com/office/drawing/2014/main" id="{C4A817CC-0B97-6E20-B79C-FCABDCF882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2700" y="5789632"/>
          <a:ext cx="1538288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49160" imgH="241200" progId="Equation.3">
                  <p:embed/>
                </p:oleObj>
              </mc:Choice>
              <mc:Fallback>
                <p:oleObj name="Equation" r:id="rId20" imgW="749160" imgH="241200" progId="Equation.3">
                  <p:embed/>
                  <p:pic>
                    <p:nvPicPr>
                      <p:cNvPr id="8090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5789632"/>
                        <a:ext cx="1538288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13">
                <a:extLst>
                  <a:ext uri="{FF2B5EF4-FFF2-40B4-BE49-F238E27FC236}">
                    <a16:creationId xmlns:a16="http://schemas.microsoft.com/office/drawing/2014/main" id="{074DFD55-0DF7-7C99-D39A-2D620953D710}"/>
                  </a:ext>
                </a:extLst>
              </p:cNvPr>
              <p:cNvSpPr txBox="1"/>
              <p:nvPr/>
            </p:nvSpPr>
            <p:spPr bwMode="auto">
              <a:xfrm>
                <a:off x="3197501" y="6200889"/>
                <a:ext cx="3948130" cy="49688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𝑗𝑖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Object 13">
                <a:extLst>
                  <a:ext uri="{FF2B5EF4-FFF2-40B4-BE49-F238E27FC236}">
                    <a16:creationId xmlns:a16="http://schemas.microsoft.com/office/drawing/2014/main" id="{074DFD55-0DF7-7C99-D39A-2D620953D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7501" y="6200889"/>
                <a:ext cx="3948130" cy="496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813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9" grpId="0" autoUpdateAnimBg="0"/>
      <p:bldP spid="11" grpId="0" autoUpdateAnimBg="0"/>
      <p:bldP spid="19" grpId="0" animBg="1"/>
      <p:bldP spid="20" grpId="0"/>
      <p:bldP spid="21" grpId="0" animBg="1"/>
      <p:bldP spid="22" grpId="0"/>
      <p:bldP spid="27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1DA95ABC-7240-DA7F-27D2-F3D2F265A8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248444"/>
              </p:ext>
            </p:extLst>
          </p:nvPr>
        </p:nvGraphicFramePr>
        <p:xfrm>
          <a:off x="3367089" y="285750"/>
          <a:ext cx="505777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63480" imgH="241200" progId="Equation.3">
                  <p:embed/>
                </p:oleObj>
              </mc:Choice>
              <mc:Fallback>
                <p:oleObj name="Equation" r:id="rId3" imgW="2463480" imgH="241200" progId="Equation.3">
                  <p:embed/>
                  <p:pic>
                    <p:nvPicPr>
                      <p:cNvPr id="819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089" y="285750"/>
                        <a:ext cx="5057775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C73C2DB6-FCB6-94B0-4ACC-2E280CAA94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41684"/>
              </p:ext>
            </p:extLst>
          </p:nvPr>
        </p:nvGraphicFramePr>
        <p:xfrm>
          <a:off x="5241946" y="857233"/>
          <a:ext cx="3925888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92160" imgH="393480" progId="Equation.3">
                  <p:embed/>
                </p:oleObj>
              </mc:Choice>
              <mc:Fallback>
                <p:oleObj name="Equation" r:id="rId5" imgW="1892160" imgH="393480" progId="Equation.3">
                  <p:embed/>
                  <p:pic>
                    <p:nvPicPr>
                      <p:cNvPr id="819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1946" y="857233"/>
                        <a:ext cx="3925888" cy="652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4C92833-3460-873F-6DBF-F2DB50715269}"/>
              </a:ext>
            </a:extLst>
          </p:cNvPr>
          <p:cNvCxnSpPr/>
          <p:nvPr/>
        </p:nvCxnSpPr>
        <p:spPr>
          <a:xfrm rot="5400000">
            <a:off x="5560215" y="750075"/>
            <a:ext cx="357190" cy="285752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5">
            <a:extLst>
              <a:ext uri="{FF2B5EF4-FFF2-40B4-BE49-F238E27FC236}">
                <a16:creationId xmlns:a16="http://schemas.microsoft.com/office/drawing/2014/main" id="{20F169A9-55E6-B7CF-84C6-4067EBBA3747}"/>
              </a:ext>
            </a:extLst>
          </p:cNvPr>
          <p:cNvSpPr txBox="1"/>
          <p:nvPr/>
        </p:nvSpPr>
        <p:spPr>
          <a:xfrm>
            <a:off x="1666845" y="1457254"/>
            <a:ext cx="23759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 eğitim iki aşamalı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Straight Arrow Connector 6">
            <a:extLst>
              <a:ext uri="{FF2B5EF4-FFF2-40B4-BE49-F238E27FC236}">
                <a16:creationId xmlns:a16="http://schemas.microsoft.com/office/drawing/2014/main" id="{81AACF1A-90F1-E70A-FA27-BD96A62A74C7}"/>
              </a:ext>
            </a:extLst>
          </p:cNvPr>
          <p:cNvCxnSpPr/>
          <p:nvPr/>
        </p:nvCxnSpPr>
        <p:spPr>
          <a:xfrm>
            <a:off x="4095736" y="1643050"/>
            <a:ext cx="1000132" cy="1588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>
            <a:extLst>
              <a:ext uri="{FF2B5EF4-FFF2-40B4-BE49-F238E27FC236}">
                <a16:creationId xmlns:a16="http://schemas.microsoft.com/office/drawing/2014/main" id="{4142CB06-7177-370A-45F8-5EAF3920DA21}"/>
              </a:ext>
            </a:extLst>
          </p:cNvPr>
          <p:cNvSpPr txBox="1"/>
          <p:nvPr/>
        </p:nvSpPr>
        <p:spPr>
          <a:xfrm>
            <a:off x="5095869" y="1457254"/>
            <a:ext cx="2698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özdüzenleme aşaması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82E05CA2-86DF-6B9B-741E-9E1797E5A3B2}"/>
              </a:ext>
            </a:extLst>
          </p:cNvPr>
          <p:cNvSpPr txBox="1"/>
          <p:nvPr/>
        </p:nvSpPr>
        <p:spPr>
          <a:xfrm>
            <a:off x="5167307" y="1885882"/>
            <a:ext cx="23727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yakınsama aşaması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Arrow Connector 10">
            <a:extLst>
              <a:ext uri="{FF2B5EF4-FFF2-40B4-BE49-F238E27FC236}">
                <a16:creationId xmlns:a16="http://schemas.microsoft.com/office/drawing/2014/main" id="{208D9503-1C6A-5C7D-8AE7-C307A73C8369}"/>
              </a:ext>
            </a:extLst>
          </p:cNvPr>
          <p:cNvCxnSpPr/>
          <p:nvPr/>
        </p:nvCxnSpPr>
        <p:spPr>
          <a:xfrm>
            <a:off x="4095736" y="1714489"/>
            <a:ext cx="919170" cy="290487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A7F72D5A-11F8-37FD-F6EA-258E063DA2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090417"/>
              </p:ext>
            </p:extLst>
          </p:nvPr>
        </p:nvGraphicFramePr>
        <p:xfrm>
          <a:off x="7904164" y="1493839"/>
          <a:ext cx="763605" cy="298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7200" imgH="177480" progId="Equation.3">
                  <p:embed/>
                </p:oleObj>
              </mc:Choice>
              <mc:Fallback>
                <p:oleObj name="Equation" r:id="rId7" imgW="457200" imgH="177480" progId="Equation.3">
                  <p:embed/>
                  <p:pic>
                    <p:nvPicPr>
                      <p:cNvPr id="819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4164" y="1493839"/>
                        <a:ext cx="763605" cy="2984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14B123A7-E578-8232-F3AB-AE295B2727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505692"/>
              </p:ext>
            </p:extLst>
          </p:nvPr>
        </p:nvGraphicFramePr>
        <p:xfrm>
          <a:off x="7462856" y="1919288"/>
          <a:ext cx="1133474" cy="32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22080" imgH="177480" progId="Equation.3">
                  <p:embed/>
                </p:oleObj>
              </mc:Choice>
              <mc:Fallback>
                <p:oleObj name="Equation" r:id="rId9" imgW="622080" imgH="177480" progId="Equation.3">
                  <p:embed/>
                  <p:pic>
                    <p:nvPicPr>
                      <p:cNvPr id="819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2856" y="1919288"/>
                        <a:ext cx="1133474" cy="325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7">
            <a:extLst>
              <a:ext uri="{FF2B5EF4-FFF2-40B4-BE49-F238E27FC236}">
                <a16:creationId xmlns:a16="http://schemas.microsoft.com/office/drawing/2014/main" id="{2D96BA30-2AEF-CF6C-4C8E-6E6CA6240992}"/>
              </a:ext>
            </a:extLst>
          </p:cNvPr>
          <p:cNvGrpSpPr/>
          <p:nvPr/>
        </p:nvGrpSpPr>
        <p:grpSpPr>
          <a:xfrm>
            <a:off x="1952596" y="2500306"/>
            <a:ext cx="4071966" cy="3571900"/>
            <a:chOff x="214282" y="2500306"/>
            <a:chExt cx="4071966" cy="3571900"/>
          </a:xfrm>
        </p:grpSpPr>
        <p:pic>
          <p:nvPicPr>
            <p:cNvPr id="13" name="Picture 15">
              <a:extLst>
                <a:ext uri="{FF2B5EF4-FFF2-40B4-BE49-F238E27FC236}">
                  <a16:creationId xmlns:a16="http://schemas.microsoft.com/office/drawing/2014/main" id="{B95DB444-B1BB-82A8-2100-E25196E4A416}"/>
                </a:ext>
              </a:extLst>
            </p:cNvPr>
            <p:cNvPicPr/>
            <p:nvPr/>
          </p:nvPicPr>
          <p:blipFill>
            <a:blip r:embed="rId11" cstate="print"/>
            <a:srcRect l="16791" t="29266" r="35497" b="9806"/>
            <a:stretch>
              <a:fillRect/>
            </a:stretch>
          </p:blipFill>
          <p:spPr bwMode="auto">
            <a:xfrm>
              <a:off x="428596" y="2500306"/>
              <a:ext cx="3724292" cy="2967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Picture 16">
              <a:extLst>
                <a:ext uri="{FF2B5EF4-FFF2-40B4-BE49-F238E27FC236}">
                  <a16:creationId xmlns:a16="http://schemas.microsoft.com/office/drawing/2014/main" id="{E866C491-8461-1F84-3264-818A1C5D1D24}"/>
                </a:ext>
              </a:extLst>
            </p:cNvPr>
            <p:cNvPicPr/>
            <p:nvPr/>
          </p:nvPicPr>
          <p:blipFill>
            <a:blip r:embed="rId12" cstate="print"/>
            <a:srcRect l="15455" t="58777" r="34002" b="31383"/>
            <a:stretch>
              <a:fillRect/>
            </a:stretch>
          </p:blipFill>
          <p:spPr bwMode="auto">
            <a:xfrm>
              <a:off x="214282" y="5505467"/>
              <a:ext cx="4071966" cy="566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5" name="Group 20">
            <a:extLst>
              <a:ext uri="{FF2B5EF4-FFF2-40B4-BE49-F238E27FC236}">
                <a16:creationId xmlns:a16="http://schemas.microsoft.com/office/drawing/2014/main" id="{2C08A8DD-1E2C-894C-ED23-BD81416FBEFF}"/>
              </a:ext>
            </a:extLst>
          </p:cNvPr>
          <p:cNvGrpSpPr/>
          <p:nvPr/>
        </p:nvGrpSpPr>
        <p:grpSpPr>
          <a:xfrm>
            <a:off x="6667504" y="2571744"/>
            <a:ext cx="3714776" cy="3214710"/>
            <a:chOff x="5143504" y="2500306"/>
            <a:chExt cx="3714776" cy="3214710"/>
          </a:xfrm>
        </p:grpSpPr>
        <p:pic>
          <p:nvPicPr>
            <p:cNvPr id="16" name="Picture 18">
              <a:extLst>
                <a:ext uri="{FF2B5EF4-FFF2-40B4-BE49-F238E27FC236}">
                  <a16:creationId xmlns:a16="http://schemas.microsoft.com/office/drawing/2014/main" id="{A0ECCEF2-8D8A-8D16-3531-D78EE612A638}"/>
                </a:ext>
              </a:extLst>
            </p:cNvPr>
            <p:cNvPicPr/>
            <p:nvPr/>
          </p:nvPicPr>
          <p:blipFill>
            <a:blip r:embed="rId13" cstate="print"/>
            <a:srcRect l="17954" t="29265" r="29847" b="9011"/>
            <a:stretch>
              <a:fillRect/>
            </a:stretch>
          </p:blipFill>
          <p:spPr bwMode="auto">
            <a:xfrm>
              <a:off x="5153050" y="2500306"/>
              <a:ext cx="3633792" cy="27146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" name="Picture 19">
              <a:extLst>
                <a:ext uri="{FF2B5EF4-FFF2-40B4-BE49-F238E27FC236}">
                  <a16:creationId xmlns:a16="http://schemas.microsoft.com/office/drawing/2014/main" id="{646E8B89-BEA7-8EDB-6D51-A955E80FD3F4}"/>
                </a:ext>
              </a:extLst>
            </p:cNvPr>
            <p:cNvPicPr/>
            <p:nvPr/>
          </p:nvPicPr>
          <p:blipFill>
            <a:blip r:embed="rId14" cstate="print"/>
            <a:srcRect l="16790" t="59043" r="31177" b="31383"/>
            <a:stretch>
              <a:fillRect/>
            </a:stretch>
          </p:blipFill>
          <p:spPr bwMode="auto">
            <a:xfrm>
              <a:off x="5143504" y="5229240"/>
              <a:ext cx="3714776" cy="485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8" name="TextBox 30">
            <a:extLst>
              <a:ext uri="{FF2B5EF4-FFF2-40B4-BE49-F238E27FC236}">
                <a16:creationId xmlns:a16="http://schemas.microsoft.com/office/drawing/2014/main" id="{90F65310-C1B3-3321-9853-3C9B7E3468A1}"/>
              </a:ext>
            </a:extLst>
          </p:cNvPr>
          <p:cNvSpPr txBox="1"/>
          <p:nvPr/>
        </p:nvSpPr>
        <p:spPr>
          <a:xfrm>
            <a:off x="1523968" y="6589778"/>
            <a:ext cx="91440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S.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Haykin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, “Neural Networks- A Comprehensive Foundation”, 2</a:t>
            </a:r>
            <a:r>
              <a:rPr kumimoji="0" lang="en-GB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nd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Edition, Prentice Hall, 1999, New Jersey.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129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BE42AD-E5E6-329E-3DEE-A538ED379A37}"/>
              </a:ext>
            </a:extLst>
          </p:cNvPr>
          <p:cNvSpPr/>
          <p:nvPr/>
        </p:nvSpPr>
        <p:spPr>
          <a:xfrm>
            <a:off x="212156" y="168349"/>
            <a:ext cx="93522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tr-TR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Özdüzenleme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Vuru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Üreten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Sinir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Ağlarında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Nasıl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Gerçekleniyor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? </a:t>
            </a:r>
            <a:endParaRPr lang="tr-TR" sz="2400" dirty="0">
              <a:solidFill>
                <a:srgbClr val="00206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BE464062-C28D-DB94-B961-B2CE088E1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68" y="811465"/>
            <a:ext cx="2978303" cy="2514729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4D11B2BD-6F48-F569-C3CF-EBC2560966EF}"/>
              </a:ext>
            </a:extLst>
          </p:cNvPr>
          <p:cNvSpPr txBox="1"/>
          <p:nvPr/>
        </p:nvSpPr>
        <p:spPr>
          <a:xfrm>
            <a:off x="1" y="6518611"/>
            <a:ext cx="10778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Chen, Y., McKinstry, J.L. and Edelman, G.M., 2013. Versatile networks of simulated spiking neurons displaying winner-take-all behavior. 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Frontiers in computational neuroscience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7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p.16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  <p:grpSp>
        <p:nvGrpSpPr>
          <p:cNvPr id="12" name="Grup 11">
            <a:extLst>
              <a:ext uri="{FF2B5EF4-FFF2-40B4-BE49-F238E27FC236}">
                <a16:creationId xmlns:a16="http://schemas.microsoft.com/office/drawing/2014/main" id="{B429C821-D746-D85D-759A-A5FF746A3A30}"/>
              </a:ext>
            </a:extLst>
          </p:cNvPr>
          <p:cNvGrpSpPr/>
          <p:nvPr/>
        </p:nvGrpSpPr>
        <p:grpSpPr>
          <a:xfrm>
            <a:off x="309168" y="3450732"/>
            <a:ext cx="4129874" cy="1691652"/>
            <a:chOff x="3626736" y="1269144"/>
            <a:chExt cx="4129874" cy="1691652"/>
          </a:xfrm>
        </p:grpSpPr>
        <p:pic>
          <p:nvPicPr>
            <p:cNvPr id="8" name="Resim 7">
              <a:extLst>
                <a:ext uri="{FF2B5EF4-FFF2-40B4-BE49-F238E27FC236}">
                  <a16:creationId xmlns:a16="http://schemas.microsoft.com/office/drawing/2014/main" id="{BAC6EE54-FE6B-18FD-5019-74805FB90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9" t="-173" r="23959" b="80145"/>
            <a:stretch/>
          </p:blipFill>
          <p:spPr>
            <a:xfrm>
              <a:off x="3626736" y="1269144"/>
              <a:ext cx="4129874" cy="987031"/>
            </a:xfrm>
            <a:prstGeom prst="rect">
              <a:avLst/>
            </a:prstGeom>
          </p:spPr>
        </p:pic>
        <p:pic>
          <p:nvPicPr>
            <p:cNvPr id="9" name="Resim 8">
              <a:extLst>
                <a:ext uri="{FF2B5EF4-FFF2-40B4-BE49-F238E27FC236}">
                  <a16:creationId xmlns:a16="http://schemas.microsoft.com/office/drawing/2014/main" id="{DFED6F86-8065-5503-5DFB-8944E372D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16" t="68941" r="62504" b="24909"/>
            <a:stretch/>
          </p:blipFill>
          <p:spPr>
            <a:xfrm>
              <a:off x="5360622" y="2591464"/>
              <a:ext cx="1633401" cy="369332"/>
            </a:xfrm>
            <a:prstGeom prst="rect">
              <a:avLst/>
            </a:prstGeom>
          </p:spPr>
        </p:pic>
        <p:pic>
          <p:nvPicPr>
            <p:cNvPr id="10" name="Resim 9">
              <a:extLst>
                <a:ext uri="{FF2B5EF4-FFF2-40B4-BE49-F238E27FC236}">
                  <a16:creationId xmlns:a16="http://schemas.microsoft.com/office/drawing/2014/main" id="{057B8067-2D25-AC65-EAA0-BE962A52E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043" t="56492" r="3855" b="37255"/>
            <a:stretch/>
          </p:blipFill>
          <p:spPr>
            <a:xfrm>
              <a:off x="4189096" y="2247670"/>
              <a:ext cx="1200150" cy="369332"/>
            </a:xfrm>
            <a:prstGeom prst="rect">
              <a:avLst/>
            </a:prstGeom>
          </p:spPr>
        </p:pic>
        <p:pic>
          <p:nvPicPr>
            <p:cNvPr id="11" name="Resim 10">
              <a:extLst>
                <a:ext uri="{FF2B5EF4-FFF2-40B4-BE49-F238E27FC236}">
                  <a16:creationId xmlns:a16="http://schemas.microsoft.com/office/drawing/2014/main" id="{E28A7B0D-A3A5-01B2-7716-F163E09FD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0" t="68941" r="87888" b="24909"/>
            <a:stretch/>
          </p:blipFill>
          <p:spPr>
            <a:xfrm>
              <a:off x="5360622" y="2247669"/>
              <a:ext cx="930249" cy="369333"/>
            </a:xfrm>
            <a:prstGeom prst="rect">
              <a:avLst/>
            </a:prstGeom>
          </p:spPr>
        </p:pic>
      </p:grpSp>
      <p:pic>
        <p:nvPicPr>
          <p:cNvPr id="14" name="Resim 13">
            <a:extLst>
              <a:ext uri="{FF2B5EF4-FFF2-40B4-BE49-F238E27FC236}">
                <a16:creationId xmlns:a16="http://schemas.microsoft.com/office/drawing/2014/main" id="{62A1D933-B532-A14F-D369-BB8E2495B9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56" y="5152308"/>
            <a:ext cx="5722969" cy="1356379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25596897-EB32-AEC2-F09C-C60F288E06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6"/>
          <a:stretch/>
        </p:blipFill>
        <p:spPr>
          <a:xfrm>
            <a:off x="5981042" y="1108710"/>
            <a:ext cx="6121175" cy="4710184"/>
          </a:xfrm>
          <a:prstGeom prst="rect">
            <a:avLst/>
          </a:prstGeom>
        </p:spPr>
      </p:pic>
      <p:sp>
        <p:nvSpPr>
          <p:cNvPr id="17" name="Rectangle 1">
            <a:extLst>
              <a:ext uri="{FF2B5EF4-FFF2-40B4-BE49-F238E27FC236}">
                <a16:creationId xmlns:a16="http://schemas.microsoft.com/office/drawing/2014/main" id="{13A6D49E-49EE-FAF4-AFDE-FBE3A79DEE4F}"/>
              </a:ext>
            </a:extLst>
          </p:cNvPr>
          <p:cNvSpPr/>
          <p:nvPr/>
        </p:nvSpPr>
        <p:spPr>
          <a:xfrm>
            <a:off x="8771082" y="528019"/>
            <a:ext cx="31117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Kazanan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Hepsini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Alır</a:t>
            </a:r>
            <a:endParaRPr lang="tr-TR" sz="2400" dirty="0">
              <a:solidFill>
                <a:srgbClr val="00206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87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560E2B7F-E683-ABEF-67AD-0952B53A9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47"/>
          <a:stretch/>
        </p:blipFill>
        <p:spPr>
          <a:xfrm>
            <a:off x="3562865" y="891540"/>
            <a:ext cx="5604531" cy="2251710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EA276DB8-CF32-2CCC-85B2-7EEDAFCACE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1" y="3468959"/>
            <a:ext cx="3733174" cy="2643541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062292A1-AE69-203C-3D46-635F801744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810" y="3429000"/>
            <a:ext cx="3334643" cy="264354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8EA06247-B812-B7BB-A349-95C98A5B15A8}"/>
              </a:ext>
            </a:extLst>
          </p:cNvPr>
          <p:cNvSpPr txBox="1"/>
          <p:nvPr/>
        </p:nvSpPr>
        <p:spPr>
          <a:xfrm>
            <a:off x="51696" y="6590644"/>
            <a:ext cx="834675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Oster, M., Douglas, R. and Liu, S.C., 2009. Computation with spikes in a winner-take-all network. 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Neural computation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21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(9), pp.2437-2465.</a:t>
            </a:r>
            <a:endParaRPr lang="en-US" sz="10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795AB73-F4B4-0337-4E2A-85FF4C37AB2D}"/>
              </a:ext>
            </a:extLst>
          </p:cNvPr>
          <p:cNvSpPr/>
          <p:nvPr/>
        </p:nvSpPr>
        <p:spPr>
          <a:xfrm>
            <a:off x="373530" y="273637"/>
            <a:ext cx="6378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Kazanan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Hepsini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Alır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Yapılarından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Çok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Var….</a:t>
            </a:r>
            <a:endParaRPr lang="tr-TR" sz="2400" dirty="0">
              <a:solidFill>
                <a:srgbClr val="00206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FD31C2D2-0075-8A43-FADF-C3489DE99559}"/>
              </a:ext>
            </a:extLst>
          </p:cNvPr>
          <p:cNvSpPr txBox="1"/>
          <p:nvPr/>
        </p:nvSpPr>
        <p:spPr>
          <a:xfrm>
            <a:off x="51696" y="6364204"/>
            <a:ext cx="76052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Wang, X.J., 2002. Probabilistic decision making by slow reverberation in cortical circuits. 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Neuron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36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(5), pp.955-968.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6538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D50C17-4085-5E7F-03A1-6488971190B7}"/>
              </a:ext>
            </a:extLst>
          </p:cNvPr>
          <p:cNvSpPr/>
          <p:nvPr/>
        </p:nvSpPr>
        <p:spPr>
          <a:xfrm>
            <a:off x="224557" y="168349"/>
            <a:ext cx="44582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Bir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Başka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Özdüzenleme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Yapısı</a:t>
            </a:r>
            <a:endParaRPr lang="tr-TR" sz="2400" dirty="0">
              <a:solidFill>
                <a:srgbClr val="00206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E9F711D-926B-2ED2-C770-F0D74BF082B4}"/>
              </a:ext>
            </a:extLst>
          </p:cNvPr>
          <p:cNvSpPr/>
          <p:nvPr/>
        </p:nvSpPr>
        <p:spPr>
          <a:xfrm>
            <a:off x="8900436" y="630014"/>
            <a:ext cx="28873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Öngörüsel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Kodlama</a:t>
            </a:r>
            <a:endParaRPr lang="tr-TR" sz="2400" dirty="0">
              <a:solidFill>
                <a:srgbClr val="00206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17D5F91-CFDC-E6ED-1725-59A2B3AFB8EB}"/>
              </a:ext>
            </a:extLst>
          </p:cNvPr>
          <p:cNvSpPr/>
          <p:nvPr/>
        </p:nvSpPr>
        <p:spPr>
          <a:xfrm>
            <a:off x="0" y="6666815"/>
            <a:ext cx="885632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800" dirty="0"/>
              <a:t>https://eng.libretexts.org/Bookshelves/Aerospace_Engineering/Fundamentals_of_Aerospace_Engineering_(Arnedo)/07%3A_Mechanics_of_flight/7.01%3A_Performances/7.1.03%3A_Hypotheses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F150311-E617-597B-2C32-33A5453F51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0" t="6347" r="5550" b="6445"/>
          <a:stretch/>
        </p:blipFill>
        <p:spPr>
          <a:xfrm>
            <a:off x="268358" y="700241"/>
            <a:ext cx="2480754" cy="3969630"/>
          </a:xfrm>
          <a:prstGeom prst="rect">
            <a:avLst/>
          </a:prstGeom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905CE2FF-F142-FDD5-DDC6-0002EBDF36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521" t="16976" r="44401" b="20078"/>
          <a:stretch/>
        </p:blipFill>
        <p:spPr>
          <a:xfrm>
            <a:off x="2749113" y="2481741"/>
            <a:ext cx="3045898" cy="3969630"/>
          </a:xfrm>
          <a:prstGeom prst="rect">
            <a:avLst/>
          </a:prstGeom>
        </p:spPr>
      </p:pic>
      <p:sp>
        <p:nvSpPr>
          <p:cNvPr id="7" name="Rectangle 11">
            <a:extLst>
              <a:ext uri="{FF2B5EF4-FFF2-40B4-BE49-F238E27FC236}">
                <a16:creationId xmlns:a16="http://schemas.microsoft.com/office/drawing/2014/main" id="{A89B58AB-E374-E42F-3D93-95C65F1D6A60}"/>
              </a:ext>
            </a:extLst>
          </p:cNvPr>
          <p:cNvSpPr/>
          <p:nvPr/>
        </p:nvSpPr>
        <p:spPr>
          <a:xfrm>
            <a:off x="8576380" y="6642556"/>
            <a:ext cx="36824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800" dirty="0"/>
              <a:t>https://www.ncbi.nlm.nih.gov/pmc/articles/PMC2718241/pdf/tjp0587-2817.pdf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C66B6638-B7DD-62B7-730F-1D26AEDB0A5B}"/>
              </a:ext>
            </a:extLst>
          </p:cNvPr>
          <p:cNvSpPr/>
          <p:nvPr/>
        </p:nvSpPr>
        <p:spPr>
          <a:xfrm>
            <a:off x="9917673" y="6451371"/>
            <a:ext cx="204895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800" dirty="0"/>
              <a:t>https://en.wikipedia.org/wiki/Visual_system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5E059E69-5FE5-5F65-6314-FBCAD3E350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011" y="1091679"/>
            <a:ext cx="3156388" cy="4345294"/>
          </a:xfrm>
          <a:prstGeom prst="rect">
            <a:avLst/>
          </a:prstGeom>
        </p:spPr>
      </p:pic>
      <p:pic>
        <p:nvPicPr>
          <p:cNvPr id="10" name="Picture 13">
            <a:extLst>
              <a:ext uri="{FF2B5EF4-FFF2-40B4-BE49-F238E27FC236}">
                <a16:creationId xmlns:a16="http://schemas.microsoft.com/office/drawing/2014/main" id="{8D448B18-C4EE-511D-08E8-C03E9DF28A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3892" y="2458773"/>
            <a:ext cx="3168108" cy="3968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455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16974E3D-3461-BE0B-7D03-D7D39AFAF044}"/>
              </a:ext>
            </a:extLst>
          </p:cNvPr>
          <p:cNvGrpSpPr/>
          <p:nvPr/>
        </p:nvGrpSpPr>
        <p:grpSpPr>
          <a:xfrm>
            <a:off x="7828908" y="219806"/>
            <a:ext cx="4363092" cy="2554043"/>
            <a:chOff x="7142754" y="137670"/>
            <a:chExt cx="4657059" cy="2771047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866EBF00-C6E3-D20C-63A1-30A560928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42754" y="137670"/>
              <a:ext cx="1988842" cy="1988842"/>
            </a:xfrm>
            <a:prstGeom prst="rect">
              <a:avLst/>
            </a:prstGeom>
          </p:spPr>
        </p:pic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D88CB74-0B2C-21B1-B9C6-2F6C7CB2039C}"/>
                </a:ext>
              </a:extLst>
            </p:cNvPr>
            <p:cNvSpPr txBox="1"/>
            <p:nvPr/>
          </p:nvSpPr>
          <p:spPr>
            <a:xfrm>
              <a:off x="7142754" y="2126512"/>
              <a:ext cx="2434856" cy="434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0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Rasesh P.N. Rao</a:t>
              </a:r>
            </a:p>
          </p:txBody>
        </p:sp>
        <p:pic>
          <p:nvPicPr>
            <p:cNvPr id="5" name="Picture 6">
              <a:extLst>
                <a:ext uri="{FF2B5EF4-FFF2-40B4-BE49-F238E27FC236}">
                  <a16:creationId xmlns:a16="http://schemas.microsoft.com/office/drawing/2014/main" id="{09E9A8DB-F32F-4EBD-2B5F-814DFEEB7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6086" t="29380" r="55833" b="22145"/>
            <a:stretch/>
          </p:blipFill>
          <p:spPr>
            <a:xfrm>
              <a:off x="9652038" y="137670"/>
              <a:ext cx="1988842" cy="1988842"/>
            </a:xfrm>
            <a:prstGeom prst="rect">
              <a:avLst/>
            </a:prstGeom>
          </p:spPr>
        </p:pic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E7ED7997-4ED9-B499-4C3B-CA3EECB4B86E}"/>
                </a:ext>
              </a:extLst>
            </p:cNvPr>
            <p:cNvSpPr txBox="1"/>
            <p:nvPr/>
          </p:nvSpPr>
          <p:spPr>
            <a:xfrm>
              <a:off x="9364957" y="2140686"/>
              <a:ext cx="2434856" cy="768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20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Dana H. Ballard</a:t>
              </a:r>
            </a:p>
            <a:p>
              <a:pPr algn="ctr"/>
              <a:r>
                <a:rPr lang="tr-TR" sz="20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1946-2022</a:t>
              </a:r>
            </a:p>
          </p:txBody>
        </p:sp>
      </p:grpSp>
      <p:pic>
        <p:nvPicPr>
          <p:cNvPr id="7" name="Picture 11">
            <a:extLst>
              <a:ext uri="{FF2B5EF4-FFF2-40B4-BE49-F238E27FC236}">
                <a16:creationId xmlns:a16="http://schemas.microsoft.com/office/drawing/2014/main" id="{D5DEFE5D-B892-15BD-6A90-EEE648C0471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042" t="35111" r="58334" b="31778"/>
          <a:stretch/>
        </p:blipFill>
        <p:spPr>
          <a:xfrm>
            <a:off x="148900" y="4091708"/>
            <a:ext cx="4343416" cy="2465406"/>
          </a:xfrm>
          <a:prstGeom prst="rect">
            <a:avLst/>
          </a:prstGeom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3AC05267-003C-E55D-B2F4-9D7FCB2DF1D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625" t="33889" r="48895" b="28149"/>
          <a:stretch/>
        </p:blipFill>
        <p:spPr>
          <a:xfrm>
            <a:off x="6792384" y="4091708"/>
            <a:ext cx="5250716" cy="2465406"/>
          </a:xfrm>
          <a:prstGeom prst="rect">
            <a:avLst/>
          </a:prstGeom>
        </p:spPr>
      </p:pic>
      <p:pic>
        <p:nvPicPr>
          <p:cNvPr id="9" name="Picture 13">
            <a:extLst>
              <a:ext uri="{FF2B5EF4-FFF2-40B4-BE49-F238E27FC236}">
                <a16:creationId xmlns:a16="http://schemas.microsoft.com/office/drawing/2014/main" id="{2C6ECA82-0360-47CE-1EF5-72A21579BB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1" y="203017"/>
            <a:ext cx="3267047" cy="2249992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109CEE32-2587-9703-31C4-8D4DF8E3D10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3666" t="25444" r="24396" b="44889"/>
          <a:stretch/>
        </p:blipFill>
        <p:spPr>
          <a:xfrm>
            <a:off x="3386015" y="1822252"/>
            <a:ext cx="4343416" cy="2269456"/>
          </a:xfrm>
          <a:prstGeom prst="rect">
            <a:avLst/>
          </a:prstGeom>
        </p:spPr>
      </p:pic>
      <p:sp>
        <p:nvSpPr>
          <p:cNvPr id="12" name="Metin kutusu 11">
            <a:extLst>
              <a:ext uri="{FF2B5EF4-FFF2-40B4-BE49-F238E27FC236}">
                <a16:creationId xmlns:a16="http://schemas.microsoft.com/office/drawing/2014/main" id="{69029C66-BBC9-79E7-56A0-71FE2DC1CD61}"/>
              </a:ext>
            </a:extLst>
          </p:cNvPr>
          <p:cNvSpPr txBox="1"/>
          <p:nvPr/>
        </p:nvSpPr>
        <p:spPr>
          <a:xfrm>
            <a:off x="-73568" y="6655215"/>
            <a:ext cx="121166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Rao, R.P. and Ballard, D.H., 1999. Predictive coding in the visual cortex: a functional interpretation of some extra-classical receptive-field effects. 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neuroscience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pp.79-87.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80065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26C94-1CDB-0D42-74C7-D3C1F77E6A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35" t="36677" r="51348" b="48687"/>
          <a:stretch/>
        </p:blipFill>
        <p:spPr>
          <a:xfrm>
            <a:off x="7972826" y="147780"/>
            <a:ext cx="4035634" cy="9328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A9CE00-2912-22BA-8158-FB4C24A1E5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14" t="46117" r="41717" b="37362"/>
          <a:stretch/>
        </p:blipFill>
        <p:spPr>
          <a:xfrm>
            <a:off x="175487" y="643914"/>
            <a:ext cx="6153121" cy="17942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186D2B-801A-AC7A-2D7A-B165EB9B112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454" t="76600" r="51970" b="16306"/>
          <a:stretch/>
        </p:blipFill>
        <p:spPr>
          <a:xfrm>
            <a:off x="277086" y="2318096"/>
            <a:ext cx="2620821" cy="8315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2E004B-77C3-9B87-1505-130734DBFF0B}"/>
              </a:ext>
            </a:extLst>
          </p:cNvPr>
          <p:cNvSpPr txBox="1"/>
          <p:nvPr/>
        </p:nvSpPr>
        <p:spPr>
          <a:xfrm>
            <a:off x="2863273" y="2482877"/>
            <a:ext cx="9282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solidFill>
                  <a:srgbClr val="002060"/>
                </a:solidFill>
                <a:latin typeface="Comic Sans MS" panose="030F0702030302020204" pitchFamily="66" charset="0"/>
              </a:rPr>
              <a:t>İşaret işlemede problem bu hata fonksiyonunu en azlayacak şekilde katsayıları yani y</a:t>
            </a:r>
            <a:r>
              <a:rPr lang="tr-TR" sz="2000" baseline="-25000" dirty="0">
                <a:solidFill>
                  <a:srgbClr val="002060"/>
                </a:solidFill>
                <a:latin typeface="Comic Sans MS" panose="030F0702030302020204" pitchFamily="66" charset="0"/>
              </a:rPr>
              <a:t>i</a:t>
            </a:r>
            <a:r>
              <a:rPr lang="tr-TR" sz="2000" dirty="0">
                <a:solidFill>
                  <a:srgbClr val="002060"/>
                </a:solidFill>
                <a:latin typeface="Comic Sans MS" panose="030F0702030302020204" pitchFamily="66" charset="0"/>
              </a:rPr>
              <a:t>’leri belirlemek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CFF55-964C-CB11-734E-C0E58C8B42DA}"/>
              </a:ext>
            </a:extLst>
          </p:cNvPr>
          <p:cNvSpPr txBox="1"/>
          <p:nvPr/>
        </p:nvSpPr>
        <p:spPr>
          <a:xfrm flipH="1">
            <a:off x="240142" y="140448"/>
            <a:ext cx="6964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u="sng" dirty="0">
                <a:solidFill>
                  <a:srgbClr val="002060"/>
                </a:solidFill>
                <a:latin typeface="Comic Sans MS" panose="030F0702030302020204" pitchFamily="66" charset="0"/>
              </a:rPr>
              <a:t>İşaret İşlemede Doğrusal Öngörü temelli Kodlama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E5AEF-D80A-FB5E-D15B-D9178AAD8E22}"/>
              </a:ext>
            </a:extLst>
          </p:cNvPr>
          <p:cNvSpPr txBox="1"/>
          <p:nvPr/>
        </p:nvSpPr>
        <p:spPr>
          <a:xfrm flipH="1">
            <a:off x="277086" y="3333279"/>
            <a:ext cx="6964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u="sng" dirty="0">
                <a:solidFill>
                  <a:srgbClr val="002060"/>
                </a:solidFill>
                <a:latin typeface="Comic Sans MS" panose="030F0702030302020204" pitchFamily="66" charset="0"/>
              </a:rPr>
              <a:t>Retinada Doğrusal Öngörü temelli Kodlama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B5535A-73D3-A2AA-9F2D-B8B8324E50B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939" t="53390" r="50404" b="37901"/>
          <a:stretch/>
        </p:blipFill>
        <p:spPr>
          <a:xfrm>
            <a:off x="0" y="3766406"/>
            <a:ext cx="2863273" cy="8959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F76223-61BE-4E1D-A9E0-29AA5B6CBB11}"/>
              </a:ext>
            </a:extLst>
          </p:cNvPr>
          <p:cNvSpPr txBox="1"/>
          <p:nvPr/>
        </p:nvSpPr>
        <p:spPr>
          <a:xfrm>
            <a:off x="2909456" y="3884442"/>
            <a:ext cx="9282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solidFill>
                  <a:srgbClr val="002060"/>
                </a:solidFill>
                <a:latin typeface="Comic Sans MS" panose="030F0702030302020204" pitchFamily="66" charset="0"/>
              </a:rPr>
              <a:t>Retina yüzeyinde, yerel olarak her noktada katsayılar belirlenip, gerekli bilgi olarak sadece hata iletiliyor.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4E3C32-552E-2757-E7D4-1B3BC50BFDF1}"/>
              </a:ext>
            </a:extLst>
          </p:cNvPr>
          <p:cNvSpPr txBox="1"/>
          <p:nvPr/>
        </p:nvSpPr>
        <p:spPr>
          <a:xfrm flipH="1">
            <a:off x="240142" y="4637189"/>
            <a:ext cx="9531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u="sng" dirty="0">
                <a:solidFill>
                  <a:srgbClr val="002060"/>
                </a:solidFill>
                <a:latin typeface="Comic Sans MS" panose="030F0702030302020204" pitchFamily="66" charset="0"/>
              </a:rPr>
              <a:t>Korteksde Doğrusal Öngörü temelli Kodlama:</a:t>
            </a:r>
            <a:r>
              <a:rPr lang="tr-TR" sz="2000" dirty="0">
                <a:solidFill>
                  <a:srgbClr val="002060"/>
                </a:solidFill>
                <a:latin typeface="Comic Sans MS" panose="030F0702030302020204" pitchFamily="66" charset="0"/>
              </a:rPr>
              <a:t> Rao-Ballard Algoritması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BF1C45-6ED0-B25F-7654-4D6A4D95FA0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7223" t="41807" r="32828" b="41672"/>
          <a:stretch/>
        </p:blipFill>
        <p:spPr>
          <a:xfrm>
            <a:off x="720435" y="5123181"/>
            <a:ext cx="9134764" cy="16994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0E00CD6-E292-0751-791D-76A44AB0C955}"/>
                  </a:ext>
                </a:extLst>
              </p14:cNvPr>
              <p14:cNvContentPartPr/>
              <p14:nvPr/>
            </p14:nvContentPartPr>
            <p14:xfrm>
              <a:off x="3443400" y="3249360"/>
              <a:ext cx="360" cy="4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0E00CD6-E292-0751-791D-76A44AB0C95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34040" y="3240000"/>
                <a:ext cx="19080" cy="2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204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F8953B32-45F9-4F80-B5B9-6EFE4F1770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172" t="84006" r="52474" b="12402"/>
          <a:stretch/>
        </p:blipFill>
        <p:spPr>
          <a:xfrm>
            <a:off x="3286820" y="3099095"/>
            <a:ext cx="1893456" cy="369453"/>
          </a:xfrm>
          <a:prstGeom prst="rect">
            <a:avLst/>
          </a:prstGeom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7796EEA3-CB32-A26A-AAE4-DFA8C3C3DC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172" t="61022" r="52474" b="34848"/>
          <a:stretch/>
        </p:blipFill>
        <p:spPr>
          <a:xfrm>
            <a:off x="9712037" y="677191"/>
            <a:ext cx="1893456" cy="424873"/>
          </a:xfrm>
          <a:prstGeom prst="rect">
            <a:avLst/>
          </a:prstGeom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D285FC0B-349D-A351-6DF1-DF7EBFCB3D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23" t="41807" r="32828" b="41672"/>
          <a:stretch/>
        </p:blipFill>
        <p:spPr>
          <a:xfrm>
            <a:off x="138544" y="129936"/>
            <a:ext cx="9134764" cy="1699491"/>
          </a:xfrm>
          <a:prstGeom prst="rect">
            <a:avLst/>
          </a:prstGeom>
        </p:spPr>
      </p:pic>
      <p:sp>
        <p:nvSpPr>
          <p:cNvPr id="5" name="Right Arrow 7">
            <a:extLst>
              <a:ext uri="{FF2B5EF4-FFF2-40B4-BE49-F238E27FC236}">
                <a16:creationId xmlns:a16="http://schemas.microsoft.com/office/drawing/2014/main" id="{AECD920B-719F-8EEE-A27C-51D322641510}"/>
              </a:ext>
            </a:extLst>
          </p:cNvPr>
          <p:cNvSpPr/>
          <p:nvPr/>
        </p:nvSpPr>
        <p:spPr>
          <a:xfrm>
            <a:off x="9273308" y="682386"/>
            <a:ext cx="572656" cy="331934"/>
          </a:xfrm>
          <a:prstGeom prst="rightArrow">
            <a:avLst/>
          </a:prstGeom>
          <a:noFill/>
          <a:ln w="158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pSp>
        <p:nvGrpSpPr>
          <p:cNvPr id="6" name="Group 10">
            <a:extLst>
              <a:ext uri="{FF2B5EF4-FFF2-40B4-BE49-F238E27FC236}">
                <a16:creationId xmlns:a16="http://schemas.microsoft.com/office/drawing/2014/main" id="{3E0923B8-0AB3-8742-0B8E-C109AB77D1D7}"/>
              </a:ext>
            </a:extLst>
          </p:cNvPr>
          <p:cNvGrpSpPr/>
          <p:nvPr/>
        </p:nvGrpSpPr>
        <p:grpSpPr>
          <a:xfrm>
            <a:off x="3156525" y="1723332"/>
            <a:ext cx="5103093" cy="852692"/>
            <a:chOff x="3098801" y="1856508"/>
            <a:chExt cx="5103093" cy="852692"/>
          </a:xfrm>
        </p:grpSpPr>
        <p:sp>
          <p:nvSpPr>
            <p:cNvPr id="7" name="Right Brace 8">
              <a:extLst>
                <a:ext uri="{FF2B5EF4-FFF2-40B4-BE49-F238E27FC236}">
                  <a16:creationId xmlns:a16="http://schemas.microsoft.com/office/drawing/2014/main" id="{9FB23B4C-E82A-A057-9D4C-D9BE5D32A847}"/>
                </a:ext>
              </a:extLst>
            </p:cNvPr>
            <p:cNvSpPr/>
            <p:nvPr/>
          </p:nvSpPr>
          <p:spPr>
            <a:xfrm rot="5400000">
              <a:off x="5481783" y="-526474"/>
              <a:ext cx="337130" cy="5103093"/>
            </a:xfrm>
            <a:prstGeom prst="rightBrace">
              <a:avLst>
                <a:gd name="adj1" fmla="val 8333"/>
                <a:gd name="adj2" fmla="val 49457"/>
              </a:avLst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 sz="2000">
                <a:latin typeface="Comic Sans MS" panose="030F0702030302020204" pitchFamily="66" charset="0"/>
              </a:endParaRPr>
            </a:p>
          </p:txBody>
        </p:sp>
        <p:sp>
          <p:nvSpPr>
            <p:cNvPr id="8" name="TextBox 9">
              <a:extLst>
                <a:ext uri="{FF2B5EF4-FFF2-40B4-BE49-F238E27FC236}">
                  <a16:creationId xmlns:a16="http://schemas.microsoft.com/office/drawing/2014/main" id="{4D5E0EFC-76C6-74BD-9642-A29198863E55}"/>
                </a:ext>
              </a:extLst>
            </p:cNvPr>
            <p:cNvSpPr txBox="1"/>
            <p:nvPr/>
          </p:nvSpPr>
          <p:spPr>
            <a:xfrm>
              <a:off x="5549210" y="2309090"/>
              <a:ext cx="3435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000" dirty="0">
                  <a:latin typeface="Comic Sans MS" panose="030F0702030302020204" pitchFamily="66" charset="0"/>
                </a:rPr>
                <a:t>V</a:t>
              </a:r>
            </a:p>
          </p:txBody>
        </p:sp>
      </p:grpSp>
      <p:grpSp>
        <p:nvGrpSpPr>
          <p:cNvPr id="9" name="Group 16">
            <a:extLst>
              <a:ext uri="{FF2B5EF4-FFF2-40B4-BE49-F238E27FC236}">
                <a16:creationId xmlns:a16="http://schemas.microsoft.com/office/drawing/2014/main" id="{553B7720-10B1-D8D9-D7F2-EAD7B49AF3F1}"/>
              </a:ext>
            </a:extLst>
          </p:cNvPr>
          <p:cNvGrpSpPr/>
          <p:nvPr/>
        </p:nvGrpSpPr>
        <p:grpSpPr>
          <a:xfrm>
            <a:off x="-15013" y="2431708"/>
            <a:ext cx="11931071" cy="809485"/>
            <a:chOff x="492815" y="2744637"/>
            <a:chExt cx="11670143" cy="809485"/>
          </a:xfrm>
        </p:grpSpPr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2274CD9F-B2D4-3022-0435-F7F38138E1AC}"/>
                </a:ext>
              </a:extLst>
            </p:cNvPr>
            <p:cNvSpPr txBox="1"/>
            <p:nvPr/>
          </p:nvSpPr>
          <p:spPr>
            <a:xfrm>
              <a:off x="492815" y="2846236"/>
              <a:ext cx="1167014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0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Belirlemek istediklerimiz                    hata</a:t>
              </a:r>
              <a:r>
                <a:rPr lang="en-US" sz="2000" dirty="0" err="1">
                  <a:solidFill>
                    <a:srgbClr val="002060"/>
                  </a:solidFill>
                  <a:latin typeface="Comic Sans MS" panose="030F0702030302020204" pitchFamily="66" charset="0"/>
                </a:rPr>
                <a:t>sına</a:t>
              </a:r>
              <a:r>
                <a:rPr lang="tr-TR" sz="20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 ilişkin oluşturulan hata fonksiyonu              ‘yi en </a:t>
              </a:r>
              <a:r>
                <a:rPr lang="tr-TR" sz="2000" dirty="0" err="1">
                  <a:solidFill>
                    <a:srgbClr val="002060"/>
                  </a:solidFill>
                  <a:latin typeface="Comic Sans MS" panose="030F0702030302020204" pitchFamily="66" charset="0"/>
                </a:rPr>
                <a:t>azlayacak</a:t>
              </a:r>
              <a:r>
                <a:rPr lang="tr-TR" sz="20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 y</a:t>
              </a:r>
              <a:r>
                <a:rPr lang="en-US" sz="20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 </a:t>
              </a:r>
              <a:r>
                <a:rPr lang="tr-TR" sz="20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değerleri  </a:t>
              </a:r>
            </a:p>
          </p:txBody>
        </p:sp>
        <p:pic>
          <p:nvPicPr>
            <p:cNvPr id="11" name="Picture 13">
              <a:extLst>
                <a:ext uri="{FF2B5EF4-FFF2-40B4-BE49-F238E27FC236}">
                  <a16:creationId xmlns:a16="http://schemas.microsoft.com/office/drawing/2014/main" id="{F1D318EC-277E-3305-6BC8-C4294BB462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8339" t="80556" r="54338" b="15943"/>
            <a:stretch/>
          </p:blipFill>
          <p:spPr>
            <a:xfrm>
              <a:off x="3552519" y="2888865"/>
              <a:ext cx="1339273" cy="360218"/>
            </a:xfrm>
            <a:prstGeom prst="rect">
              <a:avLst/>
            </a:prstGeom>
          </p:spPr>
        </p:pic>
        <p:graphicFrame>
          <p:nvGraphicFramePr>
            <p:cNvPr id="12" name="Object 15">
              <a:extLst>
                <a:ext uri="{FF2B5EF4-FFF2-40B4-BE49-F238E27FC236}">
                  <a16:creationId xmlns:a16="http://schemas.microsoft.com/office/drawing/2014/main" id="{09531C7E-DBBC-1184-883C-1910664E19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9161303"/>
                </p:ext>
              </p:extLst>
            </p:nvPr>
          </p:nvGraphicFramePr>
          <p:xfrm>
            <a:off x="9971352" y="2744637"/>
            <a:ext cx="939222" cy="594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22030" imgH="393529" progId="Equation.3">
                    <p:embed/>
                  </p:oleObj>
                </mc:Choice>
                <mc:Fallback>
                  <p:oleObj name="Equation" r:id="rId4" imgW="622030" imgH="393529" progId="Equation.3">
                    <p:embed/>
                    <p:pic>
                      <p:nvPicPr>
                        <p:cNvPr id="16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71352" y="2744637"/>
                          <a:ext cx="939222" cy="59420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20">
            <a:extLst>
              <a:ext uri="{FF2B5EF4-FFF2-40B4-BE49-F238E27FC236}">
                <a16:creationId xmlns:a16="http://schemas.microsoft.com/office/drawing/2014/main" id="{A6527883-EF12-3B74-3E5A-40B5CEA048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924313"/>
              </p:ext>
            </p:extLst>
          </p:nvPr>
        </p:nvGraphicFramePr>
        <p:xfrm>
          <a:off x="3374380" y="3468548"/>
          <a:ext cx="859168" cy="343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780" imgH="203112" progId="Equation.3">
                  <p:embed/>
                </p:oleObj>
              </mc:Choice>
              <mc:Fallback>
                <p:oleObj name="Equation" r:id="rId6" imgW="507780" imgH="203112" progId="Equation.3">
                  <p:embed/>
                  <p:pic>
                    <p:nvPicPr>
                      <p:cNvPr id="2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4380" y="3468548"/>
                        <a:ext cx="859168" cy="3436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21">
            <a:extLst>
              <a:ext uri="{FF2B5EF4-FFF2-40B4-BE49-F238E27FC236}">
                <a16:creationId xmlns:a16="http://schemas.microsoft.com/office/drawing/2014/main" id="{4FA49EB0-5803-81ED-4D46-3F660F2E06E6}"/>
              </a:ext>
            </a:extLst>
          </p:cNvPr>
          <p:cNvSpPr txBox="1"/>
          <p:nvPr/>
        </p:nvSpPr>
        <p:spPr>
          <a:xfrm>
            <a:off x="115452" y="3806981"/>
            <a:ext cx="11670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solidFill>
                  <a:srgbClr val="002060"/>
                </a:solidFill>
                <a:latin typeface="Comic Sans MS" panose="030F0702030302020204" pitchFamily="66" charset="0"/>
              </a:rPr>
              <a:t>Böylece y değerlerini bulma işi bir yapay sinir ağı (YSA) problemine dönüştü.</a:t>
            </a:r>
          </a:p>
        </p:txBody>
      </p:sp>
      <p:pic>
        <p:nvPicPr>
          <p:cNvPr id="15" name="Picture 22">
            <a:extLst>
              <a:ext uri="{FF2B5EF4-FFF2-40B4-BE49-F238E27FC236}">
                <a16:creationId xmlns:a16="http://schemas.microsoft.com/office/drawing/2014/main" id="{673CBDBF-FFB8-8D85-3BD1-0EFCF575B78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1313" t="42031" r="62803" b="34265"/>
          <a:stretch/>
        </p:blipFill>
        <p:spPr>
          <a:xfrm>
            <a:off x="9267883" y="3468548"/>
            <a:ext cx="2904838" cy="24384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2">
                <a:extLst>
                  <a:ext uri="{FF2B5EF4-FFF2-40B4-BE49-F238E27FC236}">
                    <a16:creationId xmlns:a16="http://schemas.microsoft.com/office/drawing/2014/main" id="{3B33B2FD-A28C-11BA-973F-EFC015119CEF}"/>
                  </a:ext>
                </a:extLst>
              </p14:cNvPr>
              <p14:cNvContentPartPr/>
              <p14:nvPr/>
            </p14:nvContentPartPr>
            <p14:xfrm>
              <a:off x="4739040" y="4865040"/>
              <a:ext cx="3686760" cy="945720"/>
            </p14:xfrm>
          </p:contentPart>
        </mc:Choice>
        <mc:Fallback xmlns="">
          <p:pic>
            <p:nvPicPr>
              <p:cNvPr id="19" name="Ink 2">
                <a:extLst>
                  <a:ext uri="{FF2B5EF4-FFF2-40B4-BE49-F238E27FC236}">
                    <a16:creationId xmlns:a16="http://schemas.microsoft.com/office/drawing/2014/main" id="{3B33B2FD-A28C-11BA-973F-EFC015119CE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29680" y="4855680"/>
                <a:ext cx="3705480" cy="96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2">
            <a:extLst>
              <a:ext uri="{FF2B5EF4-FFF2-40B4-BE49-F238E27FC236}">
                <a16:creationId xmlns:a16="http://schemas.microsoft.com/office/drawing/2014/main" id="{26EDDFCA-FCB0-A57F-D4EB-E9C8429F9345}"/>
              </a:ext>
            </a:extLst>
          </p:cNvPr>
          <p:cNvGrpSpPr/>
          <p:nvPr/>
        </p:nvGrpSpPr>
        <p:grpSpPr>
          <a:xfrm>
            <a:off x="1761286" y="4289663"/>
            <a:ext cx="5442066" cy="2438401"/>
            <a:chOff x="589280" y="637307"/>
            <a:chExt cx="5442066" cy="2438401"/>
          </a:xfrm>
        </p:grpSpPr>
        <p:pic>
          <p:nvPicPr>
            <p:cNvPr id="21" name="Picture 3">
              <a:extLst>
                <a:ext uri="{FF2B5EF4-FFF2-40B4-BE49-F238E27FC236}">
                  <a16:creationId xmlns:a16="http://schemas.microsoft.com/office/drawing/2014/main" id="{0A9D270E-4345-E823-E133-906D411058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1313" t="42031" r="62803" b="34265"/>
            <a:stretch/>
          </p:blipFill>
          <p:spPr>
            <a:xfrm>
              <a:off x="1149927" y="637307"/>
              <a:ext cx="2904838" cy="2438401"/>
            </a:xfrm>
            <a:prstGeom prst="rect">
              <a:avLst/>
            </a:prstGeom>
          </p:spPr>
        </p:pic>
        <p:sp>
          <p:nvSpPr>
            <p:cNvPr id="22" name="TextBox 4">
              <a:extLst>
                <a:ext uri="{FF2B5EF4-FFF2-40B4-BE49-F238E27FC236}">
                  <a16:creationId xmlns:a16="http://schemas.microsoft.com/office/drawing/2014/main" id="{A93D0CE1-E62C-6ABE-A2B5-778544AA9F7C}"/>
                </a:ext>
              </a:extLst>
            </p:cNvPr>
            <p:cNvSpPr txBox="1"/>
            <p:nvPr/>
          </p:nvSpPr>
          <p:spPr>
            <a:xfrm flipH="1">
              <a:off x="3546301" y="775855"/>
              <a:ext cx="24850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dirty="0">
                  <a:solidFill>
                    <a:srgbClr val="002060"/>
                  </a:solidFill>
                </a:rPr>
                <a:t>Öngörü nöronları</a:t>
              </a:r>
            </a:p>
          </p:txBody>
        </p:sp>
        <p:sp>
          <p:nvSpPr>
            <p:cNvPr id="23" name="TextBox 5">
              <a:extLst>
                <a:ext uri="{FF2B5EF4-FFF2-40B4-BE49-F238E27FC236}">
                  <a16:creationId xmlns:a16="http://schemas.microsoft.com/office/drawing/2014/main" id="{703B109A-10E2-1316-3735-7C390B70DC44}"/>
                </a:ext>
              </a:extLst>
            </p:cNvPr>
            <p:cNvSpPr txBox="1"/>
            <p:nvPr/>
          </p:nvSpPr>
          <p:spPr>
            <a:xfrm>
              <a:off x="3888508" y="1925781"/>
              <a:ext cx="15353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dirty="0">
                  <a:solidFill>
                    <a:srgbClr val="002060"/>
                  </a:solidFill>
                </a:rPr>
                <a:t>Hata nöronları</a:t>
              </a:r>
            </a:p>
          </p:txBody>
        </p:sp>
        <p:cxnSp>
          <p:nvCxnSpPr>
            <p:cNvPr id="24" name="Straight Arrow Connector 7">
              <a:extLst>
                <a:ext uri="{FF2B5EF4-FFF2-40B4-BE49-F238E27FC236}">
                  <a16:creationId xmlns:a16="http://schemas.microsoft.com/office/drawing/2014/main" id="{F02A1F82-84E2-576F-5361-FC5BF51F6D45}"/>
                </a:ext>
              </a:extLst>
            </p:cNvPr>
            <p:cNvCxnSpPr/>
            <p:nvPr/>
          </p:nvCxnSpPr>
          <p:spPr>
            <a:xfrm flipH="1">
              <a:off x="674255" y="960521"/>
              <a:ext cx="475672" cy="794388"/>
            </a:xfrm>
            <a:prstGeom prst="straightConnector1">
              <a:avLst/>
            </a:prstGeom>
            <a:ln w="317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E8A344AE-8043-3900-230C-CDC65FFF35B1}"/>
                </a:ext>
              </a:extLst>
            </p:cNvPr>
            <p:cNvSpPr txBox="1"/>
            <p:nvPr/>
          </p:nvSpPr>
          <p:spPr>
            <a:xfrm>
              <a:off x="589280" y="1145187"/>
              <a:ext cx="45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dirty="0">
                  <a:solidFill>
                    <a:srgbClr val="002060"/>
                  </a:solidFill>
                </a:rPr>
                <a:t>V</a:t>
              </a:r>
            </a:p>
          </p:txBody>
        </p:sp>
        <p:cxnSp>
          <p:nvCxnSpPr>
            <p:cNvPr id="26" name="Straight Arrow Connector 9">
              <a:extLst>
                <a:ext uri="{FF2B5EF4-FFF2-40B4-BE49-F238E27FC236}">
                  <a16:creationId xmlns:a16="http://schemas.microsoft.com/office/drawing/2014/main" id="{930925E7-7367-0977-7DE5-58EE231F5B4E}"/>
                </a:ext>
              </a:extLst>
            </p:cNvPr>
            <p:cNvCxnSpPr/>
            <p:nvPr/>
          </p:nvCxnSpPr>
          <p:spPr>
            <a:xfrm flipV="1">
              <a:off x="881031" y="1071416"/>
              <a:ext cx="494839" cy="785091"/>
            </a:xfrm>
            <a:prstGeom prst="straightConnector1">
              <a:avLst/>
            </a:prstGeom>
            <a:ln w="317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11">
              <a:extLst>
                <a:ext uri="{FF2B5EF4-FFF2-40B4-BE49-F238E27FC236}">
                  <a16:creationId xmlns:a16="http://schemas.microsoft.com/office/drawing/2014/main" id="{3AE96C18-20F8-A9C9-F35D-2FAF142E3D83}"/>
                </a:ext>
              </a:extLst>
            </p:cNvPr>
            <p:cNvSpPr txBox="1"/>
            <p:nvPr/>
          </p:nvSpPr>
          <p:spPr>
            <a:xfrm>
              <a:off x="1135143" y="1357715"/>
              <a:ext cx="447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dirty="0">
                  <a:solidFill>
                    <a:srgbClr val="002060"/>
                  </a:solidFill>
                </a:rPr>
                <a:t>W</a:t>
              </a:r>
            </a:p>
          </p:txBody>
        </p:sp>
      </p:grpSp>
      <p:sp>
        <p:nvSpPr>
          <p:cNvPr id="28" name="TextBox 21">
            <a:extLst>
              <a:ext uri="{FF2B5EF4-FFF2-40B4-BE49-F238E27FC236}">
                <a16:creationId xmlns:a16="http://schemas.microsoft.com/office/drawing/2014/main" id="{726CC687-B439-FC04-4C7C-608E8EC3538C}"/>
              </a:ext>
            </a:extLst>
          </p:cNvPr>
          <p:cNvSpPr txBox="1"/>
          <p:nvPr/>
        </p:nvSpPr>
        <p:spPr>
          <a:xfrm>
            <a:off x="5227364" y="3068218"/>
            <a:ext cx="600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Comic Sans MS" panose="030F0702030302020204" pitchFamily="66" charset="0"/>
              </a:rPr>
              <a:t>(3)</a:t>
            </a:r>
            <a:endParaRPr lang="tr-TR" sz="2000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0B9EE519-F448-31C6-BF4A-122D1095A9AD}"/>
              </a:ext>
            </a:extLst>
          </p:cNvPr>
          <p:cNvSpPr txBox="1"/>
          <p:nvPr/>
        </p:nvSpPr>
        <p:spPr>
          <a:xfrm>
            <a:off x="5201020" y="3401195"/>
            <a:ext cx="600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Comic Sans MS" panose="030F0702030302020204" pitchFamily="66" charset="0"/>
              </a:rPr>
              <a:t>(4)</a:t>
            </a:r>
            <a:endParaRPr lang="tr-TR" sz="2000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22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/>
      <p:bldP spid="28" grpId="0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89C6FB22-9BC2-1DAE-DB79-BD205CDE359F}"/>
              </a:ext>
            </a:extLst>
          </p:cNvPr>
          <p:cNvGrpSpPr/>
          <p:nvPr/>
        </p:nvGrpSpPr>
        <p:grpSpPr>
          <a:xfrm>
            <a:off x="6456218" y="3522394"/>
            <a:ext cx="5540547" cy="2438401"/>
            <a:chOff x="589280" y="637307"/>
            <a:chExt cx="5540547" cy="2438401"/>
          </a:xfrm>
        </p:grpSpPr>
        <p:pic>
          <p:nvPicPr>
            <p:cNvPr id="3" name="Picture 8">
              <a:extLst>
                <a:ext uri="{FF2B5EF4-FFF2-40B4-BE49-F238E27FC236}">
                  <a16:creationId xmlns:a16="http://schemas.microsoft.com/office/drawing/2014/main" id="{55B92FB0-454A-0F94-2F63-B5660BB43A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1313" t="42031" r="62803" b="34265"/>
            <a:stretch/>
          </p:blipFill>
          <p:spPr>
            <a:xfrm>
              <a:off x="1149927" y="637307"/>
              <a:ext cx="2904838" cy="2438401"/>
            </a:xfrm>
            <a:prstGeom prst="rect">
              <a:avLst/>
            </a:prstGeom>
          </p:spPr>
        </p:pic>
        <p:sp>
          <p:nvSpPr>
            <p:cNvPr id="4" name="TextBox 9">
              <a:extLst>
                <a:ext uri="{FF2B5EF4-FFF2-40B4-BE49-F238E27FC236}">
                  <a16:creationId xmlns:a16="http://schemas.microsoft.com/office/drawing/2014/main" id="{9BD6EAEC-16B6-B556-B844-E825FB0AAEE1}"/>
                </a:ext>
              </a:extLst>
            </p:cNvPr>
            <p:cNvSpPr txBox="1"/>
            <p:nvPr/>
          </p:nvSpPr>
          <p:spPr>
            <a:xfrm flipH="1">
              <a:off x="3546301" y="775855"/>
              <a:ext cx="24850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Öngörü nöronları</a:t>
              </a:r>
            </a:p>
          </p:txBody>
        </p:sp>
        <p:sp>
          <p:nvSpPr>
            <p:cNvPr id="5" name="TextBox 10">
              <a:extLst>
                <a:ext uri="{FF2B5EF4-FFF2-40B4-BE49-F238E27FC236}">
                  <a16:creationId xmlns:a16="http://schemas.microsoft.com/office/drawing/2014/main" id="{5FDFE7AC-162C-0501-33F9-FB703C8FCC6B}"/>
                </a:ext>
              </a:extLst>
            </p:cNvPr>
            <p:cNvSpPr txBox="1"/>
            <p:nvPr/>
          </p:nvSpPr>
          <p:spPr>
            <a:xfrm>
              <a:off x="3888508" y="1925781"/>
              <a:ext cx="22413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4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Hata nöronları</a:t>
              </a:r>
            </a:p>
          </p:txBody>
        </p:sp>
        <p:cxnSp>
          <p:nvCxnSpPr>
            <p:cNvPr id="6" name="Straight Arrow Connector 11">
              <a:extLst>
                <a:ext uri="{FF2B5EF4-FFF2-40B4-BE49-F238E27FC236}">
                  <a16:creationId xmlns:a16="http://schemas.microsoft.com/office/drawing/2014/main" id="{FBAAE60A-364E-43F0-85CA-EAF7686E82AD}"/>
                </a:ext>
              </a:extLst>
            </p:cNvPr>
            <p:cNvCxnSpPr/>
            <p:nvPr/>
          </p:nvCxnSpPr>
          <p:spPr>
            <a:xfrm flipH="1">
              <a:off x="674255" y="960521"/>
              <a:ext cx="475672" cy="794388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12">
              <a:extLst>
                <a:ext uri="{FF2B5EF4-FFF2-40B4-BE49-F238E27FC236}">
                  <a16:creationId xmlns:a16="http://schemas.microsoft.com/office/drawing/2014/main" id="{BCEBEF05-B20A-624D-251A-DD74ED14BD63}"/>
                </a:ext>
              </a:extLst>
            </p:cNvPr>
            <p:cNvSpPr txBox="1"/>
            <p:nvPr/>
          </p:nvSpPr>
          <p:spPr>
            <a:xfrm>
              <a:off x="589280" y="1145187"/>
              <a:ext cx="457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V</a:t>
              </a:r>
            </a:p>
          </p:txBody>
        </p:sp>
        <p:cxnSp>
          <p:nvCxnSpPr>
            <p:cNvPr id="8" name="Straight Arrow Connector 13">
              <a:extLst>
                <a:ext uri="{FF2B5EF4-FFF2-40B4-BE49-F238E27FC236}">
                  <a16:creationId xmlns:a16="http://schemas.microsoft.com/office/drawing/2014/main" id="{CC3AA565-5D06-932B-7FB2-C69B466CF6E4}"/>
                </a:ext>
              </a:extLst>
            </p:cNvPr>
            <p:cNvCxnSpPr/>
            <p:nvPr/>
          </p:nvCxnSpPr>
          <p:spPr>
            <a:xfrm flipV="1">
              <a:off x="881031" y="1071416"/>
              <a:ext cx="494839" cy="785091"/>
            </a:xfrm>
            <a:prstGeom prst="straightConnector1">
              <a:avLst/>
            </a:prstGeom>
            <a:ln w="317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8E543310-1C15-4379-7A97-94B442C5DC48}"/>
                </a:ext>
              </a:extLst>
            </p:cNvPr>
            <p:cNvSpPr txBox="1"/>
            <p:nvPr/>
          </p:nvSpPr>
          <p:spPr>
            <a:xfrm>
              <a:off x="1135143" y="1357715"/>
              <a:ext cx="447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24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W</a:t>
              </a:r>
            </a:p>
          </p:txBody>
        </p:sp>
      </p:grpSp>
      <p:sp>
        <p:nvSpPr>
          <p:cNvPr id="10" name="Rectangle 21">
            <a:extLst>
              <a:ext uri="{FF2B5EF4-FFF2-40B4-BE49-F238E27FC236}">
                <a16:creationId xmlns:a16="http://schemas.microsoft.com/office/drawing/2014/main" id="{B4AE786F-6CAC-BE0A-6F17-91C414FBB86C}"/>
              </a:ext>
            </a:extLst>
          </p:cNvPr>
          <p:cNvSpPr/>
          <p:nvPr/>
        </p:nvSpPr>
        <p:spPr>
          <a:xfrm>
            <a:off x="460672" y="3522394"/>
            <a:ext cx="595547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ÖĞRENME (LEARNING)</a:t>
            </a:r>
          </a:p>
          <a:p>
            <a:pPr algn="ctr"/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Üretken modelin parametrelerini bulma, </a:t>
            </a:r>
          </a:p>
          <a:p>
            <a:pPr algn="ctr"/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yani </a:t>
            </a:r>
            <a:r>
              <a:rPr lang="tr-TR" sz="2400" dirty="0">
                <a:solidFill>
                  <a:srgbClr val="C00000"/>
                </a:solidFill>
                <a:latin typeface="Comic Sans MS" panose="030F0702030302020204" pitchFamily="66" charset="0"/>
              </a:rPr>
              <a:t>V</a:t>
            </a:r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’yi belirleme</a:t>
            </a:r>
            <a:endParaRPr lang="tr-TR" sz="2400" dirty="0">
              <a:latin typeface="Comic Sans MS" panose="030F0702030302020204" pitchFamily="66" charset="0"/>
            </a:endParaRPr>
          </a:p>
        </p:txBody>
      </p:sp>
      <p:sp>
        <p:nvSpPr>
          <p:cNvPr id="11" name="Rectangle 22">
            <a:extLst>
              <a:ext uri="{FF2B5EF4-FFF2-40B4-BE49-F238E27FC236}">
                <a16:creationId xmlns:a16="http://schemas.microsoft.com/office/drawing/2014/main" id="{75794B24-4CA2-67C3-F64D-E3CF9091C6AE}"/>
              </a:ext>
            </a:extLst>
          </p:cNvPr>
          <p:cNvSpPr/>
          <p:nvPr/>
        </p:nvSpPr>
        <p:spPr>
          <a:xfrm>
            <a:off x="1567940" y="4871055"/>
            <a:ext cx="372890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ÇIKARIM (INFERENCE)</a:t>
            </a:r>
          </a:p>
          <a:p>
            <a:pPr algn="ctr"/>
            <a:r>
              <a:rPr lang="tr-TR" sz="2400" dirty="0">
                <a:solidFill>
                  <a:srgbClr val="00B0F0"/>
                </a:solidFill>
                <a:latin typeface="Comic Sans MS" panose="030F0702030302020204" pitchFamily="66" charset="0"/>
              </a:rPr>
              <a:t>y</a:t>
            </a:r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 katsayılarını hesaplama</a:t>
            </a:r>
          </a:p>
        </p:txBody>
      </p:sp>
      <p:grpSp>
        <p:nvGrpSpPr>
          <p:cNvPr id="12" name="Group 29">
            <a:extLst>
              <a:ext uri="{FF2B5EF4-FFF2-40B4-BE49-F238E27FC236}">
                <a16:creationId xmlns:a16="http://schemas.microsoft.com/office/drawing/2014/main" id="{30FC13AF-079C-545B-6155-592DEB532DD6}"/>
              </a:ext>
            </a:extLst>
          </p:cNvPr>
          <p:cNvGrpSpPr/>
          <p:nvPr/>
        </p:nvGrpSpPr>
        <p:grpSpPr>
          <a:xfrm>
            <a:off x="1567940" y="3429000"/>
            <a:ext cx="3743690" cy="1953248"/>
            <a:chOff x="1499360" y="3989124"/>
            <a:chExt cx="3743690" cy="195324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9EE171F-0EBB-BD5B-3516-1DD89FEEBF6E}"/>
                </a:ext>
              </a:extLst>
            </p:cNvPr>
            <p:cNvSpPr/>
            <p:nvPr/>
          </p:nvSpPr>
          <p:spPr>
            <a:xfrm>
              <a:off x="1499360" y="3989124"/>
              <a:ext cx="3728906" cy="584653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sz="2400">
                <a:latin typeface="Comic Sans MS" panose="030F0702030302020204" pitchFamily="66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33B60FE-3F03-5EDA-46F8-B54BDA1B3B63}"/>
                </a:ext>
              </a:extLst>
            </p:cNvPr>
            <p:cNvSpPr/>
            <p:nvPr/>
          </p:nvSpPr>
          <p:spPr>
            <a:xfrm>
              <a:off x="1514144" y="5357719"/>
              <a:ext cx="3728906" cy="584653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sz="240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15" name="Group 32">
            <a:extLst>
              <a:ext uri="{FF2B5EF4-FFF2-40B4-BE49-F238E27FC236}">
                <a16:creationId xmlns:a16="http://schemas.microsoft.com/office/drawing/2014/main" id="{F7FBBC4A-239F-98DB-63C6-3B2BE20BA2C2}"/>
              </a:ext>
            </a:extLst>
          </p:cNvPr>
          <p:cNvGrpSpPr/>
          <p:nvPr/>
        </p:nvGrpSpPr>
        <p:grpSpPr>
          <a:xfrm>
            <a:off x="0" y="5834155"/>
            <a:ext cx="12146274" cy="825877"/>
            <a:chOff x="-102870" y="6037051"/>
            <a:chExt cx="12146274" cy="825877"/>
          </a:xfrm>
        </p:grpSpPr>
        <p:sp>
          <p:nvSpPr>
            <p:cNvPr id="16" name="Rectangle 30">
              <a:extLst>
                <a:ext uri="{FF2B5EF4-FFF2-40B4-BE49-F238E27FC236}">
                  <a16:creationId xmlns:a16="http://schemas.microsoft.com/office/drawing/2014/main" id="{C1BA8F99-75E1-1935-EAC4-D25CFC599E40}"/>
                </a:ext>
              </a:extLst>
            </p:cNvPr>
            <p:cNvSpPr/>
            <p:nvPr/>
          </p:nvSpPr>
          <p:spPr>
            <a:xfrm>
              <a:off x="-102870" y="6205621"/>
              <a:ext cx="1214627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tr-TR" sz="2400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Her iki problem içinde aynı iş yapılıyor                        hata fonksiyonu en azlanıyor   </a:t>
              </a:r>
              <a:endParaRPr lang="tr-TR" sz="2400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17" name="Object 31">
              <a:extLst>
                <a:ext uri="{FF2B5EF4-FFF2-40B4-BE49-F238E27FC236}">
                  <a16:creationId xmlns:a16="http://schemas.microsoft.com/office/drawing/2014/main" id="{B963CE84-3657-20A2-B0FE-9E00A2FE88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4758526"/>
                </p:ext>
              </p:extLst>
            </p:nvPr>
          </p:nvGraphicFramePr>
          <p:xfrm>
            <a:off x="5723498" y="6037051"/>
            <a:ext cx="1305418" cy="8258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22030" imgH="393529" progId="Equation.3">
                    <p:embed/>
                  </p:oleObj>
                </mc:Choice>
                <mc:Fallback>
                  <p:oleObj name="Equation" r:id="rId4" imgW="622030" imgH="393529" progId="Equation.3">
                    <p:embed/>
                    <p:pic>
                      <p:nvPicPr>
                        <p:cNvPr id="32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23498" y="6037051"/>
                          <a:ext cx="1305418" cy="82587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8" name="Picture 20">
            <a:extLst>
              <a:ext uri="{FF2B5EF4-FFF2-40B4-BE49-F238E27FC236}">
                <a16:creationId xmlns:a16="http://schemas.microsoft.com/office/drawing/2014/main" id="{7BD9E876-7491-9A21-24A4-641C8AF3B67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2772" t="28622" r="29228" b="39697"/>
          <a:stretch/>
        </p:blipFill>
        <p:spPr>
          <a:xfrm>
            <a:off x="674255" y="-21273"/>
            <a:ext cx="10607041" cy="32590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4B2D26D2-032C-8018-A8B5-FA307540683D}"/>
              </a:ext>
            </a:extLst>
          </p:cNvPr>
          <p:cNvSpPr/>
          <p:nvPr/>
        </p:nvSpPr>
        <p:spPr>
          <a:xfrm>
            <a:off x="634999" y="588449"/>
            <a:ext cx="11406909" cy="1616271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6BBFFBE-A12E-48CB-57F2-FC8F87842CED}"/>
              </a:ext>
            </a:extLst>
          </p:cNvPr>
          <p:cNvSpPr/>
          <p:nvPr/>
        </p:nvSpPr>
        <p:spPr>
          <a:xfrm>
            <a:off x="327891" y="2265561"/>
            <a:ext cx="11406909" cy="972242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644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9C64E82-5ACC-CEC4-6FC2-57907DD990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772" t="60422" r="29228" b="21298"/>
          <a:stretch/>
        </p:blipFill>
        <p:spPr>
          <a:xfrm>
            <a:off x="290708" y="2805964"/>
            <a:ext cx="10607041" cy="1880524"/>
          </a:xfrm>
          <a:prstGeom prst="rect">
            <a:avLst/>
          </a:prstGeom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A48C7E2B-AFA1-6474-ADC3-051C1A92588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449" t="41807" r="32828" b="41358"/>
          <a:stretch/>
        </p:blipFill>
        <p:spPr>
          <a:xfrm>
            <a:off x="646256" y="751248"/>
            <a:ext cx="6350115" cy="1731819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CB4E19EF-0845-7250-FE28-2DD2AB95B673}"/>
              </a:ext>
            </a:extLst>
          </p:cNvPr>
          <p:cNvSpPr txBox="1"/>
          <p:nvPr/>
        </p:nvSpPr>
        <p:spPr>
          <a:xfrm>
            <a:off x="473594" y="87935"/>
            <a:ext cx="7150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Bu hikayeye çok farklı şekilde de bakabiliriz</a:t>
            </a:r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B4DC8ABD-948C-D94D-7050-AA2C77B91A12}"/>
              </a:ext>
            </a:extLst>
          </p:cNvPr>
          <p:cNvGrpSpPr/>
          <p:nvPr/>
        </p:nvGrpSpPr>
        <p:grpSpPr>
          <a:xfrm>
            <a:off x="949267" y="611155"/>
            <a:ext cx="4895965" cy="2022468"/>
            <a:chOff x="674254" y="3685308"/>
            <a:chExt cx="4895965" cy="202246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9C24E47-7966-C7AA-CC62-54B631C652DA}"/>
                </a:ext>
              </a:extLst>
            </p:cNvPr>
            <p:cNvSpPr/>
            <p:nvPr/>
          </p:nvSpPr>
          <p:spPr>
            <a:xfrm>
              <a:off x="674254" y="3685308"/>
              <a:ext cx="1051675" cy="1983972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7B85F95-2FF9-4ED2-C00D-7D314C651278}"/>
                </a:ext>
              </a:extLst>
            </p:cNvPr>
            <p:cNvSpPr/>
            <p:nvPr/>
          </p:nvSpPr>
          <p:spPr>
            <a:xfrm>
              <a:off x="1725929" y="3699325"/>
              <a:ext cx="1051675" cy="1983972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3CF84-D3F0-FEE1-FF47-12158E51FD70}"/>
                </a:ext>
              </a:extLst>
            </p:cNvPr>
            <p:cNvSpPr/>
            <p:nvPr/>
          </p:nvSpPr>
          <p:spPr>
            <a:xfrm>
              <a:off x="2836833" y="3702842"/>
              <a:ext cx="1051675" cy="1983972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D6428D-7204-1A64-49DB-3BE3023F9D0B}"/>
                </a:ext>
              </a:extLst>
            </p:cNvPr>
            <p:cNvSpPr/>
            <p:nvPr/>
          </p:nvSpPr>
          <p:spPr>
            <a:xfrm>
              <a:off x="4518544" y="3723804"/>
              <a:ext cx="1051675" cy="1983972"/>
            </a:xfrm>
            <a:prstGeom prst="ellips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cxnSp>
        <p:nvCxnSpPr>
          <p:cNvPr id="10" name="Straight Arrow Connector 2">
            <a:extLst>
              <a:ext uri="{FF2B5EF4-FFF2-40B4-BE49-F238E27FC236}">
                <a16:creationId xmlns:a16="http://schemas.microsoft.com/office/drawing/2014/main" id="{C8B2347D-C903-9551-FD26-EFD0B0EB315D}"/>
              </a:ext>
            </a:extLst>
          </p:cNvPr>
          <p:cNvCxnSpPr/>
          <p:nvPr/>
        </p:nvCxnSpPr>
        <p:spPr>
          <a:xfrm flipV="1">
            <a:off x="322483" y="5288428"/>
            <a:ext cx="1153796" cy="81153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1">
            <a:extLst>
              <a:ext uri="{FF2B5EF4-FFF2-40B4-BE49-F238E27FC236}">
                <a16:creationId xmlns:a16="http://schemas.microsoft.com/office/drawing/2014/main" id="{9542DC95-150B-8D52-D6C9-1E2E3A73EE5D}"/>
              </a:ext>
            </a:extLst>
          </p:cNvPr>
          <p:cNvCxnSpPr/>
          <p:nvPr/>
        </p:nvCxnSpPr>
        <p:spPr>
          <a:xfrm flipV="1">
            <a:off x="899381" y="5984705"/>
            <a:ext cx="1363863" cy="23050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3">
            <a:extLst>
              <a:ext uri="{FF2B5EF4-FFF2-40B4-BE49-F238E27FC236}">
                <a16:creationId xmlns:a16="http://schemas.microsoft.com/office/drawing/2014/main" id="{3574377E-1865-9E12-88FD-E19144FBEB38}"/>
              </a:ext>
            </a:extLst>
          </p:cNvPr>
          <p:cNvCxnSpPr/>
          <p:nvPr/>
        </p:nvCxnSpPr>
        <p:spPr>
          <a:xfrm>
            <a:off x="1796636" y="4897325"/>
            <a:ext cx="1376851" cy="45891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21">
            <a:extLst>
              <a:ext uri="{FF2B5EF4-FFF2-40B4-BE49-F238E27FC236}">
                <a16:creationId xmlns:a16="http://schemas.microsoft.com/office/drawing/2014/main" id="{C88CAD36-0D24-6E37-A64D-91342CB6F317}"/>
              </a:ext>
            </a:extLst>
          </p:cNvPr>
          <p:cNvGrpSpPr/>
          <p:nvPr/>
        </p:nvGrpSpPr>
        <p:grpSpPr>
          <a:xfrm>
            <a:off x="3235139" y="4759287"/>
            <a:ext cx="2249413" cy="1869812"/>
            <a:chOff x="5966705" y="4948049"/>
            <a:chExt cx="2249413" cy="1869812"/>
          </a:xfrm>
        </p:grpSpPr>
        <p:cxnSp>
          <p:nvCxnSpPr>
            <p:cNvPr id="14" name="Straight Arrow Connector 15">
              <a:extLst>
                <a:ext uri="{FF2B5EF4-FFF2-40B4-BE49-F238E27FC236}">
                  <a16:creationId xmlns:a16="http://schemas.microsoft.com/office/drawing/2014/main" id="{3948656D-FA31-206A-7328-1BD3BCDB36C1}"/>
                </a:ext>
              </a:extLst>
            </p:cNvPr>
            <p:cNvCxnSpPr/>
            <p:nvPr/>
          </p:nvCxnSpPr>
          <p:spPr>
            <a:xfrm>
              <a:off x="6858000" y="6045517"/>
              <a:ext cx="1358118" cy="1581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7">
              <a:extLst>
                <a:ext uri="{FF2B5EF4-FFF2-40B4-BE49-F238E27FC236}">
                  <a16:creationId xmlns:a16="http://schemas.microsoft.com/office/drawing/2014/main" id="{D230B98B-7155-B535-06DC-5A10229A996B}"/>
                </a:ext>
              </a:extLst>
            </p:cNvPr>
            <p:cNvCxnSpPr/>
            <p:nvPr/>
          </p:nvCxnSpPr>
          <p:spPr>
            <a:xfrm flipV="1">
              <a:off x="6851649" y="4948049"/>
              <a:ext cx="6351" cy="1097468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9">
              <a:extLst>
                <a:ext uri="{FF2B5EF4-FFF2-40B4-BE49-F238E27FC236}">
                  <a16:creationId xmlns:a16="http://schemas.microsoft.com/office/drawing/2014/main" id="{F116DBE6-A002-2847-512D-5C6EC3EAD292}"/>
                </a:ext>
              </a:extLst>
            </p:cNvPr>
            <p:cNvCxnSpPr/>
            <p:nvPr/>
          </p:nvCxnSpPr>
          <p:spPr>
            <a:xfrm flipH="1">
              <a:off x="5966705" y="6045517"/>
              <a:ext cx="891295" cy="772344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26">
            <a:extLst>
              <a:ext uri="{FF2B5EF4-FFF2-40B4-BE49-F238E27FC236}">
                <a16:creationId xmlns:a16="http://schemas.microsoft.com/office/drawing/2014/main" id="{7B5E50C5-B324-E7F8-2C8E-B07E27FF6D11}"/>
              </a:ext>
            </a:extLst>
          </p:cNvPr>
          <p:cNvGrpSpPr/>
          <p:nvPr/>
        </p:nvGrpSpPr>
        <p:grpSpPr>
          <a:xfrm rot="19151408">
            <a:off x="8704246" y="4353522"/>
            <a:ext cx="2249413" cy="1869812"/>
            <a:chOff x="5966705" y="4948049"/>
            <a:chExt cx="2249413" cy="1869812"/>
          </a:xfrm>
        </p:grpSpPr>
        <p:cxnSp>
          <p:nvCxnSpPr>
            <p:cNvPr id="18" name="Straight Arrow Connector 27">
              <a:extLst>
                <a:ext uri="{FF2B5EF4-FFF2-40B4-BE49-F238E27FC236}">
                  <a16:creationId xmlns:a16="http://schemas.microsoft.com/office/drawing/2014/main" id="{74AC10AB-74AF-07A9-5DC0-2710BDB0E645}"/>
                </a:ext>
              </a:extLst>
            </p:cNvPr>
            <p:cNvCxnSpPr/>
            <p:nvPr/>
          </p:nvCxnSpPr>
          <p:spPr>
            <a:xfrm>
              <a:off x="6858000" y="6045517"/>
              <a:ext cx="1358118" cy="1581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28">
              <a:extLst>
                <a:ext uri="{FF2B5EF4-FFF2-40B4-BE49-F238E27FC236}">
                  <a16:creationId xmlns:a16="http://schemas.microsoft.com/office/drawing/2014/main" id="{E3A724E8-EF1B-FECD-08E1-180757C669E8}"/>
                </a:ext>
              </a:extLst>
            </p:cNvPr>
            <p:cNvCxnSpPr/>
            <p:nvPr/>
          </p:nvCxnSpPr>
          <p:spPr>
            <a:xfrm flipV="1">
              <a:off x="6851649" y="4948049"/>
              <a:ext cx="6351" cy="1097468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29">
              <a:extLst>
                <a:ext uri="{FF2B5EF4-FFF2-40B4-BE49-F238E27FC236}">
                  <a16:creationId xmlns:a16="http://schemas.microsoft.com/office/drawing/2014/main" id="{6D8C9740-57E1-B9B1-7166-5095237A806D}"/>
                </a:ext>
              </a:extLst>
            </p:cNvPr>
            <p:cNvCxnSpPr/>
            <p:nvPr/>
          </p:nvCxnSpPr>
          <p:spPr>
            <a:xfrm flipH="1">
              <a:off x="5966705" y="6045517"/>
              <a:ext cx="891295" cy="772344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9F2C5B32-0E7C-AFD4-28FF-4A75AAB45FB4}"/>
              </a:ext>
            </a:extLst>
          </p:cNvPr>
          <p:cNvSpPr/>
          <p:nvPr/>
        </p:nvSpPr>
        <p:spPr>
          <a:xfrm>
            <a:off x="949267" y="618164"/>
            <a:ext cx="1051675" cy="1983972"/>
          </a:xfrm>
          <a:prstGeom prst="ellipse">
            <a:avLst/>
          </a:prstGeom>
          <a:noFill/>
          <a:ln w="57150">
            <a:solidFill>
              <a:schemeClr val="accent2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7676965-FCF3-A431-7D21-76B4D9127BB3}"/>
              </a:ext>
            </a:extLst>
          </p:cNvPr>
          <p:cNvSpPr/>
          <p:nvPr/>
        </p:nvSpPr>
        <p:spPr>
          <a:xfrm>
            <a:off x="2013179" y="606954"/>
            <a:ext cx="1051675" cy="1983972"/>
          </a:xfrm>
          <a:prstGeom prst="ellipse">
            <a:avLst/>
          </a:prstGeom>
          <a:noFill/>
          <a:ln w="38100">
            <a:solidFill>
              <a:srgbClr val="00206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EC06312-6654-B3AA-AE23-12B27C04EFCF}"/>
              </a:ext>
            </a:extLst>
          </p:cNvPr>
          <p:cNvSpPr/>
          <p:nvPr/>
        </p:nvSpPr>
        <p:spPr>
          <a:xfrm>
            <a:off x="3100531" y="643711"/>
            <a:ext cx="1051675" cy="1983972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pSp>
        <p:nvGrpSpPr>
          <p:cNvPr id="24" name="Group 33">
            <a:extLst>
              <a:ext uri="{FF2B5EF4-FFF2-40B4-BE49-F238E27FC236}">
                <a16:creationId xmlns:a16="http://schemas.microsoft.com/office/drawing/2014/main" id="{D33F7C2D-4950-32C2-578E-D7EA7D30AEF7}"/>
              </a:ext>
            </a:extLst>
          </p:cNvPr>
          <p:cNvGrpSpPr/>
          <p:nvPr/>
        </p:nvGrpSpPr>
        <p:grpSpPr>
          <a:xfrm>
            <a:off x="8788018" y="1082108"/>
            <a:ext cx="1893456" cy="763764"/>
            <a:chOff x="8991598" y="2910882"/>
            <a:chExt cx="1893456" cy="763764"/>
          </a:xfrm>
        </p:grpSpPr>
        <p:pic>
          <p:nvPicPr>
            <p:cNvPr id="25" name="Picture 34">
              <a:extLst>
                <a:ext uri="{FF2B5EF4-FFF2-40B4-BE49-F238E27FC236}">
                  <a16:creationId xmlns:a16="http://schemas.microsoft.com/office/drawing/2014/main" id="{BA1FD38F-3B5C-03F1-FA6D-5A912AD1C0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7172" t="84006" r="52474" b="12402"/>
            <a:stretch/>
          </p:blipFill>
          <p:spPr>
            <a:xfrm>
              <a:off x="8991598" y="2910882"/>
              <a:ext cx="1893456" cy="369453"/>
            </a:xfrm>
            <a:prstGeom prst="rect">
              <a:avLst/>
            </a:prstGeom>
          </p:spPr>
        </p:pic>
        <p:graphicFrame>
          <p:nvGraphicFramePr>
            <p:cNvPr id="26" name="Object 35">
              <a:extLst>
                <a:ext uri="{FF2B5EF4-FFF2-40B4-BE49-F238E27FC236}">
                  <a16:creationId xmlns:a16="http://schemas.microsoft.com/office/drawing/2014/main" id="{A4858185-D9E4-4FA6-C52D-C24D8633D4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823794" y="3330979"/>
            <a:ext cx="859168" cy="3436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07780" imgH="203112" progId="Equation.3">
                    <p:embed/>
                  </p:oleObj>
                </mc:Choice>
                <mc:Fallback>
                  <p:oleObj name="Equation" r:id="rId5" imgW="507780" imgH="203112" progId="Equation.3">
                    <p:embed/>
                    <p:pic>
                      <p:nvPicPr>
                        <p:cNvPr id="36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23794" y="3330979"/>
                          <a:ext cx="859168" cy="34366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Group 22">
            <a:extLst>
              <a:ext uri="{FF2B5EF4-FFF2-40B4-BE49-F238E27FC236}">
                <a16:creationId xmlns:a16="http://schemas.microsoft.com/office/drawing/2014/main" id="{6BC48A29-50AB-260F-0B3C-99ACE33DED47}"/>
              </a:ext>
            </a:extLst>
          </p:cNvPr>
          <p:cNvGrpSpPr/>
          <p:nvPr/>
        </p:nvGrpSpPr>
        <p:grpSpPr>
          <a:xfrm rot="1560378">
            <a:off x="6113338" y="5049798"/>
            <a:ext cx="2249413" cy="1869812"/>
            <a:chOff x="5966705" y="4948049"/>
            <a:chExt cx="2249413" cy="1869812"/>
          </a:xfrm>
        </p:grpSpPr>
        <p:cxnSp>
          <p:nvCxnSpPr>
            <p:cNvPr id="28" name="Straight Arrow Connector 23">
              <a:extLst>
                <a:ext uri="{FF2B5EF4-FFF2-40B4-BE49-F238E27FC236}">
                  <a16:creationId xmlns:a16="http://schemas.microsoft.com/office/drawing/2014/main" id="{BC0A00C7-BC4E-EB89-88A6-F247E83C7BCF}"/>
                </a:ext>
              </a:extLst>
            </p:cNvPr>
            <p:cNvCxnSpPr/>
            <p:nvPr/>
          </p:nvCxnSpPr>
          <p:spPr>
            <a:xfrm>
              <a:off x="6858000" y="6045517"/>
              <a:ext cx="1358118" cy="1581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4">
              <a:extLst>
                <a:ext uri="{FF2B5EF4-FFF2-40B4-BE49-F238E27FC236}">
                  <a16:creationId xmlns:a16="http://schemas.microsoft.com/office/drawing/2014/main" id="{46548E8F-4F59-B222-E986-1467A4D7CC5C}"/>
                </a:ext>
              </a:extLst>
            </p:cNvPr>
            <p:cNvCxnSpPr/>
            <p:nvPr/>
          </p:nvCxnSpPr>
          <p:spPr>
            <a:xfrm flipV="1">
              <a:off x="6851649" y="4948049"/>
              <a:ext cx="6351" cy="1097468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5">
              <a:extLst>
                <a:ext uri="{FF2B5EF4-FFF2-40B4-BE49-F238E27FC236}">
                  <a16:creationId xmlns:a16="http://schemas.microsoft.com/office/drawing/2014/main" id="{31505553-670B-875C-FB4E-63F54D7D7575}"/>
                </a:ext>
              </a:extLst>
            </p:cNvPr>
            <p:cNvCxnSpPr/>
            <p:nvPr/>
          </p:nvCxnSpPr>
          <p:spPr>
            <a:xfrm flipH="1">
              <a:off x="5966705" y="6045517"/>
              <a:ext cx="891295" cy="772344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65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3">
            <a:extLst>
              <a:ext uri="{FF2B5EF4-FFF2-40B4-BE49-F238E27FC236}">
                <a16:creationId xmlns:a16="http://schemas.microsoft.com/office/drawing/2014/main" id="{D28064D1-E9E3-74CF-DDD8-1AB751030061}"/>
              </a:ext>
            </a:extLst>
          </p:cNvPr>
          <p:cNvSpPr/>
          <p:nvPr/>
        </p:nvSpPr>
        <p:spPr>
          <a:xfrm>
            <a:off x="1005840" y="6373475"/>
            <a:ext cx="104698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de </a:t>
            </a:r>
            <a:r>
              <a:rPr lang="en-US" sz="1200" dirty="0" err="1"/>
              <a:t>Morsier</a:t>
            </a:r>
            <a:r>
              <a:rPr lang="en-US" sz="1200" dirty="0"/>
              <a:t>, F. (2014). </a:t>
            </a:r>
            <a:r>
              <a:rPr lang="en-US" sz="1200" i="1" dirty="0"/>
              <a:t>Semi-supervised and unsupervised kernel-based novelty detection with application to remote sensing images</a:t>
            </a:r>
            <a:r>
              <a:rPr lang="en-US" sz="1200" dirty="0"/>
              <a:t> (No. THESIS). EPFL.</a:t>
            </a:r>
            <a:endParaRPr lang="tr-TR" sz="1200" dirty="0"/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7A477EF4-18E6-C66A-2EDF-4C7F257B9066}"/>
              </a:ext>
            </a:extLst>
          </p:cNvPr>
          <p:cNvSpPr txBox="1"/>
          <p:nvPr/>
        </p:nvSpPr>
        <p:spPr>
          <a:xfrm>
            <a:off x="1410854" y="797898"/>
            <a:ext cx="7150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Başka uzaylar da var…..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139A5E71-35B0-44A4-3263-B59230348F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448" t="35851" r="41146" b="35779"/>
          <a:stretch/>
        </p:blipFill>
        <p:spPr>
          <a:xfrm>
            <a:off x="7395210" y="2101845"/>
            <a:ext cx="4593315" cy="3424311"/>
          </a:xfrm>
          <a:prstGeom prst="rect">
            <a:avLst/>
          </a:prstGeom>
        </p:spPr>
      </p:pic>
      <p:pic>
        <p:nvPicPr>
          <p:cNvPr id="21" name="Picture 8">
            <a:extLst>
              <a:ext uri="{FF2B5EF4-FFF2-40B4-BE49-F238E27FC236}">
                <a16:creationId xmlns:a16="http://schemas.microsoft.com/office/drawing/2014/main" id="{5EE39122-7A60-EA03-49CE-5382CBD850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667" t="35555" r="62395" b="50145"/>
          <a:stretch/>
        </p:blipFill>
        <p:spPr>
          <a:xfrm>
            <a:off x="5577840" y="1123787"/>
            <a:ext cx="1817370" cy="1470987"/>
          </a:xfrm>
          <a:prstGeom prst="rect">
            <a:avLst/>
          </a:prstGeom>
        </p:spPr>
      </p:pic>
      <p:grpSp>
        <p:nvGrpSpPr>
          <p:cNvPr id="22" name="Group 10">
            <a:extLst>
              <a:ext uri="{FF2B5EF4-FFF2-40B4-BE49-F238E27FC236}">
                <a16:creationId xmlns:a16="http://schemas.microsoft.com/office/drawing/2014/main" id="{7943640E-F9F6-62D0-FFB8-AB5957E35600}"/>
              </a:ext>
            </a:extLst>
          </p:cNvPr>
          <p:cNvGrpSpPr/>
          <p:nvPr/>
        </p:nvGrpSpPr>
        <p:grpSpPr>
          <a:xfrm>
            <a:off x="1005841" y="1713138"/>
            <a:ext cx="4572000" cy="3653992"/>
            <a:chOff x="1720215" y="1703070"/>
            <a:chExt cx="3911541" cy="2994660"/>
          </a:xfrm>
        </p:grpSpPr>
        <p:pic>
          <p:nvPicPr>
            <p:cNvPr id="23" name="Picture 4">
              <a:extLst>
                <a:ext uri="{FF2B5EF4-FFF2-40B4-BE49-F238E27FC236}">
                  <a16:creationId xmlns:a16="http://schemas.microsoft.com/office/drawing/2014/main" id="{ECB84151-9E67-A715-769F-D2F05BBB43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9417" t="35554" r="70677" b="35334"/>
            <a:stretch/>
          </p:blipFill>
          <p:spPr>
            <a:xfrm>
              <a:off x="1720215" y="1703070"/>
              <a:ext cx="3640455" cy="2994660"/>
            </a:xfrm>
            <a:prstGeom prst="rect">
              <a:avLst/>
            </a:prstGeom>
          </p:spPr>
        </p:pic>
        <p:sp>
          <p:nvSpPr>
            <p:cNvPr id="24" name="Rectangle 9">
              <a:extLst>
                <a:ext uri="{FF2B5EF4-FFF2-40B4-BE49-F238E27FC236}">
                  <a16:creationId xmlns:a16="http://schemas.microsoft.com/office/drawing/2014/main" id="{937BFD31-4206-9514-0FA6-EA2F9A110531}"/>
                </a:ext>
              </a:extLst>
            </p:cNvPr>
            <p:cNvSpPr/>
            <p:nvPr/>
          </p:nvSpPr>
          <p:spPr>
            <a:xfrm>
              <a:off x="5097027" y="2357303"/>
              <a:ext cx="534729" cy="6194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83019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3EDEF605-D6E2-5596-63CD-C569BDA1F2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1774" y="2444791"/>
          <a:ext cx="1268559" cy="802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22030" imgH="393529" progId="Equation.3">
                  <p:embed/>
                </p:oleObj>
              </mc:Choice>
              <mc:Fallback>
                <p:oleObj name="Equation" r:id="rId3" imgW="622030" imgH="393529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774" y="2444791"/>
                        <a:ext cx="1268559" cy="8025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8">
            <a:extLst>
              <a:ext uri="{FF2B5EF4-FFF2-40B4-BE49-F238E27FC236}">
                <a16:creationId xmlns:a16="http://schemas.microsoft.com/office/drawing/2014/main" id="{6AA871B5-C69C-6036-BF36-05A41E402934}"/>
              </a:ext>
            </a:extLst>
          </p:cNvPr>
          <p:cNvGrpSpPr/>
          <p:nvPr/>
        </p:nvGrpSpPr>
        <p:grpSpPr>
          <a:xfrm>
            <a:off x="1751774" y="2245995"/>
            <a:ext cx="1371599" cy="1200150"/>
            <a:chOff x="411480" y="160020"/>
            <a:chExt cx="1371599" cy="1200150"/>
          </a:xfrm>
        </p:grpSpPr>
        <p:cxnSp>
          <p:nvCxnSpPr>
            <p:cNvPr id="4" name="Straight Connector 5">
              <a:extLst>
                <a:ext uri="{FF2B5EF4-FFF2-40B4-BE49-F238E27FC236}">
                  <a16:creationId xmlns:a16="http://schemas.microsoft.com/office/drawing/2014/main" id="{B3A5FACC-2CB5-88C0-EEE1-8B312AA12830}"/>
                </a:ext>
              </a:extLst>
            </p:cNvPr>
            <p:cNvCxnSpPr/>
            <p:nvPr/>
          </p:nvCxnSpPr>
          <p:spPr>
            <a:xfrm>
              <a:off x="411480" y="160020"/>
              <a:ext cx="1371599" cy="12001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6">
              <a:extLst>
                <a:ext uri="{FF2B5EF4-FFF2-40B4-BE49-F238E27FC236}">
                  <a16:creationId xmlns:a16="http://schemas.microsoft.com/office/drawing/2014/main" id="{6F2C00F6-770D-0ED7-35F0-7DE358486C44}"/>
                </a:ext>
              </a:extLst>
            </p:cNvPr>
            <p:cNvCxnSpPr/>
            <p:nvPr/>
          </p:nvCxnSpPr>
          <p:spPr>
            <a:xfrm flipV="1">
              <a:off x="462999" y="160020"/>
              <a:ext cx="1148631" cy="10813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9">
            <a:extLst>
              <a:ext uri="{FF2B5EF4-FFF2-40B4-BE49-F238E27FC236}">
                <a16:creationId xmlns:a16="http://schemas.microsoft.com/office/drawing/2014/main" id="{E821AD69-4EFD-EB5B-6750-66BA1900E35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479" t="73222" r="61146" b="21000"/>
          <a:stretch/>
        </p:blipFill>
        <p:spPr>
          <a:xfrm>
            <a:off x="141674" y="4192181"/>
            <a:ext cx="6286940" cy="720090"/>
          </a:xfrm>
          <a:prstGeom prst="rect">
            <a:avLst/>
          </a:prstGeom>
        </p:spPr>
      </p:pic>
      <p:pic>
        <p:nvPicPr>
          <p:cNvPr id="7" name="Picture 11">
            <a:extLst>
              <a:ext uri="{FF2B5EF4-FFF2-40B4-BE49-F238E27FC236}">
                <a16:creationId xmlns:a16="http://schemas.microsoft.com/office/drawing/2014/main" id="{988C81BA-7E2B-F865-ADC3-96EE706F194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1313" t="42031" r="62803" b="34265"/>
          <a:stretch/>
        </p:blipFill>
        <p:spPr>
          <a:xfrm>
            <a:off x="925189" y="6390"/>
            <a:ext cx="2904838" cy="2438401"/>
          </a:xfrm>
          <a:prstGeom prst="rect">
            <a:avLst/>
          </a:prstGeom>
        </p:spPr>
      </p:pic>
      <p:grpSp>
        <p:nvGrpSpPr>
          <p:cNvPr id="8" name="Group 12">
            <a:extLst>
              <a:ext uri="{FF2B5EF4-FFF2-40B4-BE49-F238E27FC236}">
                <a16:creationId xmlns:a16="http://schemas.microsoft.com/office/drawing/2014/main" id="{9C24BBFB-EB9B-288E-87EE-D4ED7BEA3546}"/>
              </a:ext>
            </a:extLst>
          </p:cNvPr>
          <p:cNvGrpSpPr/>
          <p:nvPr/>
        </p:nvGrpSpPr>
        <p:grpSpPr>
          <a:xfrm>
            <a:off x="1074420" y="243287"/>
            <a:ext cx="2755607" cy="1803912"/>
            <a:chOff x="411480" y="160020"/>
            <a:chExt cx="1371599" cy="1200150"/>
          </a:xfrm>
        </p:grpSpPr>
        <p:cxnSp>
          <p:nvCxnSpPr>
            <p:cNvPr id="9" name="Straight Connector 13">
              <a:extLst>
                <a:ext uri="{FF2B5EF4-FFF2-40B4-BE49-F238E27FC236}">
                  <a16:creationId xmlns:a16="http://schemas.microsoft.com/office/drawing/2014/main" id="{000B38A8-70EC-2FFD-E96F-5E7DEE3B8462}"/>
                </a:ext>
              </a:extLst>
            </p:cNvPr>
            <p:cNvCxnSpPr/>
            <p:nvPr/>
          </p:nvCxnSpPr>
          <p:spPr>
            <a:xfrm>
              <a:off x="411480" y="160020"/>
              <a:ext cx="1371599" cy="12001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4">
              <a:extLst>
                <a:ext uri="{FF2B5EF4-FFF2-40B4-BE49-F238E27FC236}">
                  <a16:creationId xmlns:a16="http://schemas.microsoft.com/office/drawing/2014/main" id="{77EC39C4-2E99-7508-FBFB-396BEA5815B1}"/>
                </a:ext>
              </a:extLst>
            </p:cNvPr>
            <p:cNvCxnSpPr/>
            <p:nvPr/>
          </p:nvCxnSpPr>
          <p:spPr>
            <a:xfrm flipV="1">
              <a:off x="462999" y="160020"/>
              <a:ext cx="1148631" cy="10813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6">
            <a:extLst>
              <a:ext uri="{FF2B5EF4-FFF2-40B4-BE49-F238E27FC236}">
                <a16:creationId xmlns:a16="http://schemas.microsoft.com/office/drawing/2014/main" id="{3245A70D-E373-2971-F608-96096A04AB2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916" t="51001" r="78563" b="44184"/>
          <a:stretch/>
        </p:blipFill>
        <p:spPr>
          <a:xfrm>
            <a:off x="8149313" y="4821035"/>
            <a:ext cx="2827600" cy="727897"/>
          </a:xfrm>
          <a:prstGeom prst="rect">
            <a:avLst/>
          </a:prstGeom>
        </p:spPr>
      </p:pic>
      <p:pic>
        <p:nvPicPr>
          <p:cNvPr id="14" name="Picture 17">
            <a:extLst>
              <a:ext uri="{FF2B5EF4-FFF2-40B4-BE49-F238E27FC236}">
                <a16:creationId xmlns:a16="http://schemas.microsoft.com/office/drawing/2014/main" id="{E0CCABB5-9D44-2746-8607-59D05072AEB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7938" t="64390" r="55624" b="32610"/>
          <a:stretch/>
        </p:blipFill>
        <p:spPr>
          <a:xfrm>
            <a:off x="7676604" y="5568438"/>
            <a:ext cx="1613320" cy="422909"/>
          </a:xfrm>
          <a:prstGeom prst="rect">
            <a:avLst/>
          </a:prstGeom>
        </p:spPr>
      </p:pic>
      <p:pic>
        <p:nvPicPr>
          <p:cNvPr id="15" name="Picture 18">
            <a:extLst>
              <a:ext uri="{FF2B5EF4-FFF2-40B4-BE49-F238E27FC236}">
                <a16:creationId xmlns:a16="http://schemas.microsoft.com/office/drawing/2014/main" id="{1201504B-22B6-8595-53A3-982051697D3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916" t="75112" r="76209" b="19888"/>
          <a:stretch/>
        </p:blipFill>
        <p:spPr>
          <a:xfrm>
            <a:off x="7676604" y="6044641"/>
            <a:ext cx="2883446" cy="629879"/>
          </a:xfrm>
          <a:prstGeom prst="rect">
            <a:avLst/>
          </a:prstGeom>
        </p:spPr>
      </p:pic>
      <p:pic>
        <p:nvPicPr>
          <p:cNvPr id="16" name="Picture 19">
            <a:extLst>
              <a:ext uri="{FF2B5EF4-FFF2-40B4-BE49-F238E27FC236}">
                <a16:creationId xmlns:a16="http://schemas.microsoft.com/office/drawing/2014/main" id="{43D0C0F9-4F91-222E-D970-52FD145C6EA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1145" t="66853" r="80229" b="29924"/>
          <a:stretch/>
        </p:blipFill>
        <p:spPr>
          <a:xfrm>
            <a:off x="9692640" y="5568438"/>
            <a:ext cx="1977390" cy="415539"/>
          </a:xfrm>
          <a:prstGeom prst="rect">
            <a:avLst/>
          </a:prstGeom>
        </p:spPr>
      </p:pic>
      <p:pic>
        <p:nvPicPr>
          <p:cNvPr id="17" name="Picture 20">
            <a:extLst>
              <a:ext uri="{FF2B5EF4-FFF2-40B4-BE49-F238E27FC236}">
                <a16:creationId xmlns:a16="http://schemas.microsoft.com/office/drawing/2014/main" id="{03CDE477-86FF-4D7D-864A-2C0AF22F5A1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1042" t="63222" r="58333" b="29333"/>
          <a:stretch/>
        </p:blipFill>
        <p:spPr>
          <a:xfrm>
            <a:off x="141674" y="5128383"/>
            <a:ext cx="6436625" cy="880110"/>
          </a:xfrm>
          <a:prstGeom prst="rect">
            <a:avLst/>
          </a:prstGeom>
        </p:spPr>
      </p:pic>
      <p:pic>
        <p:nvPicPr>
          <p:cNvPr id="25" name="Picture 21">
            <a:extLst>
              <a:ext uri="{FF2B5EF4-FFF2-40B4-BE49-F238E27FC236}">
                <a16:creationId xmlns:a16="http://schemas.microsoft.com/office/drawing/2014/main" id="{7AB53C10-FBAE-7049-EE6C-92F11E20522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39542" t="44889" r="39021" b="48333"/>
          <a:stretch/>
        </p:blipFill>
        <p:spPr>
          <a:xfrm>
            <a:off x="354329" y="6102391"/>
            <a:ext cx="3920490" cy="697230"/>
          </a:xfrm>
          <a:prstGeom prst="rect">
            <a:avLst/>
          </a:prstGeom>
        </p:spPr>
      </p:pic>
      <p:pic>
        <p:nvPicPr>
          <p:cNvPr id="26" name="Picture 15">
            <a:extLst>
              <a:ext uri="{FF2B5EF4-FFF2-40B4-BE49-F238E27FC236}">
                <a16:creationId xmlns:a16="http://schemas.microsoft.com/office/drawing/2014/main" id="{EAEB6C70-6A11-A4F9-AE73-A2791E69DB87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0874" t="57444" r="27834" b="14222"/>
          <a:stretch/>
        </p:blipFill>
        <p:spPr>
          <a:xfrm>
            <a:off x="6526008" y="138548"/>
            <a:ext cx="4960776" cy="2526627"/>
          </a:xfrm>
          <a:prstGeom prst="rect">
            <a:avLst/>
          </a:prstGeom>
        </p:spPr>
      </p:pic>
      <p:sp>
        <p:nvSpPr>
          <p:cNvPr id="27" name="Rectangle 16">
            <a:extLst>
              <a:ext uri="{FF2B5EF4-FFF2-40B4-BE49-F238E27FC236}">
                <a16:creationId xmlns:a16="http://schemas.microsoft.com/office/drawing/2014/main" id="{396870D6-2C6A-B0D5-D2DA-F859AB509DE6}"/>
              </a:ext>
            </a:extLst>
          </p:cNvPr>
          <p:cNvSpPr/>
          <p:nvPr/>
        </p:nvSpPr>
        <p:spPr>
          <a:xfrm>
            <a:off x="8012430" y="874022"/>
            <a:ext cx="2217420" cy="1431197"/>
          </a:xfrm>
          <a:prstGeom prst="rect">
            <a:avLst/>
          </a:prstGeom>
          <a:solidFill>
            <a:schemeClr val="accent1"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8" name="Picture 3">
            <a:extLst>
              <a:ext uri="{FF2B5EF4-FFF2-40B4-BE49-F238E27FC236}">
                <a16:creationId xmlns:a16="http://schemas.microsoft.com/office/drawing/2014/main" id="{43D6DFAB-442C-950D-7D3A-D1D3FF34EC8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604" t="62667" r="59063" b="13111"/>
          <a:stretch/>
        </p:blipFill>
        <p:spPr>
          <a:xfrm>
            <a:off x="6428614" y="2431738"/>
            <a:ext cx="5722620" cy="2488426"/>
          </a:xfrm>
          <a:prstGeom prst="rect">
            <a:avLst/>
          </a:prstGeom>
        </p:spPr>
      </p:pic>
      <p:sp>
        <p:nvSpPr>
          <p:cNvPr id="29" name="Rectangle 17">
            <a:extLst>
              <a:ext uri="{FF2B5EF4-FFF2-40B4-BE49-F238E27FC236}">
                <a16:creationId xmlns:a16="http://schemas.microsoft.com/office/drawing/2014/main" id="{8DBE3B4D-0E5F-09D4-768A-EF79E00CA747}"/>
              </a:ext>
            </a:extLst>
          </p:cNvPr>
          <p:cNvSpPr/>
          <p:nvPr/>
        </p:nvSpPr>
        <p:spPr>
          <a:xfrm>
            <a:off x="8467632" y="3449346"/>
            <a:ext cx="895047" cy="548363"/>
          </a:xfrm>
          <a:prstGeom prst="rect">
            <a:avLst/>
          </a:prstGeom>
          <a:solidFill>
            <a:schemeClr val="accent1"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751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80EFDB87-F197-6E29-887E-7AC312EBD2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556" t="59630" r="63111" b="37111"/>
          <a:stretch/>
        </p:blipFill>
        <p:spPr>
          <a:xfrm>
            <a:off x="6969760" y="207696"/>
            <a:ext cx="4998720" cy="335280"/>
          </a:xfrm>
          <a:prstGeom prst="rect">
            <a:avLst/>
          </a:prstGeom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66975400-C7DE-7D93-6254-A7F0440954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666" t="25444" r="24396" b="44889"/>
          <a:stretch/>
        </p:blipFill>
        <p:spPr>
          <a:xfrm>
            <a:off x="369781" y="207696"/>
            <a:ext cx="5654888" cy="2954706"/>
          </a:xfrm>
          <a:prstGeom prst="rect">
            <a:avLst/>
          </a:prstGeom>
        </p:spPr>
      </p:pic>
      <p:grpSp>
        <p:nvGrpSpPr>
          <p:cNvPr id="4" name="Group 15">
            <a:extLst>
              <a:ext uri="{FF2B5EF4-FFF2-40B4-BE49-F238E27FC236}">
                <a16:creationId xmlns:a16="http://schemas.microsoft.com/office/drawing/2014/main" id="{56960D41-C3F5-0849-536A-E0E60164EAAA}"/>
              </a:ext>
            </a:extLst>
          </p:cNvPr>
          <p:cNvGrpSpPr/>
          <p:nvPr/>
        </p:nvGrpSpPr>
        <p:grpSpPr>
          <a:xfrm>
            <a:off x="6451600" y="664553"/>
            <a:ext cx="5516880" cy="1503680"/>
            <a:chOff x="6451600" y="664553"/>
            <a:chExt cx="5516880" cy="1503680"/>
          </a:xfrm>
        </p:grpSpPr>
        <p:grpSp>
          <p:nvGrpSpPr>
            <p:cNvPr id="5" name="Group 2">
              <a:extLst>
                <a:ext uri="{FF2B5EF4-FFF2-40B4-BE49-F238E27FC236}">
                  <a16:creationId xmlns:a16="http://schemas.microsoft.com/office/drawing/2014/main" id="{80BB4945-28E7-D8D9-B27B-0D8EEE55E0EA}"/>
                </a:ext>
              </a:extLst>
            </p:cNvPr>
            <p:cNvGrpSpPr/>
            <p:nvPr/>
          </p:nvGrpSpPr>
          <p:grpSpPr>
            <a:xfrm>
              <a:off x="6451600" y="664553"/>
              <a:ext cx="5516880" cy="1270000"/>
              <a:chOff x="6451600" y="664553"/>
              <a:chExt cx="5516880" cy="1270000"/>
            </a:xfrm>
          </p:grpSpPr>
          <p:pic>
            <p:nvPicPr>
              <p:cNvPr id="7" name="Picture 11">
                <a:extLst>
                  <a:ext uri="{FF2B5EF4-FFF2-40B4-BE49-F238E27FC236}">
                    <a16:creationId xmlns:a16="http://schemas.microsoft.com/office/drawing/2014/main" id="{3BEDEC2C-2529-7E53-E8D2-7C1415CA96E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9500" t="73951" r="60333" b="13703"/>
              <a:stretch/>
            </p:blipFill>
            <p:spPr>
              <a:xfrm>
                <a:off x="6451600" y="664553"/>
                <a:ext cx="5516880" cy="1270000"/>
              </a:xfrm>
              <a:prstGeom prst="rect">
                <a:avLst/>
              </a:prstGeom>
            </p:spPr>
          </p:pic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CBDEE483-22AA-D3F9-45EE-82B7F53ACA7E}"/>
                  </a:ext>
                </a:extLst>
              </p:cNvPr>
              <p:cNvSpPr/>
              <p:nvPr/>
            </p:nvSpPr>
            <p:spPr>
              <a:xfrm>
                <a:off x="6532880" y="679194"/>
                <a:ext cx="5069840" cy="2148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pic>
          <p:nvPicPr>
            <p:cNvPr id="6" name="Picture 14">
              <a:extLst>
                <a:ext uri="{FF2B5EF4-FFF2-40B4-BE49-F238E27FC236}">
                  <a16:creationId xmlns:a16="http://schemas.microsoft.com/office/drawing/2014/main" id="{5BAF8C2B-2AA4-66D2-C816-74BEBA66A8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41167" t="36757" r="45555" b="60971"/>
            <a:stretch/>
          </p:blipFill>
          <p:spPr>
            <a:xfrm>
              <a:off x="6492240" y="1934553"/>
              <a:ext cx="2428240" cy="233680"/>
            </a:xfrm>
            <a:prstGeom prst="rect">
              <a:avLst/>
            </a:prstGeom>
          </p:spPr>
        </p:pic>
      </p:grpSp>
      <p:pic>
        <p:nvPicPr>
          <p:cNvPr id="9" name="Picture 19">
            <a:extLst>
              <a:ext uri="{FF2B5EF4-FFF2-40B4-BE49-F238E27FC236}">
                <a16:creationId xmlns:a16="http://schemas.microsoft.com/office/drawing/2014/main" id="{C2075397-3204-5EB3-B14D-17565CA1D89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042" t="35111" r="58334" b="31778"/>
          <a:stretch/>
        </p:blipFill>
        <p:spPr>
          <a:xfrm>
            <a:off x="196850" y="3281096"/>
            <a:ext cx="6000750" cy="3406140"/>
          </a:xfrm>
          <a:prstGeom prst="rect">
            <a:avLst/>
          </a:prstGeom>
        </p:spPr>
      </p:pic>
      <p:grpSp>
        <p:nvGrpSpPr>
          <p:cNvPr id="10" name="Group 21">
            <a:extLst>
              <a:ext uri="{FF2B5EF4-FFF2-40B4-BE49-F238E27FC236}">
                <a16:creationId xmlns:a16="http://schemas.microsoft.com/office/drawing/2014/main" id="{EF1F2AA2-A856-E17C-D463-A5166F4650F1}"/>
              </a:ext>
            </a:extLst>
          </p:cNvPr>
          <p:cNvGrpSpPr/>
          <p:nvPr/>
        </p:nvGrpSpPr>
        <p:grpSpPr>
          <a:xfrm>
            <a:off x="6370320" y="3378886"/>
            <a:ext cx="5598160" cy="3437033"/>
            <a:chOff x="6370320" y="3378886"/>
            <a:chExt cx="5598160" cy="3437033"/>
          </a:xfrm>
        </p:grpSpPr>
        <p:grpSp>
          <p:nvGrpSpPr>
            <p:cNvPr id="11" name="Group 18">
              <a:extLst>
                <a:ext uri="{FF2B5EF4-FFF2-40B4-BE49-F238E27FC236}">
                  <a16:creationId xmlns:a16="http://schemas.microsoft.com/office/drawing/2014/main" id="{F5AEE910-0508-DB6E-E1B1-3BF903B589CE}"/>
                </a:ext>
              </a:extLst>
            </p:cNvPr>
            <p:cNvGrpSpPr/>
            <p:nvPr/>
          </p:nvGrpSpPr>
          <p:grpSpPr>
            <a:xfrm>
              <a:off x="6370320" y="3378886"/>
              <a:ext cx="5598160" cy="1605280"/>
              <a:chOff x="2560320" y="4185920"/>
              <a:chExt cx="5598160" cy="1605280"/>
            </a:xfrm>
          </p:grpSpPr>
          <p:pic>
            <p:nvPicPr>
              <p:cNvPr id="13" name="Picture 13">
                <a:extLst>
                  <a:ext uri="{FF2B5EF4-FFF2-40B4-BE49-F238E27FC236}">
                    <a16:creationId xmlns:a16="http://schemas.microsoft.com/office/drawing/2014/main" id="{86EEF932-87E1-97F0-A75A-6CDEFD5A6B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40667" t="35334" r="28722" b="49062"/>
              <a:stretch/>
            </p:blipFill>
            <p:spPr>
              <a:xfrm>
                <a:off x="2560320" y="4185920"/>
                <a:ext cx="5598160" cy="1605280"/>
              </a:xfrm>
              <a:prstGeom prst="rect">
                <a:avLst/>
              </a:prstGeom>
            </p:spPr>
          </p:pic>
          <p:sp>
            <p:nvSpPr>
              <p:cNvPr id="14" name="Rectangle 16">
                <a:extLst>
                  <a:ext uri="{FF2B5EF4-FFF2-40B4-BE49-F238E27FC236}">
                    <a16:creationId xmlns:a16="http://schemas.microsoft.com/office/drawing/2014/main" id="{806D7DC3-7484-DE35-D8A9-C68B75087DAF}"/>
                  </a:ext>
                </a:extLst>
              </p:cNvPr>
              <p:cNvSpPr/>
              <p:nvPr/>
            </p:nvSpPr>
            <p:spPr>
              <a:xfrm>
                <a:off x="2636520" y="4297680"/>
                <a:ext cx="3479800" cy="2641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5" name="Rectangle 17">
                <a:extLst>
                  <a:ext uri="{FF2B5EF4-FFF2-40B4-BE49-F238E27FC236}">
                    <a16:creationId xmlns:a16="http://schemas.microsoft.com/office/drawing/2014/main" id="{B297E314-0AC9-D9B1-F3FB-D7D8B0ED2705}"/>
                  </a:ext>
                </a:extLst>
              </p:cNvPr>
              <p:cNvSpPr/>
              <p:nvPr/>
            </p:nvSpPr>
            <p:spPr>
              <a:xfrm>
                <a:off x="4958080" y="5529994"/>
                <a:ext cx="3027680" cy="26120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pic>
          <p:nvPicPr>
            <p:cNvPr id="12" name="Picture 20">
              <a:extLst>
                <a:ext uri="{FF2B5EF4-FFF2-40B4-BE49-F238E27FC236}">
                  <a16:creationId xmlns:a16="http://schemas.microsoft.com/office/drawing/2014/main" id="{721C074F-80F5-E042-F150-1321C1A1EB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40778" t="41951" r="28666" b="41259"/>
            <a:stretch/>
          </p:blipFill>
          <p:spPr>
            <a:xfrm>
              <a:off x="6370320" y="5088719"/>
              <a:ext cx="5588000" cy="1727200"/>
            </a:xfrm>
            <a:prstGeom prst="rect">
              <a:avLst/>
            </a:prstGeom>
          </p:spPr>
        </p:pic>
      </p:grpSp>
      <p:grpSp>
        <p:nvGrpSpPr>
          <p:cNvPr id="16" name="Group 29">
            <a:extLst>
              <a:ext uri="{FF2B5EF4-FFF2-40B4-BE49-F238E27FC236}">
                <a16:creationId xmlns:a16="http://schemas.microsoft.com/office/drawing/2014/main" id="{BFE7161E-0FC4-921C-2645-B1329C966F76}"/>
              </a:ext>
            </a:extLst>
          </p:cNvPr>
          <p:cNvGrpSpPr/>
          <p:nvPr/>
        </p:nvGrpSpPr>
        <p:grpSpPr>
          <a:xfrm>
            <a:off x="6446520" y="5344160"/>
            <a:ext cx="5349240" cy="497838"/>
            <a:chOff x="6446520" y="5344160"/>
            <a:chExt cx="5349240" cy="497838"/>
          </a:xfrm>
        </p:grpSpPr>
        <p:cxnSp>
          <p:nvCxnSpPr>
            <p:cNvPr id="17" name="Straight Connector 24">
              <a:extLst>
                <a:ext uri="{FF2B5EF4-FFF2-40B4-BE49-F238E27FC236}">
                  <a16:creationId xmlns:a16="http://schemas.microsoft.com/office/drawing/2014/main" id="{BCCACFF0-D5CB-6705-ABD8-30E50DC6CA0E}"/>
                </a:ext>
              </a:extLst>
            </p:cNvPr>
            <p:cNvCxnSpPr/>
            <p:nvPr/>
          </p:nvCxnSpPr>
          <p:spPr>
            <a:xfrm>
              <a:off x="6797040" y="5344160"/>
              <a:ext cx="4998720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25">
              <a:extLst>
                <a:ext uri="{FF2B5EF4-FFF2-40B4-BE49-F238E27FC236}">
                  <a16:creationId xmlns:a16="http://schemas.microsoft.com/office/drawing/2014/main" id="{848C2237-B6A2-A3C0-E475-EFCD921BD021}"/>
                </a:ext>
              </a:extLst>
            </p:cNvPr>
            <p:cNvCxnSpPr/>
            <p:nvPr/>
          </p:nvCxnSpPr>
          <p:spPr>
            <a:xfrm>
              <a:off x="6446520" y="5567680"/>
              <a:ext cx="5349240" cy="2032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27">
              <a:extLst>
                <a:ext uri="{FF2B5EF4-FFF2-40B4-BE49-F238E27FC236}">
                  <a16:creationId xmlns:a16="http://schemas.microsoft.com/office/drawing/2014/main" id="{26983910-00AE-BEF2-5FDD-1C0E35075202}"/>
                </a:ext>
              </a:extLst>
            </p:cNvPr>
            <p:cNvCxnSpPr/>
            <p:nvPr/>
          </p:nvCxnSpPr>
          <p:spPr>
            <a:xfrm flipV="1">
              <a:off x="6446520" y="5823122"/>
              <a:ext cx="4241800" cy="18876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ounded Rectangle 30">
            <a:extLst>
              <a:ext uri="{FF2B5EF4-FFF2-40B4-BE49-F238E27FC236}">
                <a16:creationId xmlns:a16="http://schemas.microsoft.com/office/drawing/2014/main" id="{03C2EF98-04C1-8677-DEC5-449B7D70BA0A}"/>
              </a:ext>
            </a:extLst>
          </p:cNvPr>
          <p:cNvSpPr/>
          <p:nvPr/>
        </p:nvSpPr>
        <p:spPr>
          <a:xfrm>
            <a:off x="9448800" y="6106160"/>
            <a:ext cx="1442720" cy="222079"/>
          </a:xfrm>
          <a:prstGeom prst="roundRect">
            <a:avLst/>
          </a:prstGeom>
          <a:solidFill>
            <a:schemeClr val="accent1"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1" name="Picture 32">
            <a:extLst>
              <a:ext uri="{FF2B5EF4-FFF2-40B4-BE49-F238E27FC236}">
                <a16:creationId xmlns:a16="http://schemas.microsoft.com/office/drawing/2014/main" id="{0446FCCB-5E1E-D780-2B14-E9812D56EC3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41515" r="13474" b="7061"/>
          <a:stretch/>
        </p:blipFill>
        <p:spPr>
          <a:xfrm>
            <a:off x="6606539" y="2284078"/>
            <a:ext cx="1960881" cy="1364803"/>
          </a:xfrm>
          <a:prstGeom prst="rect">
            <a:avLst/>
          </a:prstGeom>
        </p:spPr>
      </p:pic>
      <p:pic>
        <p:nvPicPr>
          <p:cNvPr id="22" name="Picture 33">
            <a:extLst>
              <a:ext uri="{FF2B5EF4-FFF2-40B4-BE49-F238E27FC236}">
                <a16:creationId xmlns:a16="http://schemas.microsoft.com/office/drawing/2014/main" id="{9E8F40CB-0D1D-7CC2-43D5-1E0AFD1E3FB7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9542" t="44889" r="39021" b="48333"/>
          <a:stretch/>
        </p:blipFill>
        <p:spPr>
          <a:xfrm>
            <a:off x="8728075" y="2312720"/>
            <a:ext cx="3230245" cy="57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5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623100CE-F765-3A9B-BF38-5CAE458F4E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25" t="72555" r="44312" b="13334"/>
          <a:stretch/>
        </p:blipFill>
        <p:spPr>
          <a:xfrm>
            <a:off x="24847" y="5225499"/>
            <a:ext cx="6952289" cy="1402059"/>
          </a:xfrm>
          <a:prstGeom prst="rect">
            <a:avLst/>
          </a:prstGeom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AA42C679-481D-7F8D-09EA-B0F87AA248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25" t="33889" r="48895" b="28149"/>
          <a:stretch/>
        </p:blipFill>
        <p:spPr>
          <a:xfrm>
            <a:off x="6932109" y="795458"/>
            <a:ext cx="4872680" cy="2287905"/>
          </a:xfrm>
          <a:prstGeom prst="rect">
            <a:avLst/>
          </a:prstGeom>
        </p:spPr>
      </p:pic>
      <p:sp>
        <p:nvSpPr>
          <p:cNvPr id="4" name="TextBox 11">
            <a:extLst>
              <a:ext uri="{FF2B5EF4-FFF2-40B4-BE49-F238E27FC236}">
                <a16:creationId xmlns:a16="http://schemas.microsoft.com/office/drawing/2014/main" id="{9FD45560-FE74-013C-E3BC-703C8B6260C5}"/>
              </a:ext>
            </a:extLst>
          </p:cNvPr>
          <p:cNvSpPr txBox="1"/>
          <p:nvPr/>
        </p:nvSpPr>
        <p:spPr>
          <a:xfrm>
            <a:off x="473595" y="87934"/>
            <a:ext cx="2310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solidFill>
                  <a:srgbClr val="002060"/>
                </a:solidFill>
              </a:rPr>
              <a:t>Baz vektörleri</a:t>
            </a:r>
          </a:p>
        </p:txBody>
      </p:sp>
      <p:cxnSp>
        <p:nvCxnSpPr>
          <p:cNvPr id="5" name="Straight Arrow Connector 12">
            <a:extLst>
              <a:ext uri="{FF2B5EF4-FFF2-40B4-BE49-F238E27FC236}">
                <a16:creationId xmlns:a16="http://schemas.microsoft.com/office/drawing/2014/main" id="{1EB78213-4451-24C8-1CE3-6CB741C5AA96}"/>
              </a:ext>
            </a:extLst>
          </p:cNvPr>
          <p:cNvCxnSpPr/>
          <p:nvPr/>
        </p:nvCxnSpPr>
        <p:spPr>
          <a:xfrm flipV="1">
            <a:off x="488951" y="1139848"/>
            <a:ext cx="1153796" cy="81153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13">
            <a:extLst>
              <a:ext uri="{FF2B5EF4-FFF2-40B4-BE49-F238E27FC236}">
                <a16:creationId xmlns:a16="http://schemas.microsoft.com/office/drawing/2014/main" id="{7F3B36F6-363E-661A-D09C-25F1A1D6C4DE}"/>
              </a:ext>
            </a:extLst>
          </p:cNvPr>
          <p:cNvCxnSpPr/>
          <p:nvPr/>
        </p:nvCxnSpPr>
        <p:spPr>
          <a:xfrm flipV="1">
            <a:off x="1065849" y="1836125"/>
            <a:ext cx="1363863" cy="23050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14">
            <a:extLst>
              <a:ext uri="{FF2B5EF4-FFF2-40B4-BE49-F238E27FC236}">
                <a16:creationId xmlns:a16="http://schemas.microsoft.com/office/drawing/2014/main" id="{2BAF121F-1E1C-34C3-B78B-9BFDA00B747E}"/>
              </a:ext>
            </a:extLst>
          </p:cNvPr>
          <p:cNvCxnSpPr/>
          <p:nvPr/>
        </p:nvCxnSpPr>
        <p:spPr>
          <a:xfrm>
            <a:off x="1963104" y="748745"/>
            <a:ext cx="1376851" cy="45891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15">
            <a:extLst>
              <a:ext uri="{FF2B5EF4-FFF2-40B4-BE49-F238E27FC236}">
                <a16:creationId xmlns:a16="http://schemas.microsoft.com/office/drawing/2014/main" id="{C51FE14A-2D6A-F463-B18F-944678381279}"/>
              </a:ext>
            </a:extLst>
          </p:cNvPr>
          <p:cNvGrpSpPr/>
          <p:nvPr/>
        </p:nvGrpSpPr>
        <p:grpSpPr>
          <a:xfrm>
            <a:off x="3660312" y="734070"/>
            <a:ext cx="2249413" cy="1869812"/>
            <a:chOff x="5966705" y="4948049"/>
            <a:chExt cx="2249413" cy="1869812"/>
          </a:xfrm>
        </p:grpSpPr>
        <p:cxnSp>
          <p:nvCxnSpPr>
            <p:cNvPr id="9" name="Straight Arrow Connector 16">
              <a:extLst>
                <a:ext uri="{FF2B5EF4-FFF2-40B4-BE49-F238E27FC236}">
                  <a16:creationId xmlns:a16="http://schemas.microsoft.com/office/drawing/2014/main" id="{A5E9561A-BDA4-A499-EF99-E67BBCCA6AD4}"/>
                </a:ext>
              </a:extLst>
            </p:cNvPr>
            <p:cNvCxnSpPr/>
            <p:nvPr/>
          </p:nvCxnSpPr>
          <p:spPr>
            <a:xfrm>
              <a:off x="6858000" y="6045517"/>
              <a:ext cx="1358118" cy="1581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17">
              <a:extLst>
                <a:ext uri="{FF2B5EF4-FFF2-40B4-BE49-F238E27FC236}">
                  <a16:creationId xmlns:a16="http://schemas.microsoft.com/office/drawing/2014/main" id="{852AF2AF-45BE-0DDF-95AA-2E9C9F091F9E}"/>
                </a:ext>
              </a:extLst>
            </p:cNvPr>
            <p:cNvCxnSpPr/>
            <p:nvPr/>
          </p:nvCxnSpPr>
          <p:spPr>
            <a:xfrm flipV="1">
              <a:off x="6851649" y="4948049"/>
              <a:ext cx="6351" cy="1097468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8">
              <a:extLst>
                <a:ext uri="{FF2B5EF4-FFF2-40B4-BE49-F238E27FC236}">
                  <a16:creationId xmlns:a16="http://schemas.microsoft.com/office/drawing/2014/main" id="{E2480EEA-BCBE-29E8-F59F-BD53DB958386}"/>
                </a:ext>
              </a:extLst>
            </p:cNvPr>
            <p:cNvCxnSpPr/>
            <p:nvPr/>
          </p:nvCxnSpPr>
          <p:spPr>
            <a:xfrm flipH="1">
              <a:off x="5966705" y="6045517"/>
              <a:ext cx="891295" cy="772344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9">
            <a:extLst>
              <a:ext uri="{FF2B5EF4-FFF2-40B4-BE49-F238E27FC236}">
                <a16:creationId xmlns:a16="http://schemas.microsoft.com/office/drawing/2014/main" id="{6C9A3195-98F3-1C9B-1984-B21C3979F88B}"/>
              </a:ext>
            </a:extLst>
          </p:cNvPr>
          <p:cNvGrpSpPr/>
          <p:nvPr/>
        </p:nvGrpSpPr>
        <p:grpSpPr>
          <a:xfrm rot="1560378">
            <a:off x="1114851" y="2795072"/>
            <a:ext cx="2249413" cy="1869812"/>
            <a:chOff x="5966705" y="4948049"/>
            <a:chExt cx="2249413" cy="1869812"/>
          </a:xfrm>
        </p:grpSpPr>
        <p:cxnSp>
          <p:nvCxnSpPr>
            <p:cNvPr id="13" name="Straight Arrow Connector 20">
              <a:extLst>
                <a:ext uri="{FF2B5EF4-FFF2-40B4-BE49-F238E27FC236}">
                  <a16:creationId xmlns:a16="http://schemas.microsoft.com/office/drawing/2014/main" id="{74B80DCD-4470-9034-6AE4-A82477BF8C67}"/>
                </a:ext>
              </a:extLst>
            </p:cNvPr>
            <p:cNvCxnSpPr/>
            <p:nvPr/>
          </p:nvCxnSpPr>
          <p:spPr>
            <a:xfrm>
              <a:off x="6858000" y="6045517"/>
              <a:ext cx="1358118" cy="1581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21">
              <a:extLst>
                <a:ext uri="{FF2B5EF4-FFF2-40B4-BE49-F238E27FC236}">
                  <a16:creationId xmlns:a16="http://schemas.microsoft.com/office/drawing/2014/main" id="{529C1F1F-733F-7F31-EBBE-0ED86F89018F}"/>
                </a:ext>
              </a:extLst>
            </p:cNvPr>
            <p:cNvCxnSpPr/>
            <p:nvPr/>
          </p:nvCxnSpPr>
          <p:spPr>
            <a:xfrm flipV="1">
              <a:off x="6851649" y="4948049"/>
              <a:ext cx="6351" cy="1097468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22">
              <a:extLst>
                <a:ext uri="{FF2B5EF4-FFF2-40B4-BE49-F238E27FC236}">
                  <a16:creationId xmlns:a16="http://schemas.microsoft.com/office/drawing/2014/main" id="{7C359A7B-B911-76DF-3F05-685A0F59710A}"/>
                </a:ext>
              </a:extLst>
            </p:cNvPr>
            <p:cNvCxnSpPr/>
            <p:nvPr/>
          </p:nvCxnSpPr>
          <p:spPr>
            <a:xfrm flipH="1">
              <a:off x="5966705" y="6045517"/>
              <a:ext cx="891295" cy="772344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23">
            <a:extLst>
              <a:ext uri="{FF2B5EF4-FFF2-40B4-BE49-F238E27FC236}">
                <a16:creationId xmlns:a16="http://schemas.microsoft.com/office/drawing/2014/main" id="{6475BBDE-9BB2-FBEE-330C-E165D8136F47}"/>
              </a:ext>
            </a:extLst>
          </p:cNvPr>
          <p:cNvGrpSpPr/>
          <p:nvPr/>
        </p:nvGrpSpPr>
        <p:grpSpPr>
          <a:xfrm rot="19151408">
            <a:off x="3992654" y="2452978"/>
            <a:ext cx="2249413" cy="1869812"/>
            <a:chOff x="5966705" y="4948049"/>
            <a:chExt cx="2249413" cy="1869812"/>
          </a:xfrm>
        </p:grpSpPr>
        <p:cxnSp>
          <p:nvCxnSpPr>
            <p:cNvPr id="17" name="Straight Arrow Connector 24">
              <a:extLst>
                <a:ext uri="{FF2B5EF4-FFF2-40B4-BE49-F238E27FC236}">
                  <a16:creationId xmlns:a16="http://schemas.microsoft.com/office/drawing/2014/main" id="{F2B11C30-1971-EA0D-3C0F-28C53F728D92}"/>
                </a:ext>
              </a:extLst>
            </p:cNvPr>
            <p:cNvCxnSpPr/>
            <p:nvPr/>
          </p:nvCxnSpPr>
          <p:spPr>
            <a:xfrm>
              <a:off x="6858000" y="6045517"/>
              <a:ext cx="1358118" cy="1581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25">
              <a:extLst>
                <a:ext uri="{FF2B5EF4-FFF2-40B4-BE49-F238E27FC236}">
                  <a16:creationId xmlns:a16="http://schemas.microsoft.com/office/drawing/2014/main" id="{6113A860-FEA5-6742-75D9-515F45E13328}"/>
                </a:ext>
              </a:extLst>
            </p:cNvPr>
            <p:cNvCxnSpPr/>
            <p:nvPr/>
          </p:nvCxnSpPr>
          <p:spPr>
            <a:xfrm flipV="1">
              <a:off x="6851649" y="4948049"/>
              <a:ext cx="6351" cy="1097468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26">
              <a:extLst>
                <a:ext uri="{FF2B5EF4-FFF2-40B4-BE49-F238E27FC236}">
                  <a16:creationId xmlns:a16="http://schemas.microsoft.com/office/drawing/2014/main" id="{F9E2A38F-1F0F-8BAC-233D-0381711CE4E6}"/>
                </a:ext>
              </a:extLst>
            </p:cNvPr>
            <p:cNvCxnSpPr/>
            <p:nvPr/>
          </p:nvCxnSpPr>
          <p:spPr>
            <a:xfrm flipH="1">
              <a:off x="5966705" y="6045517"/>
              <a:ext cx="891295" cy="772344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30">
            <a:extLst>
              <a:ext uri="{FF2B5EF4-FFF2-40B4-BE49-F238E27FC236}">
                <a16:creationId xmlns:a16="http://schemas.microsoft.com/office/drawing/2014/main" id="{65BBE00F-DDD9-C16C-DCDC-61550399A4E0}"/>
              </a:ext>
            </a:extLst>
          </p:cNvPr>
          <p:cNvGrpSpPr/>
          <p:nvPr/>
        </p:nvGrpSpPr>
        <p:grpSpPr>
          <a:xfrm>
            <a:off x="6932109" y="3459375"/>
            <a:ext cx="5223057" cy="1181865"/>
            <a:chOff x="6968942" y="2481605"/>
            <a:chExt cx="5223057" cy="1181865"/>
          </a:xfrm>
        </p:grpSpPr>
        <p:pic>
          <p:nvPicPr>
            <p:cNvPr id="21" name="Picture 27">
              <a:extLst>
                <a:ext uri="{FF2B5EF4-FFF2-40B4-BE49-F238E27FC236}">
                  <a16:creationId xmlns:a16="http://schemas.microsoft.com/office/drawing/2014/main" id="{F6201912-642E-E3CE-2A3A-9D9AD7D4E7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9396" t="44705" r="60160" b="43584"/>
            <a:stretch/>
          </p:blipFill>
          <p:spPr>
            <a:xfrm>
              <a:off x="6968942" y="2481605"/>
              <a:ext cx="5167909" cy="1118243"/>
            </a:xfrm>
            <a:prstGeom prst="rect">
              <a:avLst/>
            </a:prstGeom>
          </p:spPr>
        </p:pic>
        <p:sp>
          <p:nvSpPr>
            <p:cNvPr id="22" name="Rectangle 28">
              <a:extLst>
                <a:ext uri="{FF2B5EF4-FFF2-40B4-BE49-F238E27FC236}">
                  <a16:creationId xmlns:a16="http://schemas.microsoft.com/office/drawing/2014/main" id="{E7A5FFC6-7FDC-FB14-2C59-FE67EAF5F312}"/>
                </a:ext>
              </a:extLst>
            </p:cNvPr>
            <p:cNvSpPr/>
            <p:nvPr/>
          </p:nvSpPr>
          <p:spPr>
            <a:xfrm>
              <a:off x="7064943" y="2656086"/>
              <a:ext cx="2405112" cy="289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3" name="Rectangle 29">
              <a:extLst>
                <a:ext uri="{FF2B5EF4-FFF2-40B4-BE49-F238E27FC236}">
                  <a16:creationId xmlns:a16="http://schemas.microsoft.com/office/drawing/2014/main" id="{8670D93E-5508-D237-8E73-71C3D11497AA}"/>
                </a:ext>
              </a:extLst>
            </p:cNvPr>
            <p:cNvSpPr/>
            <p:nvPr/>
          </p:nvSpPr>
          <p:spPr>
            <a:xfrm>
              <a:off x="8767010" y="3364600"/>
              <a:ext cx="3424989" cy="2988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52839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4C460A-3E9E-72AD-96C3-48BC15D0DC74}"/>
              </a:ext>
            </a:extLst>
          </p:cNvPr>
          <p:cNvSpPr/>
          <p:nvPr/>
        </p:nvSpPr>
        <p:spPr>
          <a:xfrm>
            <a:off x="388620" y="285067"/>
            <a:ext cx="59292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Vuru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Üreten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Sinir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Ağı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ile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Yapılamaz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mı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?</a:t>
            </a:r>
            <a:endParaRPr lang="tr-TR" sz="2400" dirty="0">
              <a:solidFill>
                <a:srgbClr val="00206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pic>
        <p:nvPicPr>
          <p:cNvPr id="3" name="Picture 4" descr="wacogne_model.png">
            <a:extLst>
              <a:ext uri="{FF2B5EF4-FFF2-40B4-BE49-F238E27FC236}">
                <a16:creationId xmlns:a16="http://schemas.microsoft.com/office/drawing/2014/main" id="{C8B4AC3C-CFA3-46FA-080C-4ADF85C63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32" y="901165"/>
            <a:ext cx="3526749" cy="5377148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2CD19F76-1871-BB0C-985C-9EC8D01AA432}"/>
              </a:ext>
            </a:extLst>
          </p:cNvPr>
          <p:cNvSpPr txBox="1"/>
          <p:nvPr/>
        </p:nvSpPr>
        <p:spPr>
          <a:xfrm>
            <a:off x="119422" y="6604790"/>
            <a:ext cx="114667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Wacongne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C., Changeux, J.P. and 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Dehaene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S., 2012. A neuronal model of predictive coding accounting for the mismatch negativity. 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 Journal of neuroscience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32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(11), pp.3665-3678.</a:t>
            </a:r>
            <a:endParaRPr lang="en-US" sz="1000" dirty="0"/>
          </a:p>
        </p:txBody>
      </p:sp>
      <p:pic>
        <p:nvPicPr>
          <p:cNvPr id="6" name="Picture 4" descr="mmn_simulation_result.png">
            <a:extLst>
              <a:ext uri="{FF2B5EF4-FFF2-40B4-BE49-F238E27FC236}">
                <a16:creationId xmlns:a16="http://schemas.microsoft.com/office/drawing/2014/main" id="{6CE16A00-2038-B5F9-E425-33FF50A40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934" y="1568583"/>
            <a:ext cx="4162058" cy="3720834"/>
          </a:xfrm>
          <a:prstGeom prst="rect">
            <a:avLst/>
          </a:prstGeom>
        </p:spPr>
      </p:pic>
      <p:pic>
        <p:nvPicPr>
          <p:cNvPr id="8" name="Picture 6" descr="fig4_simulation_result.png">
            <a:extLst>
              <a:ext uri="{FF2B5EF4-FFF2-40B4-BE49-F238E27FC236}">
                <a16:creationId xmlns:a16="http://schemas.microsoft.com/office/drawing/2014/main" id="{BCA6A56B-B4DE-C357-7AC3-B5DABEFA53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992" y="1680644"/>
            <a:ext cx="4155693" cy="349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86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D98B17-7376-CFF0-1230-CDE2355EDBFC}"/>
              </a:ext>
            </a:extLst>
          </p:cNvPr>
          <p:cNvSpPr/>
          <p:nvPr/>
        </p:nvSpPr>
        <p:spPr>
          <a:xfrm>
            <a:off x="3040380" y="3136612"/>
            <a:ext cx="59292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Dinlediğiniz</a:t>
            </a:r>
            <a:r>
              <a:rPr lang="en-US" sz="32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için</a:t>
            </a:r>
            <a:r>
              <a:rPr lang="en-US" sz="32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teşekkürler</a:t>
            </a:r>
            <a:endParaRPr lang="tr-TR" sz="3200" dirty="0">
              <a:solidFill>
                <a:srgbClr val="00206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45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1120</Words>
  <Application>Microsoft Office PowerPoint</Application>
  <PresentationFormat>Geniş ekran</PresentationFormat>
  <Paragraphs>131</Paragraphs>
  <Slides>21</Slides>
  <Notes>1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1</vt:i4>
      </vt:variant>
      <vt:variant>
        <vt:lpstr>Slayt Başlıkları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Cambria Math</vt:lpstr>
      <vt:lpstr>Comic Sans MS</vt:lpstr>
      <vt:lpstr>Office Teması</vt:lpstr>
      <vt:lpstr>Equation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Gizem Şengör</dc:creator>
  <cp:lastModifiedBy>Gizem Şengör</cp:lastModifiedBy>
  <cp:revision>40</cp:revision>
  <dcterms:created xsi:type="dcterms:W3CDTF">2026-09-17T08:22:24Z</dcterms:created>
  <dcterms:modified xsi:type="dcterms:W3CDTF">2026-09-24T05:26:27Z</dcterms:modified>
</cp:coreProperties>
</file>